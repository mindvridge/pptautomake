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82" r:id="rId8"/>
    <p:sldId id="262" r:id="rId9"/>
    <p:sldId id="288" r:id="rId10"/>
    <p:sldId id="289" r:id="rId11"/>
    <p:sldId id="269" r:id="rId12"/>
    <p:sldId id="285" r:id="rId13"/>
    <p:sldId id="286" r:id="rId14"/>
    <p:sldId id="287" r:id="rId15"/>
    <p:sldId id="264" r:id="rId16"/>
  </p:sldIdLst>
  <p:sldSz cx="18288000" cy="10287000"/>
  <p:notesSz cx="6858000" cy="9144000"/>
  <p:embeddedFontLst>
    <p:embeddedFont>
      <p:font typeface="210 국민체조" panose="020B0600000101010101" charset="-127"/>
      <p:regular r:id="rId18"/>
    </p:embeddedFont>
    <p:embeddedFont>
      <p:font typeface="Cerebri" panose="020B0600000101010101" charset="-127"/>
      <p:regular r:id="rId19"/>
    </p:embeddedFont>
    <p:embeddedFont>
      <p:font typeface="Cerebri Bold" panose="020B0600000101010101" charset="-127"/>
      <p:regular r:id="rId20"/>
    </p:embeddedFont>
    <p:embeddedFont>
      <p:font typeface="JASO Sans" panose="020B0600000101010101" charset="-127"/>
      <p:regular r:id="rId21"/>
    </p:embeddedFont>
    <p:embeddedFont>
      <p:font typeface="JASO Sans Bold" panose="020B0600000101010101" charset="-127"/>
      <p:regular r:id="rId22"/>
    </p:embeddedFont>
    <p:embeddedFont>
      <p:font typeface="Calibri" panose="020F0502020204030204" pitchFamily="34" charset="0"/>
      <p:regular r:id="rId23"/>
      <p:bold r:id="rId24"/>
      <p:italic r:id="rId25"/>
      <p:boldItalic r:id="rId26"/>
    </p:embeddedFont>
    <p:embeddedFont>
      <p:font typeface="Poppins Bold" panose="020B0600000101010101" charset="0"/>
      <p:regular r:id="rId27"/>
    </p:embeddedFont>
    <p:embeddedFont>
      <p:font typeface="Poppins Medium" panose="020B0600000101010101" charset="0"/>
      <p:regular r:id="rId28"/>
    </p:embeddedFont>
    <p:embeddedFont>
      <p:font typeface="Poppins Semi-Bold" panose="020B0600000101010101" charset="0"/>
      <p:regular r:id="rId29"/>
    </p:embeddedFont>
    <p:embeddedFont>
      <p:font typeface="맑은 고딕" panose="020B0503020000020004" pitchFamily="50" charset="-127"/>
      <p:regular r:id="rId30"/>
      <p:bold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8DDA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1153" autoAdjust="0"/>
  </p:normalViewPr>
  <p:slideViewPr>
    <p:cSldViewPr>
      <p:cViewPr varScale="1">
        <p:scale>
          <a:sx n="71" d="100"/>
          <a:sy n="71" d="100"/>
        </p:scale>
        <p:origin x="636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8958112-B8B5-4049-B045-1369C00316EE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DF9F6BF4-AD58-4363-BA14-D53E222693DA}">
      <dgm:prSet phldrT="[텍스트]" custT="1"/>
      <dgm:spPr/>
      <dgm:t>
        <a:bodyPr/>
        <a:lstStyle/>
        <a:p>
          <a:pPr latinLnBrk="1"/>
          <a:r>
            <a:rPr lang="ko-KR" altLang="en-US" sz="2800" dirty="0"/>
            <a:t>출연</a:t>
          </a:r>
        </a:p>
      </dgm:t>
    </dgm:pt>
    <dgm:pt modelId="{C2E2F2A4-79BF-4A08-91B9-1F1CBA6439E0}" type="parTrans" cxnId="{B7559F78-38E6-4DBE-A202-B9D489AE2681}">
      <dgm:prSet/>
      <dgm:spPr/>
      <dgm:t>
        <a:bodyPr/>
        <a:lstStyle/>
        <a:p>
          <a:pPr latinLnBrk="1"/>
          <a:endParaRPr lang="ko-KR" altLang="en-US"/>
        </a:p>
      </dgm:t>
    </dgm:pt>
    <dgm:pt modelId="{FE3F6ABA-F1F5-45B5-9720-B82F20B3236A}" type="sibTrans" cxnId="{B7559F78-38E6-4DBE-A202-B9D489AE2681}">
      <dgm:prSet/>
      <dgm:spPr/>
      <dgm:t>
        <a:bodyPr/>
        <a:lstStyle/>
        <a:p>
          <a:pPr latinLnBrk="1"/>
          <a:endParaRPr lang="ko-KR" altLang="en-US"/>
        </a:p>
      </dgm:t>
    </dgm:pt>
    <dgm:pt modelId="{A535E373-58C1-461F-A2B2-AB419923822D}">
      <dgm:prSet phldrT="[텍스트]" custT="1"/>
      <dgm:spPr/>
      <dgm:t>
        <a:bodyPr/>
        <a:lstStyle/>
        <a:p>
          <a:pPr latinLnBrk="1"/>
          <a:r>
            <a:rPr lang="ko-KR" altLang="en-US" sz="2800" dirty="0"/>
            <a:t>보유</a:t>
          </a:r>
        </a:p>
      </dgm:t>
    </dgm:pt>
    <dgm:pt modelId="{4E4D8C13-0DB5-4CCC-A618-4F3D7FB84D25}" type="parTrans" cxnId="{77AE92A4-8DD9-4B28-9357-E8DF3D17E6D7}">
      <dgm:prSet/>
      <dgm:spPr/>
      <dgm:t>
        <a:bodyPr/>
        <a:lstStyle/>
        <a:p>
          <a:pPr latinLnBrk="1"/>
          <a:endParaRPr lang="ko-KR" altLang="en-US"/>
        </a:p>
      </dgm:t>
    </dgm:pt>
    <dgm:pt modelId="{4FDF6D19-DAB3-481B-B5D5-70A4E26A2A0F}" type="sibTrans" cxnId="{77AE92A4-8DD9-4B28-9357-E8DF3D17E6D7}">
      <dgm:prSet/>
      <dgm:spPr/>
      <dgm:t>
        <a:bodyPr/>
        <a:lstStyle/>
        <a:p>
          <a:pPr latinLnBrk="1"/>
          <a:endParaRPr lang="ko-KR" altLang="en-US"/>
        </a:p>
      </dgm:t>
    </dgm:pt>
    <dgm:pt modelId="{AA74A44F-0B39-428B-8690-9C843CECB04D}">
      <dgm:prSet phldrT="[텍스트]" custT="1"/>
      <dgm:spPr/>
      <dgm:t>
        <a:bodyPr/>
        <a:lstStyle/>
        <a:p>
          <a:pPr latinLnBrk="1"/>
          <a:r>
            <a:rPr lang="ko-KR" altLang="en-US" sz="2800" dirty="0"/>
            <a:t>인출</a:t>
          </a:r>
        </a:p>
      </dgm:t>
    </dgm:pt>
    <dgm:pt modelId="{80C07B25-8F19-440F-AEAE-C87CE712B5BD}" type="parTrans" cxnId="{06439FC2-03A3-4840-B6FD-0F6B5057AF50}">
      <dgm:prSet/>
      <dgm:spPr/>
      <dgm:t>
        <a:bodyPr/>
        <a:lstStyle/>
        <a:p>
          <a:pPr latinLnBrk="1"/>
          <a:endParaRPr lang="ko-KR" altLang="en-US"/>
        </a:p>
      </dgm:t>
    </dgm:pt>
    <dgm:pt modelId="{F408949F-F7AE-4491-9028-009FC4F65C97}" type="sibTrans" cxnId="{06439FC2-03A3-4840-B6FD-0F6B5057AF50}">
      <dgm:prSet/>
      <dgm:spPr/>
      <dgm:t>
        <a:bodyPr/>
        <a:lstStyle/>
        <a:p>
          <a:pPr latinLnBrk="1"/>
          <a:endParaRPr lang="ko-KR" altLang="en-US"/>
        </a:p>
      </dgm:t>
    </dgm:pt>
    <dgm:pt modelId="{ACCC9699-7FFF-42C2-B881-1337E0646F6D}" type="pres">
      <dgm:prSet presAssocID="{58958112-B8B5-4049-B045-1369C00316EE}" presName="Name0" presStyleCnt="0">
        <dgm:presLayoutVars>
          <dgm:dir/>
          <dgm:animLvl val="lvl"/>
          <dgm:resizeHandles val="exact"/>
        </dgm:presLayoutVars>
      </dgm:prSet>
      <dgm:spPr/>
    </dgm:pt>
    <dgm:pt modelId="{E571BF76-000A-4343-8EB0-D6BFC6D04D40}" type="pres">
      <dgm:prSet presAssocID="{DF9F6BF4-AD58-4363-BA14-D53E222693DA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FF311F79-6B3C-457E-BC0F-B098E8332E23}" type="pres">
      <dgm:prSet presAssocID="{FE3F6ABA-F1F5-45B5-9720-B82F20B3236A}" presName="parTxOnlySpace" presStyleCnt="0"/>
      <dgm:spPr/>
    </dgm:pt>
    <dgm:pt modelId="{DBD17248-54ED-4D26-A5E9-CD4FBF0331C2}" type="pres">
      <dgm:prSet presAssocID="{A535E373-58C1-461F-A2B2-AB419923822D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47C5351C-7C1A-4E26-81A3-1938409AA1CD}" type="pres">
      <dgm:prSet presAssocID="{4FDF6D19-DAB3-481B-B5D5-70A4E26A2A0F}" presName="parTxOnlySpace" presStyleCnt="0"/>
      <dgm:spPr/>
    </dgm:pt>
    <dgm:pt modelId="{5D91F7ED-690E-4584-9A0A-036CA9D17F69}" type="pres">
      <dgm:prSet presAssocID="{AA74A44F-0B39-428B-8690-9C843CECB04D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B9B00033-CDA7-4A9B-B588-D17EE553411F}" type="presOf" srcId="{A535E373-58C1-461F-A2B2-AB419923822D}" destId="{DBD17248-54ED-4D26-A5E9-CD4FBF0331C2}" srcOrd="0" destOrd="0" presId="urn:microsoft.com/office/officeart/2005/8/layout/chevron1"/>
    <dgm:cxn modelId="{B7559F78-38E6-4DBE-A202-B9D489AE2681}" srcId="{58958112-B8B5-4049-B045-1369C00316EE}" destId="{DF9F6BF4-AD58-4363-BA14-D53E222693DA}" srcOrd="0" destOrd="0" parTransId="{C2E2F2A4-79BF-4A08-91B9-1F1CBA6439E0}" sibTransId="{FE3F6ABA-F1F5-45B5-9720-B82F20B3236A}"/>
    <dgm:cxn modelId="{E28B6983-5919-4380-B596-686FD2C61355}" type="presOf" srcId="{58958112-B8B5-4049-B045-1369C00316EE}" destId="{ACCC9699-7FFF-42C2-B881-1337E0646F6D}" srcOrd="0" destOrd="0" presId="urn:microsoft.com/office/officeart/2005/8/layout/chevron1"/>
    <dgm:cxn modelId="{77AE92A4-8DD9-4B28-9357-E8DF3D17E6D7}" srcId="{58958112-B8B5-4049-B045-1369C00316EE}" destId="{A535E373-58C1-461F-A2B2-AB419923822D}" srcOrd="1" destOrd="0" parTransId="{4E4D8C13-0DB5-4CCC-A618-4F3D7FB84D25}" sibTransId="{4FDF6D19-DAB3-481B-B5D5-70A4E26A2A0F}"/>
    <dgm:cxn modelId="{0808ECB8-9D38-4EA9-95F5-333CB6D4240A}" type="presOf" srcId="{DF9F6BF4-AD58-4363-BA14-D53E222693DA}" destId="{E571BF76-000A-4343-8EB0-D6BFC6D04D40}" srcOrd="0" destOrd="0" presId="urn:microsoft.com/office/officeart/2005/8/layout/chevron1"/>
    <dgm:cxn modelId="{06439FC2-03A3-4840-B6FD-0F6B5057AF50}" srcId="{58958112-B8B5-4049-B045-1369C00316EE}" destId="{AA74A44F-0B39-428B-8690-9C843CECB04D}" srcOrd="2" destOrd="0" parTransId="{80C07B25-8F19-440F-AEAE-C87CE712B5BD}" sibTransId="{F408949F-F7AE-4491-9028-009FC4F65C97}"/>
    <dgm:cxn modelId="{11AB02DC-0545-4DE8-8A48-43C898B4B096}" type="presOf" srcId="{AA74A44F-0B39-428B-8690-9C843CECB04D}" destId="{5D91F7ED-690E-4584-9A0A-036CA9D17F69}" srcOrd="0" destOrd="0" presId="urn:microsoft.com/office/officeart/2005/8/layout/chevron1"/>
    <dgm:cxn modelId="{5BF9B881-F9C4-48B4-9DB1-F305E686B589}" type="presParOf" srcId="{ACCC9699-7FFF-42C2-B881-1337E0646F6D}" destId="{E571BF76-000A-4343-8EB0-D6BFC6D04D40}" srcOrd="0" destOrd="0" presId="urn:microsoft.com/office/officeart/2005/8/layout/chevron1"/>
    <dgm:cxn modelId="{8A286576-1D96-4F27-9016-432328D9BA0D}" type="presParOf" srcId="{ACCC9699-7FFF-42C2-B881-1337E0646F6D}" destId="{FF311F79-6B3C-457E-BC0F-B098E8332E23}" srcOrd="1" destOrd="0" presId="urn:microsoft.com/office/officeart/2005/8/layout/chevron1"/>
    <dgm:cxn modelId="{3950CB0A-E03C-4BB1-AD40-2178A71ABD03}" type="presParOf" srcId="{ACCC9699-7FFF-42C2-B881-1337E0646F6D}" destId="{DBD17248-54ED-4D26-A5E9-CD4FBF0331C2}" srcOrd="2" destOrd="0" presId="urn:microsoft.com/office/officeart/2005/8/layout/chevron1"/>
    <dgm:cxn modelId="{91428A03-EFE0-4F17-B1E7-2BEC049D21D2}" type="presParOf" srcId="{ACCC9699-7FFF-42C2-B881-1337E0646F6D}" destId="{47C5351C-7C1A-4E26-81A3-1938409AA1CD}" srcOrd="3" destOrd="0" presId="urn:microsoft.com/office/officeart/2005/8/layout/chevron1"/>
    <dgm:cxn modelId="{FD9929CC-C7B7-4647-B753-5B05130FBDD0}" type="presParOf" srcId="{ACCC9699-7FFF-42C2-B881-1337E0646F6D}" destId="{5D91F7ED-690E-4584-9A0A-036CA9D17F69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71BF76-000A-4343-8EB0-D6BFC6D04D40}">
      <dsp:nvSpPr>
        <dsp:cNvPr id="0" name=""/>
        <dsp:cNvSpPr/>
      </dsp:nvSpPr>
      <dsp:spPr>
        <a:xfrm>
          <a:off x="2946" y="1127071"/>
          <a:ext cx="3590180" cy="143607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800" kern="1200" dirty="0"/>
            <a:t>출연</a:t>
          </a:r>
        </a:p>
      </dsp:txBody>
      <dsp:txXfrm>
        <a:off x="720982" y="1127071"/>
        <a:ext cx="2154108" cy="1436072"/>
      </dsp:txXfrm>
    </dsp:sp>
    <dsp:sp modelId="{DBD17248-54ED-4D26-A5E9-CD4FBF0331C2}">
      <dsp:nvSpPr>
        <dsp:cNvPr id="0" name=""/>
        <dsp:cNvSpPr/>
      </dsp:nvSpPr>
      <dsp:spPr>
        <a:xfrm>
          <a:off x="3234109" y="1127071"/>
          <a:ext cx="3590180" cy="143607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800" kern="1200" dirty="0"/>
            <a:t>보유</a:t>
          </a:r>
        </a:p>
      </dsp:txBody>
      <dsp:txXfrm>
        <a:off x="3952145" y="1127071"/>
        <a:ext cx="2154108" cy="1436072"/>
      </dsp:txXfrm>
    </dsp:sp>
    <dsp:sp modelId="{5D91F7ED-690E-4584-9A0A-036CA9D17F69}">
      <dsp:nvSpPr>
        <dsp:cNvPr id="0" name=""/>
        <dsp:cNvSpPr/>
      </dsp:nvSpPr>
      <dsp:spPr>
        <a:xfrm>
          <a:off x="6465272" y="1127071"/>
          <a:ext cx="3590180" cy="143607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800" kern="1200" dirty="0"/>
            <a:t>인출</a:t>
          </a:r>
        </a:p>
      </dsp:txBody>
      <dsp:txXfrm>
        <a:off x="7183308" y="1127071"/>
        <a:ext cx="2154108" cy="143607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5FBC07-9C7E-4A9D-ADCD-92D6530D58F6}" type="datetimeFigureOut">
              <a:rPr lang="ko-KR" altLang="en-US" smtClean="0"/>
              <a:t>1월 26일 (Mon)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AA92EE-21A8-481C-804B-7A3881FA62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46215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기금조성 </a:t>
            </a:r>
            <a:r>
              <a:rPr lang="en-US" altLang="ko-KR" dirty="0"/>
              <a:t>: ‘</a:t>
            </a:r>
            <a:r>
              <a:rPr lang="ko-KR" altLang="en-US" dirty="0"/>
              <a:t>회사</a:t>
            </a:r>
            <a:r>
              <a:rPr lang="en-US" altLang="ko-KR" dirty="0"/>
              <a:t>/</a:t>
            </a:r>
            <a:r>
              <a:rPr lang="ko-KR" altLang="en-US" dirty="0"/>
              <a:t>주주 출연금</a:t>
            </a:r>
            <a:r>
              <a:rPr lang="en-US" altLang="ko-KR" dirty="0"/>
              <a:t>(</a:t>
            </a:r>
            <a:r>
              <a:rPr lang="ko-KR" altLang="en-US" dirty="0"/>
              <a:t>주식</a:t>
            </a:r>
            <a:r>
              <a:rPr lang="en-US" altLang="ko-KR" dirty="0"/>
              <a:t>)’ </a:t>
            </a:r>
            <a:r>
              <a:rPr lang="ko-KR" altLang="en-US" dirty="0"/>
              <a:t>텍스트 제외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A92EE-21A8-481C-804B-7A3881FA62B4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91984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- [</a:t>
            </a:r>
            <a:r>
              <a:rPr lang="ko-KR" altLang="en-US" dirty="0"/>
              <a:t>하단부</a:t>
            </a:r>
            <a:r>
              <a:rPr lang="en-US" altLang="ko-KR" dirty="0"/>
              <a:t>]</a:t>
            </a:r>
            <a:r>
              <a:rPr lang="ko-KR" altLang="en-US" dirty="0"/>
              <a:t> </a:t>
            </a:r>
            <a:r>
              <a:rPr lang="en-US" altLang="ko-KR" dirty="0"/>
              <a:t>‘</a:t>
            </a:r>
            <a:r>
              <a:rPr lang="ko-KR" altLang="en-US" dirty="0"/>
              <a:t>출연</a:t>
            </a:r>
            <a:r>
              <a:rPr lang="en-US" altLang="ko-KR" dirty="0"/>
              <a:t>’ ‘</a:t>
            </a:r>
            <a:r>
              <a:rPr lang="ko-KR" altLang="en-US" dirty="0"/>
              <a:t>보유</a:t>
            </a:r>
            <a:r>
              <a:rPr lang="en-US" altLang="ko-KR" dirty="0"/>
              <a:t>’ ‘</a:t>
            </a:r>
            <a:r>
              <a:rPr lang="ko-KR" altLang="en-US" dirty="0"/>
              <a:t>인출</a:t>
            </a:r>
            <a:r>
              <a:rPr lang="en-US" altLang="ko-KR" dirty="0"/>
              <a:t>’</a:t>
            </a:r>
            <a:r>
              <a:rPr lang="ko-KR" altLang="en-US" dirty="0"/>
              <a:t>은 진행 단계이며</a:t>
            </a:r>
            <a:r>
              <a:rPr lang="en-US" altLang="ko-KR" dirty="0"/>
              <a:t>, </a:t>
            </a:r>
            <a:r>
              <a:rPr lang="ko-KR" altLang="en-US" dirty="0"/>
              <a:t>하단부 표는 그에 매칭되는 내용임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A92EE-21A8-481C-804B-7A3881FA62B4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53646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A92EE-21A8-481C-804B-7A3881FA62B4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26629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A92EE-21A8-481C-804B-7A3881FA62B4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36368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https://form.naver.com/response/bljSxigYqOufbn3uqaSu0g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A92EE-21A8-481C-804B-7A3881FA62B4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22194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A92EE-21A8-481C-804B-7A3881FA62B4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52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A92EE-21A8-481C-804B-7A3881FA62B4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73705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2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1.png"/><Relationship Id="rId7" Type="http://schemas.openxmlformats.org/officeDocument/2006/relationships/diagramQuickStyle" Target="../diagrams/quickStyle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2.svg"/><Relationship Id="rId9" Type="http://schemas.microsoft.com/office/2007/relationships/diagramDrawing" Target="../diagrams/drawing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2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13" Type="http://schemas.openxmlformats.org/officeDocument/2006/relationships/image" Target="../media/image24.png"/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12" Type="http://schemas.openxmlformats.org/officeDocument/2006/relationships/image" Target="../media/image23.sv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27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sv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5" Type="http://schemas.openxmlformats.org/officeDocument/2006/relationships/image" Target="../media/image26.png"/><Relationship Id="rId10" Type="http://schemas.openxmlformats.org/officeDocument/2006/relationships/image" Target="../media/image21.svg"/><Relationship Id="rId4" Type="http://schemas.openxmlformats.org/officeDocument/2006/relationships/image" Target="../media/image2.svg"/><Relationship Id="rId9" Type="http://schemas.openxmlformats.org/officeDocument/2006/relationships/image" Target="../media/image20.png"/><Relationship Id="rId14" Type="http://schemas.openxmlformats.org/officeDocument/2006/relationships/image" Target="../media/image25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svg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14924" y="224454"/>
            <a:ext cx="17258151" cy="9680972"/>
            <a:chOff x="0" y="-385763"/>
            <a:chExt cx="23010868" cy="12907963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77800"/>
              <a:ext cx="23010868" cy="12344400"/>
              <a:chOff x="0" y="0"/>
              <a:chExt cx="4545357" cy="24384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545357" cy="2438400"/>
              </a:xfrm>
              <a:custGeom>
                <a:avLst/>
                <a:gdLst/>
                <a:ahLst/>
                <a:cxnLst/>
                <a:rect l="l" t="t" r="r" b="b"/>
                <a:pathLst>
                  <a:path w="4545357" h="2438400">
                    <a:moveTo>
                      <a:pt x="17944" y="0"/>
                    </a:moveTo>
                    <a:lnTo>
                      <a:pt x="4527413" y="0"/>
                    </a:lnTo>
                    <a:cubicBezTo>
                      <a:pt x="4537323" y="0"/>
                      <a:pt x="4545357" y="8034"/>
                      <a:pt x="4545357" y="17944"/>
                    </a:cubicBezTo>
                    <a:lnTo>
                      <a:pt x="4545357" y="2420456"/>
                    </a:lnTo>
                    <a:cubicBezTo>
                      <a:pt x="4545357" y="2430366"/>
                      <a:pt x="4537323" y="2438400"/>
                      <a:pt x="4527413" y="2438400"/>
                    </a:cubicBezTo>
                    <a:lnTo>
                      <a:pt x="17944" y="2438400"/>
                    </a:lnTo>
                    <a:cubicBezTo>
                      <a:pt x="8034" y="2438400"/>
                      <a:pt x="0" y="2430366"/>
                      <a:pt x="0" y="2420456"/>
                    </a:cubicBezTo>
                    <a:lnTo>
                      <a:pt x="0" y="17944"/>
                    </a:lnTo>
                    <a:cubicBezTo>
                      <a:pt x="0" y="8034"/>
                      <a:pt x="8034" y="0"/>
                      <a:pt x="17944" y="0"/>
                    </a:cubicBezTo>
                    <a:close/>
                  </a:path>
                </a:pathLst>
              </a:custGeom>
              <a:solidFill>
                <a:srgbClr val="E5E5E5"/>
              </a:solidFill>
              <a:ln w="38100" cap="rnd">
                <a:solidFill>
                  <a:srgbClr val="333333"/>
                </a:solidFill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76200"/>
                <a:ext cx="4545357" cy="2514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8"/>
                  </a:lnSpc>
                </a:pPr>
                <a:r>
                  <a:rPr lang="en-US" sz="2200" spc="-90">
                    <a:solidFill>
                      <a:srgbClr val="FFFFFF"/>
                    </a:solidFill>
                    <a:latin typeface="JASO Sans"/>
                    <a:ea typeface="JASO Sans"/>
                    <a:cs typeface="JASO Sans"/>
                    <a:sym typeface="JASO Sans"/>
                  </a:rPr>
                  <a:t>ㄲㄲ</a:t>
                </a:r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-385763"/>
              <a:ext cx="23010868" cy="12730163"/>
              <a:chOff x="0" y="-76200"/>
              <a:chExt cx="4545357" cy="25146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545357" cy="2438400"/>
              </a:xfrm>
              <a:custGeom>
                <a:avLst/>
                <a:gdLst/>
                <a:ahLst/>
                <a:cxnLst/>
                <a:rect l="l" t="t" r="r" b="b"/>
                <a:pathLst>
                  <a:path w="4545357" h="2438400">
                    <a:moveTo>
                      <a:pt x="14804" y="0"/>
                    </a:moveTo>
                    <a:lnTo>
                      <a:pt x="4530553" y="0"/>
                    </a:lnTo>
                    <a:cubicBezTo>
                      <a:pt x="4534479" y="0"/>
                      <a:pt x="4538245" y="1560"/>
                      <a:pt x="4541021" y="4336"/>
                    </a:cubicBezTo>
                    <a:cubicBezTo>
                      <a:pt x="4543797" y="7112"/>
                      <a:pt x="4545357" y="10877"/>
                      <a:pt x="4545357" y="14804"/>
                    </a:cubicBezTo>
                    <a:lnTo>
                      <a:pt x="4545357" y="2423596"/>
                    </a:lnTo>
                    <a:cubicBezTo>
                      <a:pt x="4545357" y="2431772"/>
                      <a:pt x="4538729" y="2438400"/>
                      <a:pt x="4530553" y="2438400"/>
                    </a:cubicBezTo>
                    <a:lnTo>
                      <a:pt x="14804" y="2438400"/>
                    </a:lnTo>
                    <a:cubicBezTo>
                      <a:pt x="10877" y="2438400"/>
                      <a:pt x="7112" y="2436840"/>
                      <a:pt x="4336" y="2434064"/>
                    </a:cubicBezTo>
                    <a:cubicBezTo>
                      <a:pt x="1560" y="2431288"/>
                      <a:pt x="0" y="2427523"/>
                      <a:pt x="0" y="2423596"/>
                    </a:cubicBezTo>
                    <a:lnTo>
                      <a:pt x="0" y="14804"/>
                    </a:lnTo>
                    <a:cubicBezTo>
                      <a:pt x="0" y="10877"/>
                      <a:pt x="1560" y="7112"/>
                      <a:pt x="4336" y="4336"/>
                    </a:cubicBezTo>
                    <a:cubicBezTo>
                      <a:pt x="7112" y="1560"/>
                      <a:pt x="10877" y="0"/>
                      <a:pt x="1480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333333"/>
                </a:solidFill>
                <a:prstDash val="solid"/>
                <a:round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76200"/>
                <a:ext cx="4545357" cy="2514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8"/>
                  </a:lnSpc>
                </a:pPr>
                <a:r>
                  <a:rPr lang="en-US" sz="2200" spc="-90">
                    <a:solidFill>
                      <a:srgbClr val="FFFFFF"/>
                    </a:solidFill>
                    <a:latin typeface="JASO Sans"/>
                    <a:ea typeface="JASO Sans"/>
                    <a:cs typeface="JASO Sans"/>
                    <a:sym typeface="JASO Sans"/>
                  </a:rPr>
                  <a:t>ㄲㄲ</a:t>
                </a:r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766"/>
              <a:ext cx="23010868" cy="2856703"/>
              <a:chOff x="0" y="0"/>
              <a:chExt cx="4545357" cy="564287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545357" cy="564287"/>
              </a:xfrm>
              <a:custGeom>
                <a:avLst/>
                <a:gdLst/>
                <a:ahLst/>
                <a:cxnLst/>
                <a:rect l="l" t="t" r="r" b="b"/>
                <a:pathLst>
                  <a:path w="4545357" h="564287">
                    <a:moveTo>
                      <a:pt x="14804" y="0"/>
                    </a:moveTo>
                    <a:lnTo>
                      <a:pt x="4530553" y="0"/>
                    </a:lnTo>
                    <a:cubicBezTo>
                      <a:pt x="4534479" y="0"/>
                      <a:pt x="4538245" y="1560"/>
                      <a:pt x="4541021" y="4336"/>
                    </a:cubicBezTo>
                    <a:cubicBezTo>
                      <a:pt x="4543797" y="7112"/>
                      <a:pt x="4545357" y="10877"/>
                      <a:pt x="4545357" y="14804"/>
                    </a:cubicBezTo>
                    <a:lnTo>
                      <a:pt x="4545357" y="549483"/>
                    </a:lnTo>
                    <a:cubicBezTo>
                      <a:pt x="4545357" y="553409"/>
                      <a:pt x="4543797" y="557175"/>
                      <a:pt x="4541021" y="559951"/>
                    </a:cubicBezTo>
                    <a:cubicBezTo>
                      <a:pt x="4538245" y="562727"/>
                      <a:pt x="4534479" y="564287"/>
                      <a:pt x="4530553" y="564287"/>
                    </a:cubicBezTo>
                    <a:lnTo>
                      <a:pt x="14804" y="564287"/>
                    </a:lnTo>
                    <a:cubicBezTo>
                      <a:pt x="6628" y="564287"/>
                      <a:pt x="0" y="557659"/>
                      <a:pt x="0" y="549483"/>
                    </a:cubicBezTo>
                    <a:lnTo>
                      <a:pt x="0" y="14804"/>
                    </a:lnTo>
                    <a:cubicBezTo>
                      <a:pt x="0" y="10877"/>
                      <a:pt x="1560" y="7112"/>
                      <a:pt x="4336" y="4336"/>
                    </a:cubicBezTo>
                    <a:cubicBezTo>
                      <a:pt x="7112" y="1560"/>
                      <a:pt x="10877" y="0"/>
                      <a:pt x="14804" y="0"/>
                    </a:cubicBezTo>
                    <a:close/>
                  </a:path>
                </a:pathLst>
              </a:custGeom>
              <a:solidFill>
                <a:srgbClr val="8DDAC8"/>
              </a:solidFill>
              <a:ln w="38100" cap="rnd">
                <a:solidFill>
                  <a:srgbClr val="333333"/>
                </a:solidFill>
                <a:prstDash val="solid"/>
                <a:round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76200"/>
                <a:ext cx="4545357" cy="64048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8"/>
                  </a:lnSpc>
                </a:pPr>
                <a:endParaRPr/>
              </a:p>
            </p:txBody>
          </p:sp>
        </p:grpSp>
        <p:sp>
          <p:nvSpPr>
            <p:cNvPr id="12" name="AutoShape 12"/>
            <p:cNvSpPr/>
            <p:nvPr/>
          </p:nvSpPr>
          <p:spPr>
            <a:xfrm>
              <a:off x="0" y="1352917"/>
              <a:ext cx="23010868" cy="0"/>
            </a:xfrm>
            <a:prstGeom prst="line">
              <a:avLst/>
            </a:prstGeom>
            <a:ln w="50800" cap="flat">
              <a:solidFill>
                <a:srgbClr val="333333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51248" y="1378317"/>
              <a:ext cx="22908373" cy="3314483"/>
              <a:chOff x="0" y="0"/>
              <a:chExt cx="4525111" cy="654713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4525111" cy="654713"/>
              </a:xfrm>
              <a:custGeom>
                <a:avLst/>
                <a:gdLst/>
                <a:ahLst/>
                <a:cxnLst/>
                <a:rect l="l" t="t" r="r" b="b"/>
                <a:pathLst>
                  <a:path w="4525111" h="654713">
                    <a:moveTo>
                      <a:pt x="0" y="0"/>
                    </a:moveTo>
                    <a:lnTo>
                      <a:pt x="4525111" y="0"/>
                    </a:lnTo>
                    <a:lnTo>
                      <a:pt x="4525111" y="654713"/>
                    </a:lnTo>
                    <a:lnTo>
                      <a:pt x="0" y="654713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0" y="-76200"/>
                <a:ext cx="4525111" cy="73091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8"/>
                  </a:lnSpc>
                </a:pPr>
                <a:endParaRPr/>
              </a:p>
            </p:txBody>
          </p:sp>
        </p:grpSp>
        <p:sp>
          <p:nvSpPr>
            <p:cNvPr id="16" name="Freeform 16"/>
            <p:cNvSpPr/>
            <p:nvPr/>
          </p:nvSpPr>
          <p:spPr>
            <a:xfrm rot="-5400000">
              <a:off x="22119506" y="417746"/>
              <a:ext cx="120969" cy="537639"/>
            </a:xfrm>
            <a:custGeom>
              <a:avLst/>
              <a:gdLst/>
              <a:ahLst/>
              <a:cxnLst/>
              <a:rect l="l" t="t" r="r" b="b"/>
              <a:pathLst>
                <a:path w="120969" h="537639">
                  <a:moveTo>
                    <a:pt x="0" y="0"/>
                  </a:moveTo>
                  <a:lnTo>
                    <a:pt x="120969" y="0"/>
                  </a:lnTo>
                  <a:lnTo>
                    <a:pt x="120969" y="537639"/>
                  </a:lnTo>
                  <a:lnTo>
                    <a:pt x="0" y="5376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id="17" name="TextBox 17"/>
          <p:cNvSpPr txBox="1"/>
          <p:nvPr/>
        </p:nvSpPr>
        <p:spPr>
          <a:xfrm rot="-18144">
            <a:off x="3404030" y="2974359"/>
            <a:ext cx="11481142" cy="1556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602"/>
              </a:lnSpc>
              <a:spcBef>
                <a:spcPct val="0"/>
              </a:spcBef>
            </a:pPr>
            <a:r>
              <a:rPr lang="en-US" sz="11375" spc="-523">
                <a:solidFill>
                  <a:srgbClr val="33333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우리사주조합</a:t>
            </a:r>
          </a:p>
        </p:txBody>
      </p:sp>
      <p:sp>
        <p:nvSpPr>
          <p:cNvPr id="18" name="TextBox 18"/>
          <p:cNvSpPr txBox="1"/>
          <p:nvPr/>
        </p:nvSpPr>
        <p:spPr>
          <a:xfrm rot="-18144">
            <a:off x="3886128" y="4541799"/>
            <a:ext cx="10517000" cy="1487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611"/>
              </a:lnSpc>
              <a:spcBef>
                <a:spcPct val="0"/>
              </a:spcBef>
            </a:pPr>
            <a:r>
              <a:rPr lang="ko-KR" altLang="en-US" sz="11383" spc="-523" dirty="0">
                <a:solidFill>
                  <a:srgbClr val="33333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운영 </a:t>
            </a:r>
            <a:r>
              <a:rPr lang="en-US" sz="11383" spc="-523" dirty="0" err="1">
                <a:solidFill>
                  <a:srgbClr val="33333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설명회</a:t>
            </a:r>
            <a:endParaRPr lang="en-US" sz="11383" spc="-523" dirty="0">
              <a:solidFill>
                <a:srgbClr val="333333"/>
              </a:solidFill>
              <a:latin typeface="210 국민체조"/>
              <a:ea typeface="210 국민체조"/>
              <a:cs typeface="210 국민체조"/>
              <a:sym typeface="210 국민체조"/>
            </a:endParaRPr>
          </a:p>
        </p:txBody>
      </p:sp>
      <p:sp>
        <p:nvSpPr>
          <p:cNvPr id="19" name="TextBox 19"/>
          <p:cNvSpPr txBox="1"/>
          <p:nvPr/>
        </p:nvSpPr>
        <p:spPr>
          <a:xfrm rot="-18144">
            <a:off x="6031852" y="6883213"/>
            <a:ext cx="6224498" cy="3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02"/>
              </a:lnSpc>
              <a:spcBef>
                <a:spcPct val="0"/>
              </a:spcBef>
            </a:pPr>
            <a:r>
              <a:rPr lang="en-US" sz="2649" spc="-52" dirty="0" err="1">
                <a:solidFill>
                  <a:srgbClr val="33333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회사와</a:t>
            </a:r>
            <a:r>
              <a:rPr lang="en-US" sz="2649" spc="-52" dirty="0">
                <a:solidFill>
                  <a:srgbClr val="33333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 </a:t>
            </a:r>
            <a:r>
              <a:rPr lang="en-US" sz="2649" spc="-52" dirty="0" err="1">
                <a:solidFill>
                  <a:srgbClr val="33333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직원이</a:t>
            </a:r>
            <a:r>
              <a:rPr lang="en-US" sz="2649" spc="-52" dirty="0">
                <a:solidFill>
                  <a:srgbClr val="33333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 </a:t>
            </a:r>
            <a:r>
              <a:rPr lang="en-US" sz="2649" spc="-52" dirty="0" err="1">
                <a:solidFill>
                  <a:srgbClr val="33333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함께</a:t>
            </a:r>
            <a:r>
              <a:rPr lang="en-US" sz="2649" spc="-52" dirty="0">
                <a:solidFill>
                  <a:srgbClr val="33333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 </a:t>
            </a:r>
            <a:r>
              <a:rPr lang="en-US" sz="2649" spc="-52" dirty="0" err="1">
                <a:solidFill>
                  <a:srgbClr val="33333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만드는</a:t>
            </a:r>
            <a:r>
              <a:rPr lang="en-US" sz="2649" spc="-52" dirty="0">
                <a:solidFill>
                  <a:srgbClr val="33333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 </a:t>
            </a:r>
            <a:r>
              <a:rPr lang="en-US" sz="2649" spc="-52" dirty="0" err="1">
                <a:solidFill>
                  <a:srgbClr val="33333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장기적</a:t>
            </a:r>
            <a:r>
              <a:rPr lang="en-US" sz="2649" spc="-52" dirty="0">
                <a:solidFill>
                  <a:srgbClr val="33333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 </a:t>
            </a:r>
            <a:r>
              <a:rPr lang="en-US" sz="2649" spc="-52" dirty="0" err="1">
                <a:solidFill>
                  <a:srgbClr val="33333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자산</a:t>
            </a:r>
            <a:endParaRPr lang="en-US" sz="2649" spc="-52" dirty="0">
              <a:solidFill>
                <a:srgbClr val="333333"/>
              </a:solidFill>
              <a:latin typeface="210 국민체조"/>
              <a:ea typeface="210 국민체조"/>
              <a:cs typeface="210 국민체조"/>
              <a:sym typeface="210 국민체조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14924" y="513776"/>
            <a:ext cx="17258151" cy="9391650"/>
            <a:chOff x="0" y="0"/>
            <a:chExt cx="23010868" cy="125222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77800"/>
              <a:ext cx="23010868" cy="12344400"/>
              <a:chOff x="0" y="0"/>
              <a:chExt cx="4545357" cy="24384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545357" cy="2438400"/>
              </a:xfrm>
              <a:custGeom>
                <a:avLst/>
                <a:gdLst/>
                <a:ahLst/>
                <a:cxnLst/>
                <a:rect l="l" t="t" r="r" b="b"/>
                <a:pathLst>
                  <a:path w="4545357" h="2438400">
                    <a:moveTo>
                      <a:pt x="17944" y="0"/>
                    </a:moveTo>
                    <a:lnTo>
                      <a:pt x="4527413" y="0"/>
                    </a:lnTo>
                    <a:cubicBezTo>
                      <a:pt x="4537323" y="0"/>
                      <a:pt x="4545357" y="8034"/>
                      <a:pt x="4545357" y="17944"/>
                    </a:cubicBezTo>
                    <a:lnTo>
                      <a:pt x="4545357" y="2420456"/>
                    </a:lnTo>
                    <a:cubicBezTo>
                      <a:pt x="4545357" y="2430366"/>
                      <a:pt x="4537323" y="2438400"/>
                      <a:pt x="4527413" y="2438400"/>
                    </a:cubicBezTo>
                    <a:lnTo>
                      <a:pt x="17944" y="2438400"/>
                    </a:lnTo>
                    <a:cubicBezTo>
                      <a:pt x="8034" y="2438400"/>
                      <a:pt x="0" y="2430366"/>
                      <a:pt x="0" y="2420456"/>
                    </a:cubicBezTo>
                    <a:lnTo>
                      <a:pt x="0" y="17944"/>
                    </a:lnTo>
                    <a:cubicBezTo>
                      <a:pt x="0" y="8034"/>
                      <a:pt x="8034" y="0"/>
                      <a:pt x="17944" y="0"/>
                    </a:cubicBezTo>
                    <a:close/>
                  </a:path>
                </a:pathLst>
              </a:custGeom>
              <a:solidFill>
                <a:srgbClr val="E5E5E5"/>
              </a:solidFill>
              <a:ln w="38100" cap="rnd">
                <a:solidFill>
                  <a:srgbClr val="333333"/>
                </a:solidFill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76200"/>
                <a:ext cx="4545357" cy="2514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8"/>
                  </a:lnSpc>
                </a:pPr>
                <a:r>
                  <a:rPr lang="en-US" sz="2200" spc="-90">
                    <a:solidFill>
                      <a:srgbClr val="FFFFFF"/>
                    </a:solidFill>
                    <a:latin typeface="JASO Sans"/>
                    <a:ea typeface="JASO Sans"/>
                    <a:cs typeface="JASO Sans"/>
                    <a:sym typeface="JASO Sans"/>
                  </a:rPr>
                  <a:t>ㄲㄲ</a:t>
                </a:r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23010868" cy="12344400"/>
              <a:chOff x="0" y="0"/>
              <a:chExt cx="4545357" cy="24384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545357" cy="2438400"/>
              </a:xfrm>
              <a:custGeom>
                <a:avLst/>
                <a:gdLst/>
                <a:ahLst/>
                <a:cxnLst/>
                <a:rect l="l" t="t" r="r" b="b"/>
                <a:pathLst>
                  <a:path w="4545357" h="2438400">
                    <a:moveTo>
                      <a:pt x="14804" y="0"/>
                    </a:moveTo>
                    <a:lnTo>
                      <a:pt x="4530553" y="0"/>
                    </a:lnTo>
                    <a:cubicBezTo>
                      <a:pt x="4534479" y="0"/>
                      <a:pt x="4538245" y="1560"/>
                      <a:pt x="4541021" y="4336"/>
                    </a:cubicBezTo>
                    <a:cubicBezTo>
                      <a:pt x="4543797" y="7112"/>
                      <a:pt x="4545357" y="10877"/>
                      <a:pt x="4545357" y="14804"/>
                    </a:cubicBezTo>
                    <a:lnTo>
                      <a:pt x="4545357" y="2423596"/>
                    </a:lnTo>
                    <a:cubicBezTo>
                      <a:pt x="4545357" y="2431772"/>
                      <a:pt x="4538729" y="2438400"/>
                      <a:pt x="4530553" y="2438400"/>
                    </a:cubicBezTo>
                    <a:lnTo>
                      <a:pt x="14804" y="2438400"/>
                    </a:lnTo>
                    <a:cubicBezTo>
                      <a:pt x="10877" y="2438400"/>
                      <a:pt x="7112" y="2436840"/>
                      <a:pt x="4336" y="2434064"/>
                    </a:cubicBezTo>
                    <a:cubicBezTo>
                      <a:pt x="1560" y="2431288"/>
                      <a:pt x="0" y="2427523"/>
                      <a:pt x="0" y="2423596"/>
                    </a:cubicBezTo>
                    <a:lnTo>
                      <a:pt x="0" y="14804"/>
                    </a:lnTo>
                    <a:cubicBezTo>
                      <a:pt x="0" y="10877"/>
                      <a:pt x="1560" y="7112"/>
                      <a:pt x="4336" y="4336"/>
                    </a:cubicBezTo>
                    <a:cubicBezTo>
                      <a:pt x="7112" y="1560"/>
                      <a:pt x="10877" y="0"/>
                      <a:pt x="1480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333333"/>
                </a:solidFill>
                <a:prstDash val="solid"/>
                <a:round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76200"/>
                <a:ext cx="4545357" cy="2514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8"/>
                  </a:lnSpc>
                </a:pPr>
                <a:r>
                  <a:rPr lang="en-US" sz="2200" spc="-90">
                    <a:solidFill>
                      <a:srgbClr val="FFFFFF"/>
                    </a:solidFill>
                    <a:latin typeface="JASO Sans"/>
                    <a:ea typeface="JASO Sans"/>
                    <a:cs typeface="JASO Sans"/>
                    <a:sym typeface="JASO Sans"/>
                  </a:rPr>
                  <a:t>ㄲㄲ</a:t>
                </a:r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766"/>
              <a:ext cx="23010868" cy="2856703"/>
              <a:chOff x="0" y="0"/>
              <a:chExt cx="4545357" cy="564287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545357" cy="564287"/>
              </a:xfrm>
              <a:custGeom>
                <a:avLst/>
                <a:gdLst/>
                <a:ahLst/>
                <a:cxnLst/>
                <a:rect l="l" t="t" r="r" b="b"/>
                <a:pathLst>
                  <a:path w="4545357" h="564287">
                    <a:moveTo>
                      <a:pt x="14804" y="0"/>
                    </a:moveTo>
                    <a:lnTo>
                      <a:pt x="4530553" y="0"/>
                    </a:lnTo>
                    <a:cubicBezTo>
                      <a:pt x="4534479" y="0"/>
                      <a:pt x="4538245" y="1560"/>
                      <a:pt x="4541021" y="4336"/>
                    </a:cubicBezTo>
                    <a:cubicBezTo>
                      <a:pt x="4543797" y="7112"/>
                      <a:pt x="4545357" y="10877"/>
                      <a:pt x="4545357" y="14804"/>
                    </a:cubicBezTo>
                    <a:lnTo>
                      <a:pt x="4545357" y="549483"/>
                    </a:lnTo>
                    <a:cubicBezTo>
                      <a:pt x="4545357" y="553409"/>
                      <a:pt x="4543797" y="557175"/>
                      <a:pt x="4541021" y="559951"/>
                    </a:cubicBezTo>
                    <a:cubicBezTo>
                      <a:pt x="4538245" y="562727"/>
                      <a:pt x="4534479" y="564287"/>
                      <a:pt x="4530553" y="564287"/>
                    </a:cubicBezTo>
                    <a:lnTo>
                      <a:pt x="14804" y="564287"/>
                    </a:lnTo>
                    <a:cubicBezTo>
                      <a:pt x="6628" y="564287"/>
                      <a:pt x="0" y="557659"/>
                      <a:pt x="0" y="549483"/>
                    </a:cubicBezTo>
                    <a:lnTo>
                      <a:pt x="0" y="14804"/>
                    </a:lnTo>
                    <a:cubicBezTo>
                      <a:pt x="0" y="10877"/>
                      <a:pt x="1560" y="7112"/>
                      <a:pt x="4336" y="4336"/>
                    </a:cubicBezTo>
                    <a:cubicBezTo>
                      <a:pt x="7112" y="1560"/>
                      <a:pt x="10877" y="0"/>
                      <a:pt x="14804" y="0"/>
                    </a:cubicBezTo>
                    <a:close/>
                  </a:path>
                </a:pathLst>
              </a:custGeom>
              <a:solidFill>
                <a:srgbClr val="8DDAC8"/>
              </a:solidFill>
              <a:ln w="38100" cap="rnd">
                <a:solidFill>
                  <a:srgbClr val="333333"/>
                </a:solidFill>
                <a:prstDash val="solid"/>
                <a:round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76200"/>
                <a:ext cx="4545357" cy="64048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8"/>
                  </a:lnSpc>
                </a:pPr>
                <a:endParaRPr/>
              </a:p>
            </p:txBody>
          </p:sp>
        </p:grpSp>
        <p:sp>
          <p:nvSpPr>
            <p:cNvPr id="12" name="AutoShape 12"/>
            <p:cNvSpPr/>
            <p:nvPr/>
          </p:nvSpPr>
          <p:spPr>
            <a:xfrm>
              <a:off x="0" y="1352917"/>
              <a:ext cx="23010868" cy="0"/>
            </a:xfrm>
            <a:prstGeom prst="line">
              <a:avLst/>
            </a:prstGeom>
            <a:ln w="50800" cap="flat">
              <a:solidFill>
                <a:srgbClr val="333333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51248" y="1378317"/>
              <a:ext cx="22908373" cy="3314483"/>
              <a:chOff x="0" y="0"/>
              <a:chExt cx="4525111" cy="654713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4525111" cy="654713"/>
              </a:xfrm>
              <a:custGeom>
                <a:avLst/>
                <a:gdLst/>
                <a:ahLst/>
                <a:cxnLst/>
                <a:rect l="l" t="t" r="r" b="b"/>
                <a:pathLst>
                  <a:path w="4525111" h="654713">
                    <a:moveTo>
                      <a:pt x="0" y="0"/>
                    </a:moveTo>
                    <a:lnTo>
                      <a:pt x="4525111" y="0"/>
                    </a:lnTo>
                    <a:lnTo>
                      <a:pt x="4525111" y="654713"/>
                    </a:lnTo>
                    <a:lnTo>
                      <a:pt x="0" y="654713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0" y="-76200"/>
                <a:ext cx="4525111" cy="73091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8"/>
                  </a:lnSpc>
                </a:pPr>
                <a:endParaRPr/>
              </a:p>
            </p:txBody>
          </p:sp>
        </p:grpSp>
        <p:sp>
          <p:nvSpPr>
            <p:cNvPr id="16" name="Freeform 16"/>
            <p:cNvSpPr/>
            <p:nvPr/>
          </p:nvSpPr>
          <p:spPr>
            <a:xfrm rot="-5400000">
              <a:off x="22119506" y="417746"/>
              <a:ext cx="120969" cy="537639"/>
            </a:xfrm>
            <a:custGeom>
              <a:avLst/>
              <a:gdLst/>
              <a:ahLst/>
              <a:cxnLst/>
              <a:rect l="l" t="t" r="r" b="b"/>
              <a:pathLst>
                <a:path w="120969" h="537639">
                  <a:moveTo>
                    <a:pt x="0" y="0"/>
                  </a:moveTo>
                  <a:lnTo>
                    <a:pt x="120969" y="0"/>
                  </a:lnTo>
                  <a:lnTo>
                    <a:pt x="120969" y="537639"/>
                  </a:lnTo>
                  <a:lnTo>
                    <a:pt x="0" y="5376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id="17" name="TextBox 17"/>
          <p:cNvSpPr txBox="1"/>
          <p:nvPr/>
        </p:nvSpPr>
        <p:spPr>
          <a:xfrm>
            <a:off x="6185604" y="3619430"/>
            <a:ext cx="5916792" cy="9956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3"/>
              </a:lnSpc>
            </a:pPr>
            <a:r>
              <a:rPr lang="en-US" sz="7377" b="1">
                <a:solidFill>
                  <a:srgbClr val="333333"/>
                </a:solidFill>
                <a:latin typeface="Poppins Bold"/>
                <a:ea typeface="Poppins Bold"/>
                <a:cs typeface="Poppins Bold"/>
                <a:sym typeface="Poppins Bold"/>
              </a:rPr>
              <a:t>INDEX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125252" y="5633973"/>
            <a:ext cx="4350015" cy="456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2"/>
              </a:lnSpc>
            </a:pPr>
            <a:r>
              <a:rPr lang="en-US" sz="3099" b="1" spc="-142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우리사주제도의 개념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564943" y="5633973"/>
            <a:ext cx="4350015" cy="448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2"/>
              </a:lnSpc>
            </a:pPr>
            <a:r>
              <a:rPr lang="ko-KR" altLang="en-US" sz="3099" b="1" spc="-142" dirty="0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우리사주조합 혜택</a:t>
            </a:r>
            <a:r>
              <a:rPr lang="en-US" altLang="ko-KR" sz="3099" b="1" spc="-142" dirty="0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(</a:t>
            </a:r>
            <a:r>
              <a:rPr lang="ko-KR" altLang="en-US" sz="3099" b="1" spc="-142" dirty="0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조합원</a:t>
            </a:r>
            <a:r>
              <a:rPr lang="en-US" altLang="ko-KR" sz="3099" b="1" spc="-142" dirty="0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)</a:t>
            </a:r>
            <a:endParaRPr lang="en-US" sz="3099" b="1" spc="-142" dirty="0">
              <a:solidFill>
                <a:srgbClr val="333333"/>
              </a:solidFill>
              <a:latin typeface="JASO Sans Bold"/>
              <a:ea typeface="JASO Sans Bold"/>
              <a:cs typeface="JASO Sans Bold"/>
              <a:sym typeface="JASO Sans 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4125252" y="6654602"/>
            <a:ext cx="4350015" cy="456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2"/>
              </a:lnSpc>
            </a:pPr>
            <a:r>
              <a:rPr lang="ko-KR" altLang="en-US" sz="3099" b="1" spc="-142" dirty="0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우리사주조합 가입 및 탈퇴</a:t>
            </a:r>
            <a:endParaRPr lang="en-US" sz="3099" b="1" spc="-142" dirty="0">
              <a:solidFill>
                <a:srgbClr val="333333"/>
              </a:solidFill>
              <a:latin typeface="JASO Sans Bold"/>
              <a:ea typeface="JASO Sans Bold"/>
              <a:cs typeface="JASO Sans Bold"/>
              <a:sym typeface="JASO Sans Bold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0564943" y="6654602"/>
            <a:ext cx="4827457" cy="448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02"/>
              </a:lnSpc>
            </a:pPr>
            <a:r>
              <a:rPr lang="ko-KR" altLang="en-US" sz="3099" b="1" spc="-142" dirty="0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우리사주조합 재건 진행 개요</a:t>
            </a:r>
            <a:endParaRPr lang="en-US" sz="3099" b="1" spc="-142" dirty="0">
              <a:solidFill>
                <a:srgbClr val="333333"/>
              </a:solidFill>
              <a:latin typeface="JASO Sans Bold"/>
              <a:ea typeface="JASO Sans Bold"/>
              <a:cs typeface="JASO Sans Bold"/>
              <a:sym typeface="JASO Sans Bold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4125252" y="7675330"/>
            <a:ext cx="4350015" cy="456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2"/>
              </a:lnSpc>
            </a:pPr>
            <a:r>
              <a:rPr lang="ko-KR" altLang="en-US" sz="3099" b="1" spc="-142" dirty="0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우리사주 생애주기</a:t>
            </a:r>
            <a:endParaRPr lang="en-US" sz="3099" b="1" spc="-142" dirty="0">
              <a:solidFill>
                <a:srgbClr val="333333"/>
              </a:solidFill>
              <a:latin typeface="JASO Sans Bold"/>
              <a:ea typeface="JASO Sans Bold"/>
              <a:cs typeface="JASO Sans Bold"/>
              <a:sym typeface="JASO Sans Bold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0564943" y="7675330"/>
            <a:ext cx="4350015" cy="456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2"/>
              </a:lnSpc>
            </a:pPr>
            <a:r>
              <a:rPr lang="en-US" sz="3099" b="1" spc="-142" dirty="0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FAQ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3321513" y="5614171"/>
            <a:ext cx="504651" cy="506179"/>
            <a:chOff x="0" y="0"/>
            <a:chExt cx="132912" cy="133315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32912" cy="133315"/>
            </a:xfrm>
            <a:custGeom>
              <a:avLst/>
              <a:gdLst/>
              <a:ahLst/>
              <a:cxnLst/>
              <a:rect l="l" t="t" r="r" b="b"/>
              <a:pathLst>
                <a:path w="132912" h="133315">
                  <a:moveTo>
                    <a:pt x="66456" y="0"/>
                  </a:moveTo>
                  <a:lnTo>
                    <a:pt x="66456" y="0"/>
                  </a:lnTo>
                  <a:cubicBezTo>
                    <a:pt x="84081" y="0"/>
                    <a:pt x="100985" y="7002"/>
                    <a:pt x="113448" y="19465"/>
                  </a:cubicBezTo>
                  <a:cubicBezTo>
                    <a:pt x="125911" y="31927"/>
                    <a:pt x="132912" y="48831"/>
                    <a:pt x="132912" y="66456"/>
                  </a:cubicBezTo>
                  <a:lnTo>
                    <a:pt x="132912" y="66859"/>
                  </a:lnTo>
                  <a:cubicBezTo>
                    <a:pt x="132912" y="84484"/>
                    <a:pt x="125911" y="101387"/>
                    <a:pt x="113448" y="113850"/>
                  </a:cubicBezTo>
                  <a:cubicBezTo>
                    <a:pt x="100985" y="126313"/>
                    <a:pt x="84081" y="133315"/>
                    <a:pt x="66456" y="133315"/>
                  </a:cubicBezTo>
                  <a:lnTo>
                    <a:pt x="66456" y="133315"/>
                  </a:lnTo>
                  <a:cubicBezTo>
                    <a:pt x="48831" y="133315"/>
                    <a:pt x="31927" y="126313"/>
                    <a:pt x="19465" y="113850"/>
                  </a:cubicBezTo>
                  <a:cubicBezTo>
                    <a:pt x="7002" y="101387"/>
                    <a:pt x="0" y="84484"/>
                    <a:pt x="0" y="66859"/>
                  </a:cubicBezTo>
                  <a:lnTo>
                    <a:pt x="0" y="66456"/>
                  </a:lnTo>
                  <a:cubicBezTo>
                    <a:pt x="0" y="48831"/>
                    <a:pt x="7002" y="31927"/>
                    <a:pt x="19465" y="19465"/>
                  </a:cubicBezTo>
                  <a:cubicBezTo>
                    <a:pt x="31927" y="7002"/>
                    <a:pt x="48831" y="0"/>
                    <a:pt x="66456" y="0"/>
                  </a:cubicBezTo>
                  <a:close/>
                </a:path>
              </a:pathLst>
            </a:custGeom>
            <a:solidFill>
              <a:srgbClr val="8DDAC8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0" y="-57150"/>
              <a:ext cx="132912" cy="1904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66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761203" y="5614171"/>
            <a:ext cx="504651" cy="506179"/>
            <a:chOff x="0" y="0"/>
            <a:chExt cx="132912" cy="133315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32912" cy="133315"/>
            </a:xfrm>
            <a:custGeom>
              <a:avLst/>
              <a:gdLst/>
              <a:ahLst/>
              <a:cxnLst/>
              <a:rect l="l" t="t" r="r" b="b"/>
              <a:pathLst>
                <a:path w="132912" h="133315">
                  <a:moveTo>
                    <a:pt x="66456" y="0"/>
                  </a:moveTo>
                  <a:lnTo>
                    <a:pt x="66456" y="0"/>
                  </a:lnTo>
                  <a:cubicBezTo>
                    <a:pt x="84081" y="0"/>
                    <a:pt x="100985" y="7002"/>
                    <a:pt x="113448" y="19465"/>
                  </a:cubicBezTo>
                  <a:cubicBezTo>
                    <a:pt x="125911" y="31927"/>
                    <a:pt x="132912" y="48831"/>
                    <a:pt x="132912" y="66456"/>
                  </a:cubicBezTo>
                  <a:lnTo>
                    <a:pt x="132912" y="66859"/>
                  </a:lnTo>
                  <a:cubicBezTo>
                    <a:pt x="132912" y="84484"/>
                    <a:pt x="125911" y="101387"/>
                    <a:pt x="113448" y="113850"/>
                  </a:cubicBezTo>
                  <a:cubicBezTo>
                    <a:pt x="100985" y="126313"/>
                    <a:pt x="84081" y="133315"/>
                    <a:pt x="66456" y="133315"/>
                  </a:cubicBezTo>
                  <a:lnTo>
                    <a:pt x="66456" y="133315"/>
                  </a:lnTo>
                  <a:cubicBezTo>
                    <a:pt x="48831" y="133315"/>
                    <a:pt x="31927" y="126313"/>
                    <a:pt x="19465" y="113850"/>
                  </a:cubicBezTo>
                  <a:cubicBezTo>
                    <a:pt x="7002" y="101387"/>
                    <a:pt x="0" y="84484"/>
                    <a:pt x="0" y="66859"/>
                  </a:cubicBezTo>
                  <a:lnTo>
                    <a:pt x="0" y="66456"/>
                  </a:lnTo>
                  <a:cubicBezTo>
                    <a:pt x="0" y="48831"/>
                    <a:pt x="7002" y="31927"/>
                    <a:pt x="19465" y="19465"/>
                  </a:cubicBezTo>
                  <a:cubicBezTo>
                    <a:pt x="31927" y="7002"/>
                    <a:pt x="48831" y="0"/>
                    <a:pt x="66456" y="0"/>
                  </a:cubicBezTo>
                  <a:close/>
                </a:path>
              </a:pathLst>
            </a:custGeom>
            <a:solidFill>
              <a:srgbClr val="8DDAC8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0" y="-57150"/>
              <a:ext cx="132912" cy="1904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66"/>
                </a:lnSpc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3321513" y="6634800"/>
            <a:ext cx="504651" cy="506179"/>
            <a:chOff x="0" y="0"/>
            <a:chExt cx="132912" cy="133315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32912" cy="133315"/>
            </a:xfrm>
            <a:custGeom>
              <a:avLst/>
              <a:gdLst/>
              <a:ahLst/>
              <a:cxnLst/>
              <a:rect l="l" t="t" r="r" b="b"/>
              <a:pathLst>
                <a:path w="132912" h="133315">
                  <a:moveTo>
                    <a:pt x="66456" y="0"/>
                  </a:moveTo>
                  <a:lnTo>
                    <a:pt x="66456" y="0"/>
                  </a:lnTo>
                  <a:cubicBezTo>
                    <a:pt x="84081" y="0"/>
                    <a:pt x="100985" y="7002"/>
                    <a:pt x="113448" y="19465"/>
                  </a:cubicBezTo>
                  <a:cubicBezTo>
                    <a:pt x="125911" y="31927"/>
                    <a:pt x="132912" y="48831"/>
                    <a:pt x="132912" y="66456"/>
                  </a:cubicBezTo>
                  <a:lnTo>
                    <a:pt x="132912" y="66859"/>
                  </a:lnTo>
                  <a:cubicBezTo>
                    <a:pt x="132912" y="84484"/>
                    <a:pt x="125911" y="101387"/>
                    <a:pt x="113448" y="113850"/>
                  </a:cubicBezTo>
                  <a:cubicBezTo>
                    <a:pt x="100985" y="126313"/>
                    <a:pt x="84081" y="133315"/>
                    <a:pt x="66456" y="133315"/>
                  </a:cubicBezTo>
                  <a:lnTo>
                    <a:pt x="66456" y="133315"/>
                  </a:lnTo>
                  <a:cubicBezTo>
                    <a:pt x="48831" y="133315"/>
                    <a:pt x="31927" y="126313"/>
                    <a:pt x="19465" y="113850"/>
                  </a:cubicBezTo>
                  <a:cubicBezTo>
                    <a:pt x="7002" y="101387"/>
                    <a:pt x="0" y="84484"/>
                    <a:pt x="0" y="66859"/>
                  </a:cubicBezTo>
                  <a:lnTo>
                    <a:pt x="0" y="66456"/>
                  </a:lnTo>
                  <a:cubicBezTo>
                    <a:pt x="0" y="48831"/>
                    <a:pt x="7002" y="31927"/>
                    <a:pt x="19465" y="19465"/>
                  </a:cubicBezTo>
                  <a:cubicBezTo>
                    <a:pt x="31927" y="7002"/>
                    <a:pt x="48831" y="0"/>
                    <a:pt x="66456" y="0"/>
                  </a:cubicBezTo>
                  <a:close/>
                </a:path>
              </a:pathLst>
            </a:custGeom>
            <a:solidFill>
              <a:srgbClr val="8DDAC8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0" y="-57150"/>
              <a:ext cx="132912" cy="1904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66"/>
                </a:lnSpc>
              </a:pPr>
              <a:endParaRPr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9761203" y="6634800"/>
            <a:ext cx="504651" cy="506179"/>
            <a:chOff x="0" y="0"/>
            <a:chExt cx="132912" cy="133315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32912" cy="133315"/>
            </a:xfrm>
            <a:custGeom>
              <a:avLst/>
              <a:gdLst/>
              <a:ahLst/>
              <a:cxnLst/>
              <a:rect l="l" t="t" r="r" b="b"/>
              <a:pathLst>
                <a:path w="132912" h="133315">
                  <a:moveTo>
                    <a:pt x="66456" y="0"/>
                  </a:moveTo>
                  <a:lnTo>
                    <a:pt x="66456" y="0"/>
                  </a:lnTo>
                  <a:cubicBezTo>
                    <a:pt x="84081" y="0"/>
                    <a:pt x="100985" y="7002"/>
                    <a:pt x="113448" y="19465"/>
                  </a:cubicBezTo>
                  <a:cubicBezTo>
                    <a:pt x="125911" y="31927"/>
                    <a:pt x="132912" y="48831"/>
                    <a:pt x="132912" y="66456"/>
                  </a:cubicBezTo>
                  <a:lnTo>
                    <a:pt x="132912" y="66859"/>
                  </a:lnTo>
                  <a:cubicBezTo>
                    <a:pt x="132912" y="84484"/>
                    <a:pt x="125911" y="101387"/>
                    <a:pt x="113448" y="113850"/>
                  </a:cubicBezTo>
                  <a:cubicBezTo>
                    <a:pt x="100985" y="126313"/>
                    <a:pt x="84081" y="133315"/>
                    <a:pt x="66456" y="133315"/>
                  </a:cubicBezTo>
                  <a:lnTo>
                    <a:pt x="66456" y="133315"/>
                  </a:lnTo>
                  <a:cubicBezTo>
                    <a:pt x="48831" y="133315"/>
                    <a:pt x="31927" y="126313"/>
                    <a:pt x="19465" y="113850"/>
                  </a:cubicBezTo>
                  <a:cubicBezTo>
                    <a:pt x="7002" y="101387"/>
                    <a:pt x="0" y="84484"/>
                    <a:pt x="0" y="66859"/>
                  </a:cubicBezTo>
                  <a:lnTo>
                    <a:pt x="0" y="66456"/>
                  </a:lnTo>
                  <a:cubicBezTo>
                    <a:pt x="0" y="48831"/>
                    <a:pt x="7002" y="31927"/>
                    <a:pt x="19465" y="19465"/>
                  </a:cubicBezTo>
                  <a:cubicBezTo>
                    <a:pt x="31927" y="7002"/>
                    <a:pt x="48831" y="0"/>
                    <a:pt x="66456" y="0"/>
                  </a:cubicBezTo>
                  <a:close/>
                </a:path>
              </a:pathLst>
            </a:custGeom>
            <a:solidFill>
              <a:srgbClr val="8DDAC8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0" y="-57150"/>
              <a:ext cx="132912" cy="1904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66"/>
                </a:lnSpc>
              </a:pPr>
              <a:endParaRPr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3321513" y="7655528"/>
            <a:ext cx="504651" cy="506179"/>
            <a:chOff x="0" y="0"/>
            <a:chExt cx="132912" cy="133315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32912" cy="133315"/>
            </a:xfrm>
            <a:custGeom>
              <a:avLst/>
              <a:gdLst/>
              <a:ahLst/>
              <a:cxnLst/>
              <a:rect l="l" t="t" r="r" b="b"/>
              <a:pathLst>
                <a:path w="132912" h="133315">
                  <a:moveTo>
                    <a:pt x="66456" y="0"/>
                  </a:moveTo>
                  <a:lnTo>
                    <a:pt x="66456" y="0"/>
                  </a:lnTo>
                  <a:cubicBezTo>
                    <a:pt x="84081" y="0"/>
                    <a:pt x="100985" y="7002"/>
                    <a:pt x="113448" y="19465"/>
                  </a:cubicBezTo>
                  <a:cubicBezTo>
                    <a:pt x="125911" y="31927"/>
                    <a:pt x="132912" y="48831"/>
                    <a:pt x="132912" y="66456"/>
                  </a:cubicBezTo>
                  <a:lnTo>
                    <a:pt x="132912" y="66859"/>
                  </a:lnTo>
                  <a:cubicBezTo>
                    <a:pt x="132912" y="84484"/>
                    <a:pt x="125911" y="101387"/>
                    <a:pt x="113448" y="113850"/>
                  </a:cubicBezTo>
                  <a:cubicBezTo>
                    <a:pt x="100985" y="126313"/>
                    <a:pt x="84081" y="133315"/>
                    <a:pt x="66456" y="133315"/>
                  </a:cubicBezTo>
                  <a:lnTo>
                    <a:pt x="66456" y="133315"/>
                  </a:lnTo>
                  <a:cubicBezTo>
                    <a:pt x="48831" y="133315"/>
                    <a:pt x="31927" y="126313"/>
                    <a:pt x="19465" y="113850"/>
                  </a:cubicBezTo>
                  <a:cubicBezTo>
                    <a:pt x="7002" y="101387"/>
                    <a:pt x="0" y="84484"/>
                    <a:pt x="0" y="66859"/>
                  </a:cubicBezTo>
                  <a:lnTo>
                    <a:pt x="0" y="66456"/>
                  </a:lnTo>
                  <a:cubicBezTo>
                    <a:pt x="0" y="48831"/>
                    <a:pt x="7002" y="31927"/>
                    <a:pt x="19465" y="19465"/>
                  </a:cubicBezTo>
                  <a:cubicBezTo>
                    <a:pt x="31927" y="7002"/>
                    <a:pt x="48831" y="0"/>
                    <a:pt x="66456" y="0"/>
                  </a:cubicBezTo>
                  <a:close/>
                </a:path>
              </a:pathLst>
            </a:custGeom>
            <a:solidFill>
              <a:srgbClr val="8DDAC8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0" y="-57150"/>
              <a:ext cx="132912" cy="1904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66"/>
                </a:lnSpc>
              </a:pPr>
              <a:endParaRPr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761203" y="7655528"/>
            <a:ext cx="504651" cy="506179"/>
            <a:chOff x="0" y="0"/>
            <a:chExt cx="132912" cy="133315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32912" cy="133315"/>
            </a:xfrm>
            <a:custGeom>
              <a:avLst/>
              <a:gdLst/>
              <a:ahLst/>
              <a:cxnLst/>
              <a:rect l="l" t="t" r="r" b="b"/>
              <a:pathLst>
                <a:path w="132912" h="133315">
                  <a:moveTo>
                    <a:pt x="66456" y="0"/>
                  </a:moveTo>
                  <a:lnTo>
                    <a:pt x="66456" y="0"/>
                  </a:lnTo>
                  <a:cubicBezTo>
                    <a:pt x="84081" y="0"/>
                    <a:pt x="100985" y="7002"/>
                    <a:pt x="113448" y="19465"/>
                  </a:cubicBezTo>
                  <a:cubicBezTo>
                    <a:pt x="125911" y="31927"/>
                    <a:pt x="132912" y="48831"/>
                    <a:pt x="132912" y="66456"/>
                  </a:cubicBezTo>
                  <a:lnTo>
                    <a:pt x="132912" y="66859"/>
                  </a:lnTo>
                  <a:cubicBezTo>
                    <a:pt x="132912" y="84484"/>
                    <a:pt x="125911" y="101387"/>
                    <a:pt x="113448" y="113850"/>
                  </a:cubicBezTo>
                  <a:cubicBezTo>
                    <a:pt x="100985" y="126313"/>
                    <a:pt x="84081" y="133315"/>
                    <a:pt x="66456" y="133315"/>
                  </a:cubicBezTo>
                  <a:lnTo>
                    <a:pt x="66456" y="133315"/>
                  </a:lnTo>
                  <a:cubicBezTo>
                    <a:pt x="48831" y="133315"/>
                    <a:pt x="31927" y="126313"/>
                    <a:pt x="19465" y="113850"/>
                  </a:cubicBezTo>
                  <a:cubicBezTo>
                    <a:pt x="7002" y="101387"/>
                    <a:pt x="0" y="84484"/>
                    <a:pt x="0" y="66859"/>
                  </a:cubicBezTo>
                  <a:lnTo>
                    <a:pt x="0" y="66456"/>
                  </a:lnTo>
                  <a:cubicBezTo>
                    <a:pt x="0" y="48831"/>
                    <a:pt x="7002" y="31927"/>
                    <a:pt x="19465" y="19465"/>
                  </a:cubicBezTo>
                  <a:cubicBezTo>
                    <a:pt x="31927" y="7002"/>
                    <a:pt x="48831" y="0"/>
                    <a:pt x="66456" y="0"/>
                  </a:cubicBezTo>
                  <a:close/>
                </a:path>
              </a:pathLst>
            </a:custGeom>
            <a:solidFill>
              <a:srgbClr val="8DDAC8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0" y="-57150"/>
              <a:ext cx="132912" cy="1904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66"/>
                </a:lnSpc>
              </a:pPr>
              <a:endParaRPr/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3042898" y="5719613"/>
            <a:ext cx="1042830" cy="285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6"/>
              </a:lnSpc>
            </a:pPr>
            <a:r>
              <a:rPr lang="en-US" sz="1713" b="1" spc="-44">
                <a:solidFill>
                  <a:srgbClr val="33333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1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9482589" y="5719613"/>
            <a:ext cx="1042830" cy="285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6"/>
              </a:lnSpc>
            </a:pPr>
            <a:r>
              <a:rPr lang="en-US" sz="1713" b="1" spc="-44">
                <a:solidFill>
                  <a:srgbClr val="33333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4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3042898" y="6740241"/>
            <a:ext cx="1042830" cy="285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6"/>
              </a:lnSpc>
            </a:pPr>
            <a:r>
              <a:rPr lang="en-US" sz="1713" b="1" spc="-44">
                <a:solidFill>
                  <a:srgbClr val="33333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2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9482589" y="6740241"/>
            <a:ext cx="1042830" cy="285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6"/>
              </a:lnSpc>
            </a:pPr>
            <a:r>
              <a:rPr lang="en-US" sz="1713" b="1" spc="-44">
                <a:solidFill>
                  <a:srgbClr val="33333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5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3042898" y="7760969"/>
            <a:ext cx="1042830" cy="285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6"/>
              </a:lnSpc>
            </a:pPr>
            <a:r>
              <a:rPr lang="en-US" sz="1713" b="1" spc="-44">
                <a:solidFill>
                  <a:srgbClr val="33333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3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9482589" y="7760969"/>
            <a:ext cx="1042830" cy="285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6"/>
              </a:lnSpc>
            </a:pPr>
            <a:r>
              <a:rPr lang="en-US" sz="1713" b="1" spc="-44">
                <a:solidFill>
                  <a:srgbClr val="33333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6</a:t>
            </a:r>
          </a:p>
        </p:txBody>
      </p:sp>
      <p:sp>
        <p:nvSpPr>
          <p:cNvPr id="48" name="AutoShape 48"/>
          <p:cNvSpPr/>
          <p:nvPr/>
        </p:nvSpPr>
        <p:spPr>
          <a:xfrm flipV="1">
            <a:off x="3321513" y="6377625"/>
            <a:ext cx="5528868" cy="0"/>
          </a:xfrm>
          <a:prstGeom prst="line">
            <a:avLst/>
          </a:prstGeom>
          <a:ln w="19050" cap="flat">
            <a:solidFill>
              <a:srgbClr val="333333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49" name="AutoShape 49"/>
          <p:cNvSpPr/>
          <p:nvPr/>
        </p:nvSpPr>
        <p:spPr>
          <a:xfrm flipV="1">
            <a:off x="9761203" y="6377625"/>
            <a:ext cx="5528868" cy="0"/>
          </a:xfrm>
          <a:prstGeom prst="line">
            <a:avLst/>
          </a:prstGeom>
          <a:ln w="19050" cap="flat">
            <a:solidFill>
              <a:srgbClr val="333333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50" name="AutoShape 50"/>
          <p:cNvSpPr/>
          <p:nvPr/>
        </p:nvSpPr>
        <p:spPr>
          <a:xfrm flipV="1">
            <a:off x="3321513" y="7398353"/>
            <a:ext cx="5528868" cy="0"/>
          </a:xfrm>
          <a:prstGeom prst="line">
            <a:avLst/>
          </a:prstGeom>
          <a:ln w="19050" cap="flat">
            <a:solidFill>
              <a:srgbClr val="333333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51" name="AutoShape 51"/>
          <p:cNvSpPr/>
          <p:nvPr/>
        </p:nvSpPr>
        <p:spPr>
          <a:xfrm flipV="1">
            <a:off x="9761203" y="7398353"/>
            <a:ext cx="5528868" cy="0"/>
          </a:xfrm>
          <a:prstGeom prst="line">
            <a:avLst/>
          </a:prstGeom>
          <a:ln w="19050" cap="flat">
            <a:solidFill>
              <a:srgbClr val="333333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52" name="Freeform 52"/>
          <p:cNvSpPr/>
          <p:nvPr/>
        </p:nvSpPr>
        <p:spPr>
          <a:xfrm>
            <a:off x="8548125" y="2333694"/>
            <a:ext cx="1191750" cy="1114286"/>
          </a:xfrm>
          <a:custGeom>
            <a:avLst/>
            <a:gdLst/>
            <a:ahLst/>
            <a:cxnLst/>
            <a:rect l="l" t="t" r="r" b="b"/>
            <a:pathLst>
              <a:path w="1191750" h="1114286">
                <a:moveTo>
                  <a:pt x="0" y="0"/>
                </a:moveTo>
                <a:lnTo>
                  <a:pt x="1191750" y="0"/>
                </a:lnTo>
                <a:lnTo>
                  <a:pt x="1191750" y="1114286"/>
                </a:lnTo>
                <a:lnTo>
                  <a:pt x="0" y="11142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14924" y="513776"/>
            <a:ext cx="17258151" cy="9391650"/>
            <a:chOff x="0" y="0"/>
            <a:chExt cx="23010868" cy="125222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77800"/>
              <a:ext cx="23010868" cy="12344400"/>
              <a:chOff x="0" y="0"/>
              <a:chExt cx="4545357" cy="24384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545357" cy="2438400"/>
              </a:xfrm>
              <a:custGeom>
                <a:avLst/>
                <a:gdLst/>
                <a:ahLst/>
                <a:cxnLst/>
                <a:rect l="l" t="t" r="r" b="b"/>
                <a:pathLst>
                  <a:path w="4545357" h="2438400">
                    <a:moveTo>
                      <a:pt x="17944" y="0"/>
                    </a:moveTo>
                    <a:lnTo>
                      <a:pt x="4527413" y="0"/>
                    </a:lnTo>
                    <a:cubicBezTo>
                      <a:pt x="4537323" y="0"/>
                      <a:pt x="4545357" y="8034"/>
                      <a:pt x="4545357" y="17944"/>
                    </a:cubicBezTo>
                    <a:lnTo>
                      <a:pt x="4545357" y="2420456"/>
                    </a:lnTo>
                    <a:cubicBezTo>
                      <a:pt x="4545357" y="2430366"/>
                      <a:pt x="4537323" y="2438400"/>
                      <a:pt x="4527413" y="2438400"/>
                    </a:cubicBezTo>
                    <a:lnTo>
                      <a:pt x="17944" y="2438400"/>
                    </a:lnTo>
                    <a:cubicBezTo>
                      <a:pt x="8034" y="2438400"/>
                      <a:pt x="0" y="2430366"/>
                      <a:pt x="0" y="2420456"/>
                    </a:cubicBezTo>
                    <a:lnTo>
                      <a:pt x="0" y="17944"/>
                    </a:lnTo>
                    <a:cubicBezTo>
                      <a:pt x="0" y="8034"/>
                      <a:pt x="8034" y="0"/>
                      <a:pt x="17944" y="0"/>
                    </a:cubicBezTo>
                    <a:close/>
                  </a:path>
                </a:pathLst>
              </a:custGeom>
              <a:solidFill>
                <a:srgbClr val="E5E5E5"/>
              </a:solidFill>
              <a:ln w="38100" cap="rnd">
                <a:solidFill>
                  <a:srgbClr val="333333"/>
                </a:solidFill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76200"/>
                <a:ext cx="4545357" cy="2514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8"/>
                  </a:lnSpc>
                </a:pPr>
                <a:r>
                  <a:rPr lang="en-US" sz="2200" spc="-90">
                    <a:solidFill>
                      <a:srgbClr val="FFFFFF"/>
                    </a:solidFill>
                    <a:latin typeface="JASO Sans"/>
                    <a:ea typeface="JASO Sans"/>
                    <a:cs typeface="JASO Sans"/>
                    <a:sym typeface="JASO Sans"/>
                  </a:rPr>
                  <a:t>ㄲㄲ</a:t>
                </a:r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23010868" cy="12344400"/>
              <a:chOff x="0" y="0"/>
              <a:chExt cx="4545357" cy="24384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545357" cy="2438400"/>
              </a:xfrm>
              <a:custGeom>
                <a:avLst/>
                <a:gdLst/>
                <a:ahLst/>
                <a:cxnLst/>
                <a:rect l="l" t="t" r="r" b="b"/>
                <a:pathLst>
                  <a:path w="4545357" h="2438400">
                    <a:moveTo>
                      <a:pt x="14804" y="0"/>
                    </a:moveTo>
                    <a:lnTo>
                      <a:pt x="4530553" y="0"/>
                    </a:lnTo>
                    <a:cubicBezTo>
                      <a:pt x="4534479" y="0"/>
                      <a:pt x="4538245" y="1560"/>
                      <a:pt x="4541021" y="4336"/>
                    </a:cubicBezTo>
                    <a:cubicBezTo>
                      <a:pt x="4543797" y="7112"/>
                      <a:pt x="4545357" y="10877"/>
                      <a:pt x="4545357" y="14804"/>
                    </a:cubicBezTo>
                    <a:lnTo>
                      <a:pt x="4545357" y="2423596"/>
                    </a:lnTo>
                    <a:cubicBezTo>
                      <a:pt x="4545357" y="2431772"/>
                      <a:pt x="4538729" y="2438400"/>
                      <a:pt x="4530553" y="2438400"/>
                    </a:cubicBezTo>
                    <a:lnTo>
                      <a:pt x="14804" y="2438400"/>
                    </a:lnTo>
                    <a:cubicBezTo>
                      <a:pt x="10877" y="2438400"/>
                      <a:pt x="7112" y="2436840"/>
                      <a:pt x="4336" y="2434064"/>
                    </a:cubicBezTo>
                    <a:cubicBezTo>
                      <a:pt x="1560" y="2431288"/>
                      <a:pt x="0" y="2427523"/>
                      <a:pt x="0" y="2423596"/>
                    </a:cubicBezTo>
                    <a:lnTo>
                      <a:pt x="0" y="14804"/>
                    </a:lnTo>
                    <a:cubicBezTo>
                      <a:pt x="0" y="10877"/>
                      <a:pt x="1560" y="7112"/>
                      <a:pt x="4336" y="4336"/>
                    </a:cubicBezTo>
                    <a:cubicBezTo>
                      <a:pt x="7112" y="1560"/>
                      <a:pt x="10877" y="0"/>
                      <a:pt x="1480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333333"/>
                </a:solidFill>
                <a:prstDash val="solid"/>
                <a:round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76200"/>
                <a:ext cx="4545357" cy="2514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8"/>
                  </a:lnSpc>
                </a:pPr>
                <a:r>
                  <a:rPr lang="en-US" sz="2200" spc="-90">
                    <a:solidFill>
                      <a:srgbClr val="FFFFFF"/>
                    </a:solidFill>
                    <a:latin typeface="JASO Sans"/>
                    <a:ea typeface="JASO Sans"/>
                    <a:cs typeface="JASO Sans"/>
                    <a:sym typeface="JASO Sans"/>
                  </a:rPr>
                  <a:t>ㄲㄲ</a:t>
                </a:r>
              </a:p>
            </p:txBody>
          </p:sp>
        </p:grpSp>
      </p:grpSp>
      <p:sp>
        <p:nvSpPr>
          <p:cNvPr id="9" name="Freeform 9"/>
          <p:cNvSpPr/>
          <p:nvPr/>
        </p:nvSpPr>
        <p:spPr>
          <a:xfrm rot="-5400000">
            <a:off x="17104554" y="827085"/>
            <a:ext cx="90727" cy="403229"/>
          </a:xfrm>
          <a:custGeom>
            <a:avLst/>
            <a:gdLst/>
            <a:ahLst/>
            <a:cxnLst/>
            <a:rect l="l" t="t" r="r" b="b"/>
            <a:pathLst>
              <a:path w="90727" h="403229">
                <a:moveTo>
                  <a:pt x="0" y="0"/>
                </a:moveTo>
                <a:lnTo>
                  <a:pt x="90726" y="0"/>
                </a:lnTo>
                <a:lnTo>
                  <a:pt x="90726" y="403230"/>
                </a:lnTo>
                <a:lnTo>
                  <a:pt x="0" y="4032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10" name="Group 10"/>
          <p:cNvGrpSpPr/>
          <p:nvPr/>
        </p:nvGrpSpPr>
        <p:grpSpPr>
          <a:xfrm>
            <a:off x="1339871" y="1267781"/>
            <a:ext cx="710270" cy="712421"/>
            <a:chOff x="0" y="0"/>
            <a:chExt cx="187067" cy="18763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87067" cy="187633"/>
            </a:xfrm>
            <a:custGeom>
              <a:avLst/>
              <a:gdLst/>
              <a:ahLst/>
              <a:cxnLst/>
              <a:rect l="l" t="t" r="r" b="b"/>
              <a:pathLst>
                <a:path w="187067" h="187633">
                  <a:moveTo>
                    <a:pt x="93533" y="0"/>
                  </a:moveTo>
                  <a:lnTo>
                    <a:pt x="93533" y="0"/>
                  </a:lnTo>
                  <a:cubicBezTo>
                    <a:pt x="145191" y="0"/>
                    <a:pt x="187067" y="41876"/>
                    <a:pt x="187067" y="93533"/>
                  </a:cubicBezTo>
                  <a:lnTo>
                    <a:pt x="187067" y="94100"/>
                  </a:lnTo>
                  <a:cubicBezTo>
                    <a:pt x="187067" y="118907"/>
                    <a:pt x="177213" y="142697"/>
                    <a:pt x="159672" y="160238"/>
                  </a:cubicBezTo>
                  <a:cubicBezTo>
                    <a:pt x="142131" y="177779"/>
                    <a:pt x="118340" y="187633"/>
                    <a:pt x="93533" y="187633"/>
                  </a:cubicBezTo>
                  <a:lnTo>
                    <a:pt x="93533" y="187633"/>
                  </a:lnTo>
                  <a:cubicBezTo>
                    <a:pt x="41876" y="187633"/>
                    <a:pt x="0" y="145757"/>
                    <a:pt x="0" y="94100"/>
                  </a:cubicBezTo>
                  <a:lnTo>
                    <a:pt x="0" y="93533"/>
                  </a:lnTo>
                  <a:cubicBezTo>
                    <a:pt x="0" y="68727"/>
                    <a:pt x="9854" y="44936"/>
                    <a:pt x="27395" y="27395"/>
                  </a:cubicBezTo>
                  <a:cubicBezTo>
                    <a:pt x="44936" y="9854"/>
                    <a:pt x="68727" y="0"/>
                    <a:pt x="93533" y="0"/>
                  </a:cubicBezTo>
                  <a:close/>
                </a:path>
              </a:pathLst>
            </a:custGeom>
            <a:solidFill>
              <a:srgbClr val="8DDAC8"/>
            </a:solidFill>
            <a:ln w="28575" cap="sq">
              <a:solidFill>
                <a:srgbClr val="333333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187067" cy="2447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66"/>
                </a:lnSpc>
              </a:pPr>
              <a:endParaRPr/>
            </a:p>
          </p:txBody>
        </p:sp>
      </p:grpSp>
      <p:sp>
        <p:nvSpPr>
          <p:cNvPr id="13" name="AutoShape 13"/>
          <p:cNvSpPr/>
          <p:nvPr/>
        </p:nvSpPr>
        <p:spPr>
          <a:xfrm flipV="1">
            <a:off x="1339698" y="2443184"/>
            <a:ext cx="15608605" cy="0"/>
          </a:xfrm>
          <a:prstGeom prst="line">
            <a:avLst/>
          </a:prstGeom>
          <a:ln w="19050" cap="flat">
            <a:solidFill>
              <a:srgbClr val="33333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TextBox 14"/>
          <p:cNvSpPr txBox="1"/>
          <p:nvPr/>
        </p:nvSpPr>
        <p:spPr>
          <a:xfrm rot="-18144">
            <a:off x="2289393" y="1192192"/>
            <a:ext cx="9732485" cy="8315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6414"/>
              </a:lnSpc>
              <a:spcBef>
                <a:spcPct val="0"/>
              </a:spcBef>
            </a:pPr>
            <a:r>
              <a:rPr lang="en-US" sz="5676" spc="-283" dirty="0" err="1">
                <a:solidFill>
                  <a:srgbClr val="33333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우리사주제도</a:t>
            </a:r>
            <a:r>
              <a:rPr lang="en-US" sz="5676" spc="-283" dirty="0">
                <a:solidFill>
                  <a:srgbClr val="33333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 </a:t>
            </a:r>
            <a:r>
              <a:rPr lang="ko-KR" altLang="en-US" sz="5676" spc="-283" dirty="0">
                <a:solidFill>
                  <a:srgbClr val="33333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개념</a:t>
            </a:r>
            <a:r>
              <a:rPr lang="en-US" altLang="ko-KR" sz="5676" spc="-283" dirty="0">
                <a:solidFill>
                  <a:srgbClr val="33333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(</a:t>
            </a:r>
            <a:r>
              <a:rPr lang="ko-KR" altLang="en-US" sz="5676" spc="-283" dirty="0">
                <a:solidFill>
                  <a:srgbClr val="33333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정의</a:t>
            </a:r>
            <a:r>
              <a:rPr lang="en-US" altLang="ko-KR" sz="5676" spc="-283" dirty="0">
                <a:solidFill>
                  <a:srgbClr val="33333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)</a:t>
            </a:r>
            <a:endParaRPr lang="en-US" sz="5676" spc="-283" dirty="0">
              <a:solidFill>
                <a:srgbClr val="333333"/>
              </a:solidFill>
              <a:latin typeface="210 국민체조"/>
              <a:ea typeface="210 국민체조"/>
              <a:cs typeface="210 국민체조"/>
              <a:sym typeface="210 국민체조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173591" y="1414452"/>
            <a:ext cx="1042830" cy="3656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00"/>
              </a:lnSpc>
            </a:pPr>
            <a:r>
              <a:rPr lang="en-US" sz="2416" b="1" spc="-62" dirty="0">
                <a:solidFill>
                  <a:srgbClr val="33333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935944" y="6068852"/>
            <a:ext cx="3890528" cy="507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3955"/>
              </a:lnSpc>
              <a:spcBef>
                <a:spcPct val="0"/>
              </a:spcBef>
            </a:pPr>
            <a:r>
              <a:rPr lang="en-US" sz="3500" spc="-175">
                <a:solidFill>
                  <a:srgbClr val="33333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제도 의의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187528" y="6068852"/>
            <a:ext cx="3890528" cy="507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3955"/>
              </a:lnSpc>
              <a:spcBef>
                <a:spcPct val="0"/>
              </a:spcBef>
            </a:pPr>
            <a:r>
              <a:rPr lang="en-US" sz="3500" spc="-175">
                <a:solidFill>
                  <a:srgbClr val="33333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우리사주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382786" y="6068852"/>
            <a:ext cx="3890528" cy="507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3955"/>
              </a:lnSpc>
              <a:spcBef>
                <a:spcPct val="0"/>
              </a:spcBef>
            </a:pPr>
            <a:r>
              <a:rPr lang="en-US" sz="3500" spc="-175">
                <a:solidFill>
                  <a:srgbClr val="33333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우리사주조합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886845" y="7460665"/>
            <a:ext cx="3988724" cy="2030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99"/>
              </a:lnSpc>
            </a:pPr>
            <a:r>
              <a:rPr lang="en-US" sz="2199" spc="-76" dirty="0" err="1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근로자들이</a:t>
            </a:r>
            <a:r>
              <a:rPr 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199" spc="-76" dirty="0" err="1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회사</a:t>
            </a:r>
            <a:r>
              <a:rPr 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199" spc="-76" dirty="0" err="1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주식을</a:t>
            </a:r>
            <a:endParaRPr lang="en-US" sz="2199" spc="-76" dirty="0">
              <a:solidFill>
                <a:srgbClr val="333333">
                  <a:alpha val="80000"/>
                </a:srgbClr>
              </a:solidFill>
              <a:latin typeface="JASO Sans"/>
              <a:ea typeface="JASO Sans"/>
              <a:cs typeface="JASO Sans"/>
              <a:sym typeface="JASO Sans"/>
            </a:endParaRPr>
          </a:p>
          <a:p>
            <a:pPr algn="ctr">
              <a:lnSpc>
                <a:spcPts val="3299"/>
              </a:lnSpc>
            </a:pPr>
            <a:r>
              <a:rPr lang="en-US" sz="2199" spc="-76" dirty="0" err="1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취득하게</a:t>
            </a:r>
            <a:r>
              <a:rPr 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199" spc="-76" dirty="0" err="1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하는</a:t>
            </a:r>
            <a:r>
              <a:rPr 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199" spc="-76" dirty="0" err="1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제도</a:t>
            </a:r>
            <a:endParaRPr lang="en-US" sz="2199" spc="-76" dirty="0">
              <a:solidFill>
                <a:srgbClr val="333333">
                  <a:alpha val="80000"/>
                </a:srgbClr>
              </a:solidFill>
              <a:latin typeface="JASO Sans"/>
              <a:ea typeface="JASO Sans"/>
              <a:cs typeface="JASO Sans"/>
              <a:sym typeface="JASO Sans"/>
            </a:endParaRPr>
          </a:p>
          <a:p>
            <a:pPr algn="ctr">
              <a:lnSpc>
                <a:spcPts val="3299"/>
              </a:lnSpc>
            </a:pPr>
            <a:endParaRPr lang="en-US" sz="2199" spc="-76" dirty="0">
              <a:solidFill>
                <a:srgbClr val="333333">
                  <a:alpha val="80000"/>
                </a:srgbClr>
              </a:solidFill>
              <a:latin typeface="JASO Sans"/>
              <a:ea typeface="JASO Sans"/>
              <a:cs typeface="JASO Sans"/>
              <a:sym typeface="JASO Sans"/>
            </a:endParaRPr>
          </a:p>
          <a:p>
            <a:pPr algn="ctr">
              <a:lnSpc>
                <a:spcPts val="3299"/>
              </a:lnSpc>
            </a:pPr>
            <a:r>
              <a:rPr lang="en-US" sz="2199" spc="-76" dirty="0" err="1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근로자의</a:t>
            </a:r>
            <a:r>
              <a:rPr 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199" spc="-76" dirty="0" err="1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경제</a:t>
            </a:r>
            <a:r>
              <a:rPr 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199" spc="-76" dirty="0" err="1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사회적</a:t>
            </a:r>
            <a:r>
              <a:rPr 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199" spc="-76" dirty="0" err="1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지위</a:t>
            </a:r>
            <a:r>
              <a:rPr 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199" spc="-76" dirty="0" err="1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향상</a:t>
            </a:r>
            <a:endParaRPr lang="en-US" sz="2199" spc="-76" dirty="0">
              <a:solidFill>
                <a:srgbClr val="333333">
                  <a:alpha val="80000"/>
                </a:srgbClr>
              </a:solidFill>
              <a:latin typeface="JASO Sans"/>
              <a:ea typeface="JASO Sans"/>
              <a:cs typeface="JASO Sans"/>
              <a:sym typeface="JASO Sans"/>
            </a:endParaRPr>
          </a:p>
          <a:p>
            <a:pPr algn="ctr">
              <a:lnSpc>
                <a:spcPts val="3299"/>
              </a:lnSpc>
            </a:pPr>
            <a:r>
              <a:rPr 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및 </a:t>
            </a:r>
            <a:r>
              <a:rPr lang="en-US" sz="2199" spc="-76" dirty="0" err="1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노사협력</a:t>
            </a:r>
            <a:r>
              <a:rPr 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199" spc="-76" dirty="0" err="1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증진</a:t>
            </a:r>
            <a:r>
              <a:rPr 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199" spc="-76" dirty="0" err="1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도모</a:t>
            </a:r>
            <a:endParaRPr lang="en-US" sz="2199" spc="-76" dirty="0">
              <a:solidFill>
                <a:srgbClr val="333333">
                  <a:alpha val="80000"/>
                </a:srgbClr>
              </a:solidFill>
              <a:latin typeface="JASO Sans"/>
              <a:ea typeface="JASO Sans"/>
              <a:cs typeface="JASO Sans"/>
              <a:sym typeface="JASO Sans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7138429" y="7460665"/>
            <a:ext cx="3988724" cy="1211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99"/>
              </a:lnSpc>
            </a:pPr>
            <a:r>
              <a:rPr lang="en-US" sz="2199" spc="-76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회사의 소속 근로자가</a:t>
            </a:r>
          </a:p>
          <a:p>
            <a:pPr algn="ctr">
              <a:lnSpc>
                <a:spcPts val="3299"/>
              </a:lnSpc>
            </a:pPr>
            <a:r>
              <a:rPr lang="en-US" sz="2199" spc="-76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회사에 설립된 우리사주조합을</a:t>
            </a:r>
          </a:p>
          <a:p>
            <a:pPr marL="0" lvl="0" indent="0" algn="ctr">
              <a:lnSpc>
                <a:spcPts val="3299"/>
              </a:lnSpc>
            </a:pPr>
            <a:r>
              <a:rPr lang="en-US" sz="2199" spc="-76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통하여 취득하는 회사의 주식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333688" y="7460665"/>
            <a:ext cx="3988724" cy="1621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99"/>
              </a:lnSpc>
            </a:pPr>
            <a:r>
              <a:rPr lang="en-US" sz="2199" spc="-76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회사의 소속 근로자가</a:t>
            </a:r>
          </a:p>
          <a:p>
            <a:pPr algn="ctr">
              <a:lnSpc>
                <a:spcPts val="3299"/>
              </a:lnSpc>
            </a:pPr>
            <a:r>
              <a:rPr lang="en-US" sz="2199" spc="-76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회사의 주식을 취득하기 위하여</a:t>
            </a:r>
          </a:p>
          <a:p>
            <a:pPr algn="ctr">
              <a:lnSpc>
                <a:spcPts val="3299"/>
              </a:lnSpc>
            </a:pPr>
            <a:r>
              <a:rPr lang="en-US" sz="2199" spc="-76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법에서 정한 요건을 갖추어</a:t>
            </a:r>
          </a:p>
          <a:p>
            <a:pPr marL="0" lvl="0" indent="0" algn="ctr">
              <a:lnSpc>
                <a:spcPts val="3299"/>
              </a:lnSpc>
            </a:pPr>
            <a:r>
              <a:rPr lang="en-US" sz="2199" spc="-76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설립한 단체</a:t>
            </a:r>
          </a:p>
        </p:txBody>
      </p:sp>
      <p:sp>
        <p:nvSpPr>
          <p:cNvPr id="22" name="Freeform 22"/>
          <p:cNvSpPr/>
          <p:nvPr/>
        </p:nvSpPr>
        <p:spPr>
          <a:xfrm>
            <a:off x="3200274" y="4229100"/>
            <a:ext cx="1361868" cy="1353356"/>
          </a:xfrm>
          <a:custGeom>
            <a:avLst/>
            <a:gdLst/>
            <a:ahLst/>
            <a:cxnLst/>
            <a:rect l="l" t="t" r="r" b="b"/>
            <a:pathLst>
              <a:path w="1361868" h="1353356">
                <a:moveTo>
                  <a:pt x="0" y="0"/>
                </a:moveTo>
                <a:lnTo>
                  <a:pt x="1361868" y="0"/>
                </a:lnTo>
                <a:lnTo>
                  <a:pt x="1361868" y="1353356"/>
                </a:lnTo>
                <a:lnTo>
                  <a:pt x="0" y="13533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3" name="AutoShape 23"/>
          <p:cNvSpPr/>
          <p:nvPr/>
        </p:nvSpPr>
        <p:spPr>
          <a:xfrm>
            <a:off x="1844338" y="7117047"/>
            <a:ext cx="4073739" cy="0"/>
          </a:xfrm>
          <a:prstGeom prst="line">
            <a:avLst/>
          </a:prstGeom>
          <a:ln w="9525" cap="flat">
            <a:solidFill>
              <a:srgbClr val="333333">
                <a:alpha val="49804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24" name="AutoShape 24"/>
          <p:cNvSpPr/>
          <p:nvPr/>
        </p:nvSpPr>
        <p:spPr>
          <a:xfrm>
            <a:off x="7095922" y="7117047"/>
            <a:ext cx="4073739" cy="0"/>
          </a:xfrm>
          <a:prstGeom prst="line">
            <a:avLst/>
          </a:prstGeom>
          <a:ln w="9525" cap="flat">
            <a:solidFill>
              <a:srgbClr val="333333">
                <a:alpha val="49804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25" name="AutoShape 25"/>
          <p:cNvSpPr/>
          <p:nvPr/>
        </p:nvSpPr>
        <p:spPr>
          <a:xfrm>
            <a:off x="12291180" y="7117047"/>
            <a:ext cx="4073739" cy="0"/>
          </a:xfrm>
          <a:prstGeom prst="line">
            <a:avLst/>
          </a:prstGeom>
          <a:ln w="9525" cap="flat">
            <a:solidFill>
              <a:srgbClr val="333333">
                <a:alpha val="49804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Freeform 26"/>
          <p:cNvSpPr/>
          <p:nvPr/>
        </p:nvSpPr>
        <p:spPr>
          <a:xfrm>
            <a:off x="13651372" y="4229100"/>
            <a:ext cx="1353356" cy="1353356"/>
          </a:xfrm>
          <a:custGeom>
            <a:avLst/>
            <a:gdLst/>
            <a:ahLst/>
            <a:cxnLst/>
            <a:rect l="l" t="t" r="r" b="b"/>
            <a:pathLst>
              <a:path w="1353356" h="1353356">
                <a:moveTo>
                  <a:pt x="0" y="0"/>
                </a:moveTo>
                <a:lnTo>
                  <a:pt x="1353356" y="0"/>
                </a:lnTo>
                <a:lnTo>
                  <a:pt x="1353356" y="1353356"/>
                </a:lnTo>
                <a:lnTo>
                  <a:pt x="0" y="13533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8244167" y="4229100"/>
            <a:ext cx="1813542" cy="1353356"/>
          </a:xfrm>
          <a:custGeom>
            <a:avLst/>
            <a:gdLst/>
            <a:ahLst/>
            <a:cxnLst/>
            <a:rect l="l" t="t" r="r" b="b"/>
            <a:pathLst>
              <a:path w="1813542" h="1353356">
                <a:moveTo>
                  <a:pt x="0" y="0"/>
                </a:moveTo>
                <a:lnTo>
                  <a:pt x="1813542" y="0"/>
                </a:lnTo>
                <a:lnTo>
                  <a:pt x="1813542" y="1353356"/>
                </a:lnTo>
                <a:lnTo>
                  <a:pt x="0" y="135335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28" name="Group 18">
            <a:extLst>
              <a:ext uri="{FF2B5EF4-FFF2-40B4-BE49-F238E27FC236}">
                <a16:creationId xmlns:a16="http://schemas.microsoft.com/office/drawing/2014/main" id="{E808B3DD-C577-4EF0-AB46-3FC8CE29EB9B}"/>
              </a:ext>
            </a:extLst>
          </p:cNvPr>
          <p:cNvGrpSpPr/>
          <p:nvPr/>
        </p:nvGrpSpPr>
        <p:grpSpPr>
          <a:xfrm>
            <a:off x="1742004" y="2705100"/>
            <a:ext cx="14803992" cy="1071160"/>
            <a:chOff x="0" y="0"/>
            <a:chExt cx="3898994" cy="318313"/>
          </a:xfrm>
        </p:grpSpPr>
        <p:sp>
          <p:nvSpPr>
            <p:cNvPr id="29" name="Freeform 19">
              <a:extLst>
                <a:ext uri="{FF2B5EF4-FFF2-40B4-BE49-F238E27FC236}">
                  <a16:creationId xmlns:a16="http://schemas.microsoft.com/office/drawing/2014/main" id="{AFAFF816-BFA8-48DE-8613-A848B5037C45}"/>
                </a:ext>
              </a:extLst>
            </p:cNvPr>
            <p:cNvSpPr/>
            <p:nvPr/>
          </p:nvSpPr>
          <p:spPr>
            <a:xfrm>
              <a:off x="0" y="0"/>
              <a:ext cx="3898994" cy="318313"/>
            </a:xfrm>
            <a:custGeom>
              <a:avLst/>
              <a:gdLst/>
              <a:ahLst/>
              <a:cxnLst/>
              <a:rect l="l" t="t" r="r" b="b"/>
              <a:pathLst>
                <a:path w="3898994" h="318313">
                  <a:moveTo>
                    <a:pt x="5753" y="0"/>
                  </a:moveTo>
                  <a:lnTo>
                    <a:pt x="3893241" y="0"/>
                  </a:lnTo>
                  <a:cubicBezTo>
                    <a:pt x="3896418" y="0"/>
                    <a:pt x="3898994" y="2576"/>
                    <a:pt x="3898994" y="5753"/>
                  </a:cubicBezTo>
                  <a:lnTo>
                    <a:pt x="3898994" y="312561"/>
                  </a:lnTo>
                  <a:cubicBezTo>
                    <a:pt x="3898994" y="314086"/>
                    <a:pt x="3898388" y="315549"/>
                    <a:pt x="3897309" y="316628"/>
                  </a:cubicBezTo>
                  <a:cubicBezTo>
                    <a:pt x="3896230" y="317707"/>
                    <a:pt x="3894767" y="318313"/>
                    <a:pt x="3893241" y="318313"/>
                  </a:cubicBezTo>
                  <a:lnTo>
                    <a:pt x="5753" y="318313"/>
                  </a:lnTo>
                  <a:cubicBezTo>
                    <a:pt x="4227" y="318313"/>
                    <a:pt x="2764" y="317707"/>
                    <a:pt x="1685" y="316628"/>
                  </a:cubicBezTo>
                  <a:cubicBezTo>
                    <a:pt x="606" y="315549"/>
                    <a:pt x="0" y="314086"/>
                    <a:pt x="0" y="312561"/>
                  </a:cubicBezTo>
                  <a:lnTo>
                    <a:pt x="0" y="5753"/>
                  </a:lnTo>
                  <a:cubicBezTo>
                    <a:pt x="0" y="4227"/>
                    <a:pt x="606" y="2764"/>
                    <a:pt x="1685" y="1685"/>
                  </a:cubicBezTo>
                  <a:cubicBezTo>
                    <a:pt x="2764" y="606"/>
                    <a:pt x="4227" y="0"/>
                    <a:pt x="5753" y="0"/>
                  </a:cubicBezTo>
                  <a:close/>
                </a:path>
              </a:pathLst>
            </a:custGeom>
            <a:solidFill>
              <a:srgbClr val="F3F3F3"/>
            </a:solidFill>
            <a:ln w="28575" cap="sq">
              <a:solidFill>
                <a:srgbClr val="333333"/>
              </a:solidFill>
              <a:prstDash val="solid"/>
              <a:miter/>
            </a:ln>
          </p:spPr>
        </p:sp>
        <p:sp>
          <p:nvSpPr>
            <p:cNvPr id="30" name="TextBox 20">
              <a:extLst>
                <a:ext uri="{FF2B5EF4-FFF2-40B4-BE49-F238E27FC236}">
                  <a16:creationId xmlns:a16="http://schemas.microsoft.com/office/drawing/2014/main" id="{64546FF5-73E2-40BE-9E89-017DE17A83B7}"/>
                </a:ext>
              </a:extLst>
            </p:cNvPr>
            <p:cNvSpPr txBox="1"/>
            <p:nvPr/>
          </p:nvSpPr>
          <p:spPr>
            <a:xfrm>
              <a:off x="0" y="-57150"/>
              <a:ext cx="3898994" cy="3754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66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1" name="TextBox 27">
            <a:extLst>
              <a:ext uri="{FF2B5EF4-FFF2-40B4-BE49-F238E27FC236}">
                <a16:creationId xmlns:a16="http://schemas.microsoft.com/office/drawing/2014/main" id="{30FD6B56-9538-49A5-9D02-749E3BB850E4}"/>
              </a:ext>
            </a:extLst>
          </p:cNvPr>
          <p:cNvSpPr txBox="1"/>
          <p:nvPr/>
        </p:nvSpPr>
        <p:spPr>
          <a:xfrm>
            <a:off x="2332865" y="2967292"/>
            <a:ext cx="14304467" cy="5091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507"/>
              </a:lnSpc>
              <a:spcBef>
                <a:spcPct val="0"/>
              </a:spcBef>
            </a:pPr>
            <a:r>
              <a:rPr lang="ko-KR" altLang="en-US" sz="2799" b="1" spc="-97" dirty="0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우리사주는 단기 수익을 보장하는 금융상품이 아니라</a:t>
            </a:r>
            <a:r>
              <a:rPr lang="en-US" altLang="ko-KR" sz="2799" b="1" spc="-97" dirty="0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, </a:t>
            </a:r>
            <a:r>
              <a:rPr lang="ko-KR" altLang="en-US" sz="2799" b="1" spc="-97" dirty="0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근로자가 자발적 참여를 전제로 한 제도입니다</a:t>
            </a:r>
            <a:r>
              <a:rPr lang="en-US" altLang="ko-KR" sz="2799" b="1" spc="-97" dirty="0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.</a:t>
            </a:r>
            <a:endParaRPr lang="en-US" sz="2799" b="1" u="none" strike="noStrike" spc="-97" dirty="0">
              <a:solidFill>
                <a:srgbClr val="333333"/>
              </a:solidFill>
              <a:latin typeface="JASO Sans Bold"/>
              <a:ea typeface="JASO Sans Bold"/>
              <a:cs typeface="JASO Sans Bold"/>
              <a:sym typeface="JASO Sans Bold"/>
            </a:endParaRPr>
          </a:p>
        </p:txBody>
      </p:sp>
      <p:sp>
        <p:nvSpPr>
          <p:cNvPr id="32" name="Freeform 30">
            <a:extLst>
              <a:ext uri="{FF2B5EF4-FFF2-40B4-BE49-F238E27FC236}">
                <a16:creationId xmlns:a16="http://schemas.microsoft.com/office/drawing/2014/main" id="{D640F9A4-6336-4870-A8B7-A5CA2EF0681F}"/>
              </a:ext>
            </a:extLst>
          </p:cNvPr>
          <p:cNvSpPr/>
          <p:nvPr/>
        </p:nvSpPr>
        <p:spPr>
          <a:xfrm>
            <a:off x="1981200" y="3219527"/>
            <a:ext cx="170988" cy="130378"/>
          </a:xfrm>
          <a:custGeom>
            <a:avLst/>
            <a:gdLst/>
            <a:ahLst/>
            <a:cxnLst/>
            <a:rect l="l" t="t" r="r" b="b"/>
            <a:pathLst>
              <a:path w="170988" h="130378">
                <a:moveTo>
                  <a:pt x="0" y="0"/>
                </a:moveTo>
                <a:lnTo>
                  <a:pt x="170988" y="0"/>
                </a:lnTo>
                <a:lnTo>
                  <a:pt x="170988" y="130378"/>
                </a:lnTo>
                <a:lnTo>
                  <a:pt x="0" y="13037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14924" y="513776"/>
            <a:ext cx="17258151" cy="9391650"/>
            <a:chOff x="0" y="0"/>
            <a:chExt cx="23010868" cy="125222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77800"/>
              <a:ext cx="23010868" cy="12344400"/>
              <a:chOff x="0" y="0"/>
              <a:chExt cx="4545357" cy="24384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545357" cy="2438400"/>
              </a:xfrm>
              <a:custGeom>
                <a:avLst/>
                <a:gdLst/>
                <a:ahLst/>
                <a:cxnLst/>
                <a:rect l="l" t="t" r="r" b="b"/>
                <a:pathLst>
                  <a:path w="4545357" h="2438400">
                    <a:moveTo>
                      <a:pt x="17944" y="0"/>
                    </a:moveTo>
                    <a:lnTo>
                      <a:pt x="4527413" y="0"/>
                    </a:lnTo>
                    <a:cubicBezTo>
                      <a:pt x="4537323" y="0"/>
                      <a:pt x="4545357" y="8034"/>
                      <a:pt x="4545357" y="17944"/>
                    </a:cubicBezTo>
                    <a:lnTo>
                      <a:pt x="4545357" y="2420456"/>
                    </a:lnTo>
                    <a:cubicBezTo>
                      <a:pt x="4545357" y="2430366"/>
                      <a:pt x="4537323" y="2438400"/>
                      <a:pt x="4527413" y="2438400"/>
                    </a:cubicBezTo>
                    <a:lnTo>
                      <a:pt x="17944" y="2438400"/>
                    </a:lnTo>
                    <a:cubicBezTo>
                      <a:pt x="8034" y="2438400"/>
                      <a:pt x="0" y="2430366"/>
                      <a:pt x="0" y="2420456"/>
                    </a:cubicBezTo>
                    <a:lnTo>
                      <a:pt x="0" y="17944"/>
                    </a:lnTo>
                    <a:cubicBezTo>
                      <a:pt x="0" y="8034"/>
                      <a:pt x="8034" y="0"/>
                      <a:pt x="17944" y="0"/>
                    </a:cubicBezTo>
                    <a:close/>
                  </a:path>
                </a:pathLst>
              </a:custGeom>
              <a:solidFill>
                <a:srgbClr val="E5E5E5"/>
              </a:solidFill>
              <a:ln w="38100" cap="rnd">
                <a:solidFill>
                  <a:srgbClr val="333333"/>
                </a:solidFill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76200"/>
                <a:ext cx="4545357" cy="2514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8"/>
                  </a:lnSpc>
                </a:pPr>
                <a:r>
                  <a:rPr lang="en-US" sz="2200" spc="-90">
                    <a:solidFill>
                      <a:srgbClr val="FFFFFF"/>
                    </a:solidFill>
                    <a:latin typeface="JASO Sans"/>
                    <a:ea typeface="JASO Sans"/>
                    <a:cs typeface="JASO Sans"/>
                    <a:sym typeface="JASO Sans"/>
                  </a:rPr>
                  <a:t>ㄲㄲ</a:t>
                </a:r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23010868" cy="12344400"/>
              <a:chOff x="0" y="0"/>
              <a:chExt cx="4545357" cy="24384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545357" cy="2438400"/>
              </a:xfrm>
              <a:custGeom>
                <a:avLst/>
                <a:gdLst/>
                <a:ahLst/>
                <a:cxnLst/>
                <a:rect l="l" t="t" r="r" b="b"/>
                <a:pathLst>
                  <a:path w="4545357" h="2438400">
                    <a:moveTo>
                      <a:pt x="14804" y="0"/>
                    </a:moveTo>
                    <a:lnTo>
                      <a:pt x="4530553" y="0"/>
                    </a:lnTo>
                    <a:cubicBezTo>
                      <a:pt x="4534479" y="0"/>
                      <a:pt x="4538245" y="1560"/>
                      <a:pt x="4541021" y="4336"/>
                    </a:cubicBezTo>
                    <a:cubicBezTo>
                      <a:pt x="4543797" y="7112"/>
                      <a:pt x="4545357" y="10877"/>
                      <a:pt x="4545357" y="14804"/>
                    </a:cubicBezTo>
                    <a:lnTo>
                      <a:pt x="4545357" y="2423596"/>
                    </a:lnTo>
                    <a:cubicBezTo>
                      <a:pt x="4545357" y="2431772"/>
                      <a:pt x="4538729" y="2438400"/>
                      <a:pt x="4530553" y="2438400"/>
                    </a:cubicBezTo>
                    <a:lnTo>
                      <a:pt x="14804" y="2438400"/>
                    </a:lnTo>
                    <a:cubicBezTo>
                      <a:pt x="10877" y="2438400"/>
                      <a:pt x="7112" y="2436840"/>
                      <a:pt x="4336" y="2434064"/>
                    </a:cubicBezTo>
                    <a:cubicBezTo>
                      <a:pt x="1560" y="2431288"/>
                      <a:pt x="0" y="2427523"/>
                      <a:pt x="0" y="2423596"/>
                    </a:cubicBezTo>
                    <a:lnTo>
                      <a:pt x="0" y="14804"/>
                    </a:lnTo>
                    <a:cubicBezTo>
                      <a:pt x="0" y="10877"/>
                      <a:pt x="1560" y="7112"/>
                      <a:pt x="4336" y="4336"/>
                    </a:cubicBezTo>
                    <a:cubicBezTo>
                      <a:pt x="7112" y="1560"/>
                      <a:pt x="10877" y="0"/>
                      <a:pt x="1480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333333"/>
                </a:solidFill>
                <a:prstDash val="solid"/>
                <a:round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76200"/>
                <a:ext cx="4545357" cy="2514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8"/>
                  </a:lnSpc>
                </a:pPr>
                <a:r>
                  <a:rPr lang="en-US" sz="2200" spc="-90">
                    <a:solidFill>
                      <a:srgbClr val="FFFFFF"/>
                    </a:solidFill>
                    <a:latin typeface="JASO Sans"/>
                    <a:ea typeface="JASO Sans"/>
                    <a:cs typeface="JASO Sans"/>
                    <a:sym typeface="JASO Sans"/>
                  </a:rPr>
                  <a:t>ㄲㄲ</a:t>
                </a:r>
              </a:p>
            </p:txBody>
          </p:sp>
        </p:grpSp>
      </p:grpSp>
      <p:sp>
        <p:nvSpPr>
          <p:cNvPr id="9" name="Freeform 9"/>
          <p:cNvSpPr/>
          <p:nvPr/>
        </p:nvSpPr>
        <p:spPr>
          <a:xfrm rot="-5400000">
            <a:off x="17104554" y="827085"/>
            <a:ext cx="90727" cy="403229"/>
          </a:xfrm>
          <a:custGeom>
            <a:avLst/>
            <a:gdLst/>
            <a:ahLst/>
            <a:cxnLst/>
            <a:rect l="l" t="t" r="r" b="b"/>
            <a:pathLst>
              <a:path w="90727" h="403229">
                <a:moveTo>
                  <a:pt x="0" y="0"/>
                </a:moveTo>
                <a:lnTo>
                  <a:pt x="90726" y="0"/>
                </a:lnTo>
                <a:lnTo>
                  <a:pt x="90726" y="403230"/>
                </a:lnTo>
                <a:lnTo>
                  <a:pt x="0" y="4032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10" name="Group 10"/>
          <p:cNvGrpSpPr/>
          <p:nvPr/>
        </p:nvGrpSpPr>
        <p:grpSpPr>
          <a:xfrm>
            <a:off x="1339871" y="1267781"/>
            <a:ext cx="710270" cy="712421"/>
            <a:chOff x="0" y="0"/>
            <a:chExt cx="187067" cy="18763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87067" cy="187633"/>
            </a:xfrm>
            <a:custGeom>
              <a:avLst/>
              <a:gdLst/>
              <a:ahLst/>
              <a:cxnLst/>
              <a:rect l="l" t="t" r="r" b="b"/>
              <a:pathLst>
                <a:path w="187067" h="187633">
                  <a:moveTo>
                    <a:pt x="93533" y="0"/>
                  </a:moveTo>
                  <a:lnTo>
                    <a:pt x="93533" y="0"/>
                  </a:lnTo>
                  <a:cubicBezTo>
                    <a:pt x="145191" y="0"/>
                    <a:pt x="187067" y="41876"/>
                    <a:pt x="187067" y="93533"/>
                  </a:cubicBezTo>
                  <a:lnTo>
                    <a:pt x="187067" y="94100"/>
                  </a:lnTo>
                  <a:cubicBezTo>
                    <a:pt x="187067" y="118907"/>
                    <a:pt x="177213" y="142697"/>
                    <a:pt x="159672" y="160238"/>
                  </a:cubicBezTo>
                  <a:cubicBezTo>
                    <a:pt x="142131" y="177779"/>
                    <a:pt x="118340" y="187633"/>
                    <a:pt x="93533" y="187633"/>
                  </a:cubicBezTo>
                  <a:lnTo>
                    <a:pt x="93533" y="187633"/>
                  </a:lnTo>
                  <a:cubicBezTo>
                    <a:pt x="41876" y="187633"/>
                    <a:pt x="0" y="145757"/>
                    <a:pt x="0" y="94100"/>
                  </a:cubicBezTo>
                  <a:lnTo>
                    <a:pt x="0" y="93533"/>
                  </a:lnTo>
                  <a:cubicBezTo>
                    <a:pt x="0" y="68727"/>
                    <a:pt x="9854" y="44936"/>
                    <a:pt x="27395" y="27395"/>
                  </a:cubicBezTo>
                  <a:cubicBezTo>
                    <a:pt x="44936" y="9854"/>
                    <a:pt x="68727" y="0"/>
                    <a:pt x="93533" y="0"/>
                  </a:cubicBezTo>
                  <a:close/>
                </a:path>
              </a:pathLst>
            </a:custGeom>
            <a:solidFill>
              <a:srgbClr val="8DDAC8"/>
            </a:solidFill>
            <a:ln w="28575" cap="sq">
              <a:solidFill>
                <a:srgbClr val="333333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187067" cy="2447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66"/>
                </a:lnSpc>
              </a:pPr>
              <a:endParaRPr/>
            </a:p>
          </p:txBody>
        </p:sp>
      </p:grpSp>
      <p:sp>
        <p:nvSpPr>
          <p:cNvPr id="13" name="AutoShape 13"/>
          <p:cNvSpPr/>
          <p:nvPr/>
        </p:nvSpPr>
        <p:spPr>
          <a:xfrm flipV="1">
            <a:off x="1339698" y="2443184"/>
            <a:ext cx="15608605" cy="0"/>
          </a:xfrm>
          <a:prstGeom prst="line">
            <a:avLst/>
          </a:prstGeom>
          <a:ln w="19050" cap="flat">
            <a:solidFill>
              <a:srgbClr val="33333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TextBox 14"/>
          <p:cNvSpPr txBox="1"/>
          <p:nvPr/>
        </p:nvSpPr>
        <p:spPr>
          <a:xfrm rot="-18144">
            <a:off x="2289393" y="1192192"/>
            <a:ext cx="9732485" cy="8315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6414"/>
              </a:lnSpc>
              <a:spcBef>
                <a:spcPct val="0"/>
              </a:spcBef>
            </a:pPr>
            <a:r>
              <a:rPr lang="en-US" sz="5676" spc="-283" dirty="0" err="1">
                <a:solidFill>
                  <a:srgbClr val="33333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우리사주제도</a:t>
            </a:r>
            <a:r>
              <a:rPr lang="en-US" sz="5676" spc="-283" dirty="0">
                <a:solidFill>
                  <a:srgbClr val="33333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 </a:t>
            </a:r>
            <a:r>
              <a:rPr lang="ko-KR" altLang="en-US" sz="5676" spc="-283" dirty="0">
                <a:solidFill>
                  <a:srgbClr val="33333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개념</a:t>
            </a:r>
            <a:r>
              <a:rPr lang="en-US" altLang="ko-KR" sz="5676" spc="-283" dirty="0">
                <a:solidFill>
                  <a:srgbClr val="33333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(</a:t>
            </a:r>
            <a:r>
              <a:rPr lang="ko-KR" altLang="en-US" sz="5676" spc="-283" dirty="0">
                <a:solidFill>
                  <a:srgbClr val="33333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필요성</a:t>
            </a:r>
            <a:r>
              <a:rPr lang="en-US" altLang="ko-KR" sz="5676" spc="-283" dirty="0">
                <a:solidFill>
                  <a:srgbClr val="33333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)</a:t>
            </a:r>
            <a:endParaRPr lang="en-US" sz="5676" spc="-283" dirty="0">
              <a:solidFill>
                <a:srgbClr val="333333"/>
              </a:solidFill>
              <a:latin typeface="210 국민체조"/>
              <a:ea typeface="210 국민체조"/>
              <a:cs typeface="210 국민체조"/>
              <a:sym typeface="210 국민체조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173591" y="1414452"/>
            <a:ext cx="1042830" cy="3656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00"/>
              </a:lnSpc>
            </a:pPr>
            <a:r>
              <a:rPr lang="en-US" sz="2416" b="1" spc="-62" dirty="0">
                <a:solidFill>
                  <a:srgbClr val="33333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1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739955" y="3204177"/>
            <a:ext cx="7353346" cy="2691392"/>
            <a:chOff x="0" y="0"/>
            <a:chExt cx="533001" cy="19508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33001" cy="195083"/>
            </a:xfrm>
            <a:custGeom>
              <a:avLst/>
              <a:gdLst/>
              <a:ahLst/>
              <a:cxnLst/>
              <a:rect l="l" t="t" r="r" b="b"/>
              <a:pathLst>
                <a:path w="533001" h="195083">
                  <a:moveTo>
                    <a:pt x="11581" y="0"/>
                  </a:moveTo>
                  <a:lnTo>
                    <a:pt x="521420" y="0"/>
                  </a:lnTo>
                  <a:cubicBezTo>
                    <a:pt x="524491" y="0"/>
                    <a:pt x="527437" y="1220"/>
                    <a:pt x="529609" y="3392"/>
                  </a:cubicBezTo>
                  <a:cubicBezTo>
                    <a:pt x="531781" y="5564"/>
                    <a:pt x="533001" y="8510"/>
                    <a:pt x="533001" y="11581"/>
                  </a:cubicBezTo>
                  <a:lnTo>
                    <a:pt x="533001" y="183502"/>
                  </a:lnTo>
                  <a:cubicBezTo>
                    <a:pt x="533001" y="186574"/>
                    <a:pt x="531781" y="189519"/>
                    <a:pt x="529609" y="191691"/>
                  </a:cubicBezTo>
                  <a:cubicBezTo>
                    <a:pt x="527437" y="193863"/>
                    <a:pt x="524491" y="195083"/>
                    <a:pt x="521420" y="195083"/>
                  </a:cubicBezTo>
                  <a:lnTo>
                    <a:pt x="11581" y="195083"/>
                  </a:lnTo>
                  <a:cubicBezTo>
                    <a:pt x="5185" y="195083"/>
                    <a:pt x="0" y="189898"/>
                    <a:pt x="0" y="183502"/>
                  </a:cubicBezTo>
                  <a:lnTo>
                    <a:pt x="0" y="11581"/>
                  </a:lnTo>
                  <a:cubicBezTo>
                    <a:pt x="0" y="8510"/>
                    <a:pt x="1220" y="5564"/>
                    <a:pt x="3392" y="3392"/>
                  </a:cubicBezTo>
                  <a:cubicBezTo>
                    <a:pt x="5564" y="1220"/>
                    <a:pt x="8510" y="0"/>
                    <a:pt x="11581" y="0"/>
                  </a:cubicBezTo>
                  <a:close/>
                </a:path>
              </a:pathLst>
            </a:custGeom>
            <a:solidFill>
              <a:srgbClr val="F3F3F3"/>
            </a:solidFill>
            <a:ln w="28575" cap="sq">
              <a:solidFill>
                <a:srgbClr val="333333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57150"/>
              <a:ext cx="533001" cy="252233"/>
            </a:xfrm>
            <a:prstGeom prst="rect">
              <a:avLst/>
            </a:prstGeom>
          </p:spPr>
          <p:txBody>
            <a:bodyPr lIns="37850" tIns="37850" rIns="37850" bIns="37850" rtlCol="0" anchor="ctr"/>
            <a:lstStyle/>
            <a:p>
              <a:pPr marL="0" lvl="0" indent="0" algn="ctr">
                <a:lnSpc>
                  <a:spcPts val="3466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739955" y="5985976"/>
            <a:ext cx="7353346" cy="2691392"/>
            <a:chOff x="0" y="0"/>
            <a:chExt cx="533001" cy="195083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33001" cy="195083"/>
            </a:xfrm>
            <a:custGeom>
              <a:avLst/>
              <a:gdLst/>
              <a:ahLst/>
              <a:cxnLst/>
              <a:rect l="l" t="t" r="r" b="b"/>
              <a:pathLst>
                <a:path w="533001" h="195083">
                  <a:moveTo>
                    <a:pt x="11581" y="0"/>
                  </a:moveTo>
                  <a:lnTo>
                    <a:pt x="521420" y="0"/>
                  </a:lnTo>
                  <a:cubicBezTo>
                    <a:pt x="524491" y="0"/>
                    <a:pt x="527437" y="1220"/>
                    <a:pt x="529609" y="3392"/>
                  </a:cubicBezTo>
                  <a:cubicBezTo>
                    <a:pt x="531781" y="5564"/>
                    <a:pt x="533001" y="8510"/>
                    <a:pt x="533001" y="11581"/>
                  </a:cubicBezTo>
                  <a:lnTo>
                    <a:pt x="533001" y="183502"/>
                  </a:lnTo>
                  <a:cubicBezTo>
                    <a:pt x="533001" y="186574"/>
                    <a:pt x="531781" y="189519"/>
                    <a:pt x="529609" y="191691"/>
                  </a:cubicBezTo>
                  <a:cubicBezTo>
                    <a:pt x="527437" y="193863"/>
                    <a:pt x="524491" y="195083"/>
                    <a:pt x="521420" y="195083"/>
                  </a:cubicBezTo>
                  <a:lnTo>
                    <a:pt x="11581" y="195083"/>
                  </a:lnTo>
                  <a:cubicBezTo>
                    <a:pt x="5185" y="195083"/>
                    <a:pt x="0" y="189898"/>
                    <a:pt x="0" y="183502"/>
                  </a:cubicBezTo>
                  <a:lnTo>
                    <a:pt x="0" y="11581"/>
                  </a:lnTo>
                  <a:cubicBezTo>
                    <a:pt x="0" y="8510"/>
                    <a:pt x="1220" y="5564"/>
                    <a:pt x="3392" y="3392"/>
                  </a:cubicBezTo>
                  <a:cubicBezTo>
                    <a:pt x="5564" y="1220"/>
                    <a:pt x="8510" y="0"/>
                    <a:pt x="11581" y="0"/>
                  </a:cubicBezTo>
                  <a:close/>
                </a:path>
              </a:pathLst>
            </a:custGeom>
            <a:solidFill>
              <a:srgbClr val="F3F3F3"/>
            </a:solidFill>
            <a:ln w="28575" cap="sq">
              <a:solidFill>
                <a:srgbClr val="333333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-57150"/>
              <a:ext cx="533001" cy="252233"/>
            </a:xfrm>
            <a:prstGeom prst="rect">
              <a:avLst/>
            </a:prstGeom>
          </p:spPr>
          <p:txBody>
            <a:bodyPr lIns="37850" tIns="37850" rIns="37850" bIns="37850" rtlCol="0" anchor="ctr"/>
            <a:lstStyle/>
            <a:p>
              <a:pPr marL="0" lvl="0" indent="0" algn="ctr">
                <a:lnSpc>
                  <a:spcPts val="3466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201087" y="3204177"/>
            <a:ext cx="7353346" cy="2691392"/>
            <a:chOff x="0" y="0"/>
            <a:chExt cx="533001" cy="195083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533001" cy="195083"/>
            </a:xfrm>
            <a:custGeom>
              <a:avLst/>
              <a:gdLst/>
              <a:ahLst/>
              <a:cxnLst/>
              <a:rect l="l" t="t" r="r" b="b"/>
              <a:pathLst>
                <a:path w="533001" h="195083">
                  <a:moveTo>
                    <a:pt x="11581" y="0"/>
                  </a:moveTo>
                  <a:lnTo>
                    <a:pt x="521420" y="0"/>
                  </a:lnTo>
                  <a:cubicBezTo>
                    <a:pt x="524491" y="0"/>
                    <a:pt x="527437" y="1220"/>
                    <a:pt x="529609" y="3392"/>
                  </a:cubicBezTo>
                  <a:cubicBezTo>
                    <a:pt x="531781" y="5564"/>
                    <a:pt x="533001" y="8510"/>
                    <a:pt x="533001" y="11581"/>
                  </a:cubicBezTo>
                  <a:lnTo>
                    <a:pt x="533001" y="183502"/>
                  </a:lnTo>
                  <a:cubicBezTo>
                    <a:pt x="533001" y="186574"/>
                    <a:pt x="531781" y="189519"/>
                    <a:pt x="529609" y="191691"/>
                  </a:cubicBezTo>
                  <a:cubicBezTo>
                    <a:pt x="527437" y="193863"/>
                    <a:pt x="524491" y="195083"/>
                    <a:pt x="521420" y="195083"/>
                  </a:cubicBezTo>
                  <a:lnTo>
                    <a:pt x="11581" y="195083"/>
                  </a:lnTo>
                  <a:cubicBezTo>
                    <a:pt x="5185" y="195083"/>
                    <a:pt x="0" y="189898"/>
                    <a:pt x="0" y="183502"/>
                  </a:cubicBezTo>
                  <a:lnTo>
                    <a:pt x="0" y="11581"/>
                  </a:lnTo>
                  <a:cubicBezTo>
                    <a:pt x="0" y="8510"/>
                    <a:pt x="1220" y="5564"/>
                    <a:pt x="3392" y="3392"/>
                  </a:cubicBezTo>
                  <a:cubicBezTo>
                    <a:pt x="5564" y="1220"/>
                    <a:pt x="8510" y="0"/>
                    <a:pt x="11581" y="0"/>
                  </a:cubicBezTo>
                  <a:close/>
                </a:path>
              </a:pathLst>
            </a:custGeom>
            <a:solidFill>
              <a:srgbClr val="F3F3F3"/>
            </a:solidFill>
            <a:ln w="28575" cap="sq">
              <a:solidFill>
                <a:srgbClr val="333333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0" y="-57150"/>
              <a:ext cx="533001" cy="252233"/>
            </a:xfrm>
            <a:prstGeom prst="rect">
              <a:avLst/>
            </a:prstGeom>
          </p:spPr>
          <p:txBody>
            <a:bodyPr lIns="37850" tIns="37850" rIns="37850" bIns="37850" rtlCol="0" anchor="ctr"/>
            <a:lstStyle/>
            <a:p>
              <a:pPr marL="0" lvl="0" indent="0" algn="ctr">
                <a:lnSpc>
                  <a:spcPts val="3466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201087" y="5985976"/>
            <a:ext cx="7353346" cy="2691392"/>
            <a:chOff x="0" y="0"/>
            <a:chExt cx="533001" cy="195083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533001" cy="195083"/>
            </a:xfrm>
            <a:custGeom>
              <a:avLst/>
              <a:gdLst/>
              <a:ahLst/>
              <a:cxnLst/>
              <a:rect l="l" t="t" r="r" b="b"/>
              <a:pathLst>
                <a:path w="533001" h="195083">
                  <a:moveTo>
                    <a:pt x="11581" y="0"/>
                  </a:moveTo>
                  <a:lnTo>
                    <a:pt x="521420" y="0"/>
                  </a:lnTo>
                  <a:cubicBezTo>
                    <a:pt x="524491" y="0"/>
                    <a:pt x="527437" y="1220"/>
                    <a:pt x="529609" y="3392"/>
                  </a:cubicBezTo>
                  <a:cubicBezTo>
                    <a:pt x="531781" y="5564"/>
                    <a:pt x="533001" y="8510"/>
                    <a:pt x="533001" y="11581"/>
                  </a:cubicBezTo>
                  <a:lnTo>
                    <a:pt x="533001" y="183502"/>
                  </a:lnTo>
                  <a:cubicBezTo>
                    <a:pt x="533001" y="186574"/>
                    <a:pt x="531781" y="189519"/>
                    <a:pt x="529609" y="191691"/>
                  </a:cubicBezTo>
                  <a:cubicBezTo>
                    <a:pt x="527437" y="193863"/>
                    <a:pt x="524491" y="195083"/>
                    <a:pt x="521420" y="195083"/>
                  </a:cubicBezTo>
                  <a:lnTo>
                    <a:pt x="11581" y="195083"/>
                  </a:lnTo>
                  <a:cubicBezTo>
                    <a:pt x="5185" y="195083"/>
                    <a:pt x="0" y="189898"/>
                    <a:pt x="0" y="183502"/>
                  </a:cubicBezTo>
                  <a:lnTo>
                    <a:pt x="0" y="11581"/>
                  </a:lnTo>
                  <a:cubicBezTo>
                    <a:pt x="0" y="8510"/>
                    <a:pt x="1220" y="5564"/>
                    <a:pt x="3392" y="3392"/>
                  </a:cubicBezTo>
                  <a:cubicBezTo>
                    <a:pt x="5564" y="1220"/>
                    <a:pt x="8510" y="0"/>
                    <a:pt x="11581" y="0"/>
                  </a:cubicBezTo>
                  <a:close/>
                </a:path>
              </a:pathLst>
            </a:custGeom>
            <a:solidFill>
              <a:srgbClr val="F3F3F3"/>
            </a:solidFill>
            <a:ln w="28575" cap="sq">
              <a:solidFill>
                <a:srgbClr val="333333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0" y="-57150"/>
              <a:ext cx="533001" cy="252233"/>
            </a:xfrm>
            <a:prstGeom prst="rect">
              <a:avLst/>
            </a:prstGeom>
          </p:spPr>
          <p:txBody>
            <a:bodyPr lIns="37850" tIns="37850" rIns="37850" bIns="37850" rtlCol="0" anchor="ctr"/>
            <a:lstStyle/>
            <a:p>
              <a:pPr marL="0" lvl="0" indent="0" algn="ctr">
                <a:lnSpc>
                  <a:spcPts val="3466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2859951" y="3583484"/>
            <a:ext cx="4045246" cy="507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955"/>
              </a:lnSpc>
              <a:spcBef>
                <a:spcPct val="0"/>
              </a:spcBef>
            </a:pPr>
            <a:r>
              <a:rPr lang="en-US" sz="3500" spc="-175">
                <a:solidFill>
                  <a:srgbClr val="33333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근로자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859951" y="6365284"/>
            <a:ext cx="4045246" cy="507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955"/>
              </a:lnSpc>
              <a:spcBef>
                <a:spcPct val="0"/>
              </a:spcBef>
            </a:pPr>
            <a:r>
              <a:rPr lang="en-US" sz="3500" spc="-175">
                <a:solidFill>
                  <a:srgbClr val="33333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주주/투자자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321083" y="3583484"/>
            <a:ext cx="4045246" cy="507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955"/>
              </a:lnSpc>
              <a:spcBef>
                <a:spcPct val="0"/>
              </a:spcBef>
            </a:pPr>
            <a:r>
              <a:rPr lang="en-US" sz="3500" spc="-175">
                <a:solidFill>
                  <a:srgbClr val="33333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회사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321083" y="6365284"/>
            <a:ext cx="4045246" cy="507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955"/>
              </a:lnSpc>
              <a:spcBef>
                <a:spcPct val="0"/>
              </a:spcBef>
            </a:pPr>
            <a:r>
              <a:rPr lang="en-US" sz="3500" spc="-175">
                <a:solidFill>
                  <a:srgbClr val="33333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정부정책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381914" y="4560922"/>
            <a:ext cx="6175912" cy="876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9" lvl="1" indent="-237490" algn="l">
              <a:lnSpc>
                <a:spcPts val="3541"/>
              </a:lnSpc>
              <a:buFont typeface="Arial"/>
              <a:buChar char="•"/>
            </a:pPr>
            <a:r>
              <a:rPr lang="en-US" sz="2199" spc="-76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근로자 재산 형성의 기여하여 근로 의욕을 높임</a:t>
            </a:r>
          </a:p>
          <a:p>
            <a:pPr marL="474979" lvl="1" indent="-237490" algn="l">
              <a:lnSpc>
                <a:spcPts val="3541"/>
              </a:lnSpc>
              <a:buFont typeface="Arial"/>
              <a:buChar char="•"/>
            </a:pPr>
            <a:r>
              <a:rPr lang="en-US" sz="2199" spc="-76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고용 안정성 도모 및 기업 경영에 참여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381914" y="7342721"/>
            <a:ext cx="6175912" cy="876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9" lvl="1" indent="-237490" algn="l">
              <a:lnSpc>
                <a:spcPts val="3541"/>
              </a:lnSpc>
              <a:buFont typeface="Arial"/>
              <a:buChar char="•"/>
            </a:pPr>
            <a:r>
              <a:rPr lang="en-US" sz="2199" spc="-76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기업가치의 상승</a:t>
            </a:r>
          </a:p>
          <a:p>
            <a:pPr marL="474979" lvl="1" indent="-237490" algn="l">
              <a:lnSpc>
                <a:spcPts val="3541"/>
              </a:lnSpc>
              <a:buFont typeface="Arial"/>
              <a:buChar char="•"/>
            </a:pPr>
            <a:r>
              <a:rPr lang="en-US" sz="2199" spc="-76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주식 환금성 지원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843046" y="4560922"/>
            <a:ext cx="6175912" cy="876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9" lvl="1" indent="-237490" algn="l">
              <a:lnSpc>
                <a:spcPts val="3541"/>
              </a:lnSpc>
              <a:buFont typeface="Arial"/>
              <a:buChar char="•"/>
            </a:pPr>
            <a:r>
              <a:rPr lang="en-US" sz="2199" spc="-76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경영 성과의 제고 및 근로보상 탄력성 제공</a:t>
            </a:r>
          </a:p>
          <a:p>
            <a:pPr marL="474979" lvl="1" indent="-237490" algn="l">
              <a:lnSpc>
                <a:spcPts val="3541"/>
              </a:lnSpc>
              <a:buFont typeface="Arial"/>
              <a:buChar char="•"/>
            </a:pPr>
            <a:r>
              <a:rPr lang="en-US" sz="2199" spc="-76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노사 관계 증진 및 경영권 안정 도모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843046" y="7342721"/>
            <a:ext cx="6175912" cy="876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9" lvl="1" indent="-237490" algn="l">
              <a:lnSpc>
                <a:spcPts val="3541"/>
              </a:lnSpc>
              <a:buFont typeface="Arial"/>
              <a:buChar char="•"/>
            </a:pPr>
            <a:r>
              <a:rPr lang="en-US" sz="2199" spc="-76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생산적 복지 실현</a:t>
            </a:r>
          </a:p>
          <a:p>
            <a:pPr marL="474979" lvl="1" indent="-237490" algn="l">
              <a:lnSpc>
                <a:spcPts val="3541"/>
              </a:lnSpc>
              <a:buFont typeface="Arial"/>
              <a:buChar char="•"/>
            </a:pPr>
            <a:r>
              <a:rPr lang="en-US" sz="2199" spc="-76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협력적 노사관계 </a:t>
            </a:r>
          </a:p>
        </p:txBody>
      </p:sp>
      <p:sp>
        <p:nvSpPr>
          <p:cNvPr id="36" name="AutoShape 36"/>
          <p:cNvSpPr/>
          <p:nvPr/>
        </p:nvSpPr>
        <p:spPr>
          <a:xfrm>
            <a:off x="2157012" y="4356134"/>
            <a:ext cx="6711633" cy="0"/>
          </a:xfrm>
          <a:prstGeom prst="line">
            <a:avLst/>
          </a:prstGeom>
          <a:ln w="9525" cap="rnd">
            <a:solidFill>
              <a:srgbClr val="22222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7" name="AutoShape 37"/>
          <p:cNvSpPr/>
          <p:nvPr/>
        </p:nvSpPr>
        <p:spPr>
          <a:xfrm>
            <a:off x="2157012" y="7137934"/>
            <a:ext cx="6711633" cy="0"/>
          </a:xfrm>
          <a:prstGeom prst="line">
            <a:avLst/>
          </a:prstGeom>
          <a:ln w="9525" cap="rnd">
            <a:solidFill>
              <a:srgbClr val="22222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8" name="AutoShape 38"/>
          <p:cNvSpPr/>
          <p:nvPr/>
        </p:nvSpPr>
        <p:spPr>
          <a:xfrm>
            <a:off x="9618143" y="4356134"/>
            <a:ext cx="6711633" cy="0"/>
          </a:xfrm>
          <a:prstGeom prst="line">
            <a:avLst/>
          </a:prstGeom>
          <a:ln w="9525" cap="rnd">
            <a:solidFill>
              <a:srgbClr val="22222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9" name="AutoShape 39"/>
          <p:cNvSpPr/>
          <p:nvPr/>
        </p:nvSpPr>
        <p:spPr>
          <a:xfrm>
            <a:off x="9618143" y="7137934"/>
            <a:ext cx="6711633" cy="0"/>
          </a:xfrm>
          <a:prstGeom prst="line">
            <a:avLst/>
          </a:prstGeom>
          <a:ln w="9525" cap="rnd">
            <a:solidFill>
              <a:srgbClr val="222222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0" name="Group 40"/>
          <p:cNvGrpSpPr/>
          <p:nvPr/>
        </p:nvGrpSpPr>
        <p:grpSpPr>
          <a:xfrm>
            <a:off x="2317198" y="3624844"/>
            <a:ext cx="409905" cy="423145"/>
            <a:chOff x="0" y="0"/>
            <a:chExt cx="787368" cy="81280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787368" cy="812800"/>
            </a:xfrm>
            <a:custGeom>
              <a:avLst/>
              <a:gdLst/>
              <a:ahLst/>
              <a:cxnLst/>
              <a:rect l="l" t="t" r="r" b="b"/>
              <a:pathLst>
                <a:path w="787368" h="812800">
                  <a:moveTo>
                    <a:pt x="393684" y="0"/>
                  </a:moveTo>
                  <a:cubicBezTo>
                    <a:pt x="176258" y="0"/>
                    <a:pt x="0" y="181951"/>
                    <a:pt x="0" y="406400"/>
                  </a:cubicBezTo>
                  <a:cubicBezTo>
                    <a:pt x="0" y="630849"/>
                    <a:pt x="176258" y="812800"/>
                    <a:pt x="393684" y="812800"/>
                  </a:cubicBezTo>
                  <a:cubicBezTo>
                    <a:pt x="611109" y="812800"/>
                    <a:pt x="787368" y="630849"/>
                    <a:pt x="787368" y="406400"/>
                  </a:cubicBezTo>
                  <a:cubicBezTo>
                    <a:pt x="787368" y="181951"/>
                    <a:pt x="611109" y="0"/>
                    <a:pt x="393684" y="0"/>
                  </a:cubicBezTo>
                  <a:close/>
                </a:path>
              </a:pathLst>
            </a:custGeom>
            <a:solidFill>
              <a:srgbClr val="8DDAC8"/>
            </a:solidFill>
            <a:ln w="19050" cap="sq">
              <a:solidFill>
                <a:srgbClr val="222222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3816" y="19050"/>
              <a:ext cx="639736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66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2317198" y="6406644"/>
            <a:ext cx="409905" cy="423145"/>
            <a:chOff x="0" y="0"/>
            <a:chExt cx="787368" cy="81280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787368" cy="812800"/>
            </a:xfrm>
            <a:custGeom>
              <a:avLst/>
              <a:gdLst/>
              <a:ahLst/>
              <a:cxnLst/>
              <a:rect l="l" t="t" r="r" b="b"/>
              <a:pathLst>
                <a:path w="787368" h="812800">
                  <a:moveTo>
                    <a:pt x="393684" y="0"/>
                  </a:moveTo>
                  <a:cubicBezTo>
                    <a:pt x="176258" y="0"/>
                    <a:pt x="0" y="181951"/>
                    <a:pt x="0" y="406400"/>
                  </a:cubicBezTo>
                  <a:cubicBezTo>
                    <a:pt x="0" y="630849"/>
                    <a:pt x="176258" y="812800"/>
                    <a:pt x="393684" y="812800"/>
                  </a:cubicBezTo>
                  <a:cubicBezTo>
                    <a:pt x="611109" y="812800"/>
                    <a:pt x="787368" y="630849"/>
                    <a:pt x="787368" y="406400"/>
                  </a:cubicBezTo>
                  <a:cubicBezTo>
                    <a:pt x="787368" y="181951"/>
                    <a:pt x="611109" y="0"/>
                    <a:pt x="393684" y="0"/>
                  </a:cubicBezTo>
                  <a:close/>
                </a:path>
              </a:pathLst>
            </a:custGeom>
            <a:solidFill>
              <a:srgbClr val="8DDAC8"/>
            </a:solidFill>
            <a:ln w="19050" cap="sq">
              <a:solidFill>
                <a:srgbClr val="222222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3816" y="19050"/>
              <a:ext cx="639736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66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9778330" y="3624844"/>
            <a:ext cx="409905" cy="423145"/>
            <a:chOff x="0" y="0"/>
            <a:chExt cx="787368" cy="81280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787368" cy="812800"/>
            </a:xfrm>
            <a:custGeom>
              <a:avLst/>
              <a:gdLst/>
              <a:ahLst/>
              <a:cxnLst/>
              <a:rect l="l" t="t" r="r" b="b"/>
              <a:pathLst>
                <a:path w="787368" h="812800">
                  <a:moveTo>
                    <a:pt x="393684" y="0"/>
                  </a:moveTo>
                  <a:cubicBezTo>
                    <a:pt x="176258" y="0"/>
                    <a:pt x="0" y="181951"/>
                    <a:pt x="0" y="406400"/>
                  </a:cubicBezTo>
                  <a:cubicBezTo>
                    <a:pt x="0" y="630849"/>
                    <a:pt x="176258" y="812800"/>
                    <a:pt x="393684" y="812800"/>
                  </a:cubicBezTo>
                  <a:cubicBezTo>
                    <a:pt x="611109" y="812800"/>
                    <a:pt x="787368" y="630849"/>
                    <a:pt x="787368" y="406400"/>
                  </a:cubicBezTo>
                  <a:cubicBezTo>
                    <a:pt x="787368" y="181951"/>
                    <a:pt x="611109" y="0"/>
                    <a:pt x="393684" y="0"/>
                  </a:cubicBezTo>
                  <a:close/>
                </a:path>
              </a:pathLst>
            </a:custGeom>
            <a:solidFill>
              <a:srgbClr val="8DDAC8"/>
            </a:solidFill>
            <a:ln w="19050" cap="sq">
              <a:solidFill>
                <a:srgbClr val="222222"/>
              </a:solidFill>
              <a:prstDash val="solid"/>
              <a:miter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3816" y="19050"/>
              <a:ext cx="639736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66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9778330" y="6406644"/>
            <a:ext cx="409905" cy="423145"/>
            <a:chOff x="0" y="0"/>
            <a:chExt cx="787368" cy="81280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787368" cy="812800"/>
            </a:xfrm>
            <a:custGeom>
              <a:avLst/>
              <a:gdLst/>
              <a:ahLst/>
              <a:cxnLst/>
              <a:rect l="l" t="t" r="r" b="b"/>
              <a:pathLst>
                <a:path w="787368" h="812800">
                  <a:moveTo>
                    <a:pt x="393684" y="0"/>
                  </a:moveTo>
                  <a:cubicBezTo>
                    <a:pt x="176258" y="0"/>
                    <a:pt x="0" y="181951"/>
                    <a:pt x="0" y="406400"/>
                  </a:cubicBezTo>
                  <a:cubicBezTo>
                    <a:pt x="0" y="630849"/>
                    <a:pt x="176258" y="812800"/>
                    <a:pt x="393684" y="812800"/>
                  </a:cubicBezTo>
                  <a:cubicBezTo>
                    <a:pt x="611109" y="812800"/>
                    <a:pt x="787368" y="630849"/>
                    <a:pt x="787368" y="406400"/>
                  </a:cubicBezTo>
                  <a:cubicBezTo>
                    <a:pt x="787368" y="181951"/>
                    <a:pt x="611109" y="0"/>
                    <a:pt x="393684" y="0"/>
                  </a:cubicBezTo>
                  <a:close/>
                </a:path>
              </a:pathLst>
            </a:custGeom>
            <a:solidFill>
              <a:srgbClr val="8DDAC8"/>
            </a:solidFill>
            <a:ln w="19050" cap="sq">
              <a:solidFill>
                <a:srgbClr val="222222"/>
              </a:solidFill>
              <a:prstDash val="solid"/>
              <a:miter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3816" y="19050"/>
              <a:ext cx="639736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66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2" name="TextBox 52"/>
          <p:cNvSpPr txBox="1"/>
          <p:nvPr/>
        </p:nvSpPr>
        <p:spPr>
          <a:xfrm>
            <a:off x="2289928" y="3770136"/>
            <a:ext cx="464446" cy="185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70"/>
              </a:lnSpc>
            </a:pPr>
            <a:r>
              <a:rPr lang="en-US" sz="1530" b="1" spc="116">
                <a:solidFill>
                  <a:srgbClr val="222222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1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2289928" y="6551936"/>
            <a:ext cx="464446" cy="185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70"/>
              </a:lnSpc>
            </a:pPr>
            <a:r>
              <a:rPr lang="en-US" sz="1530" b="1" spc="116">
                <a:solidFill>
                  <a:srgbClr val="222222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3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9751060" y="3770136"/>
            <a:ext cx="464446" cy="185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70"/>
              </a:lnSpc>
            </a:pPr>
            <a:r>
              <a:rPr lang="en-US" sz="1530" b="1" spc="116">
                <a:solidFill>
                  <a:srgbClr val="222222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2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9751060" y="6551936"/>
            <a:ext cx="464446" cy="185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70"/>
              </a:lnSpc>
            </a:pPr>
            <a:r>
              <a:rPr lang="en-US" sz="1530" b="1" spc="116">
                <a:solidFill>
                  <a:srgbClr val="222222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14924" y="513776"/>
            <a:ext cx="17258151" cy="9391650"/>
            <a:chOff x="0" y="0"/>
            <a:chExt cx="23010868" cy="125222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77800"/>
              <a:ext cx="23010868" cy="12344400"/>
              <a:chOff x="0" y="0"/>
              <a:chExt cx="4545357" cy="24384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545357" cy="2438400"/>
              </a:xfrm>
              <a:custGeom>
                <a:avLst/>
                <a:gdLst/>
                <a:ahLst/>
                <a:cxnLst/>
                <a:rect l="l" t="t" r="r" b="b"/>
                <a:pathLst>
                  <a:path w="4545357" h="2438400">
                    <a:moveTo>
                      <a:pt x="17944" y="0"/>
                    </a:moveTo>
                    <a:lnTo>
                      <a:pt x="4527413" y="0"/>
                    </a:lnTo>
                    <a:cubicBezTo>
                      <a:pt x="4537323" y="0"/>
                      <a:pt x="4545357" y="8034"/>
                      <a:pt x="4545357" y="17944"/>
                    </a:cubicBezTo>
                    <a:lnTo>
                      <a:pt x="4545357" y="2420456"/>
                    </a:lnTo>
                    <a:cubicBezTo>
                      <a:pt x="4545357" y="2430366"/>
                      <a:pt x="4537323" y="2438400"/>
                      <a:pt x="4527413" y="2438400"/>
                    </a:cubicBezTo>
                    <a:lnTo>
                      <a:pt x="17944" y="2438400"/>
                    </a:lnTo>
                    <a:cubicBezTo>
                      <a:pt x="8034" y="2438400"/>
                      <a:pt x="0" y="2430366"/>
                      <a:pt x="0" y="2420456"/>
                    </a:cubicBezTo>
                    <a:lnTo>
                      <a:pt x="0" y="17944"/>
                    </a:lnTo>
                    <a:cubicBezTo>
                      <a:pt x="0" y="8034"/>
                      <a:pt x="8034" y="0"/>
                      <a:pt x="17944" y="0"/>
                    </a:cubicBezTo>
                    <a:close/>
                  </a:path>
                </a:pathLst>
              </a:custGeom>
              <a:solidFill>
                <a:srgbClr val="E5E5E5"/>
              </a:solidFill>
              <a:ln w="38100" cap="rnd">
                <a:solidFill>
                  <a:srgbClr val="333333"/>
                </a:solidFill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76200"/>
                <a:ext cx="4545357" cy="2514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8"/>
                  </a:lnSpc>
                </a:pPr>
                <a:r>
                  <a:rPr lang="en-US" sz="2200" spc="-90">
                    <a:solidFill>
                      <a:srgbClr val="FFFFFF"/>
                    </a:solidFill>
                    <a:latin typeface="JASO Sans"/>
                    <a:ea typeface="JASO Sans"/>
                    <a:cs typeface="JASO Sans"/>
                    <a:sym typeface="JASO Sans"/>
                  </a:rPr>
                  <a:t>ㄲㄲ</a:t>
                </a:r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23010868" cy="12344400"/>
              <a:chOff x="0" y="0"/>
              <a:chExt cx="4545357" cy="24384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545357" cy="2438400"/>
              </a:xfrm>
              <a:custGeom>
                <a:avLst/>
                <a:gdLst/>
                <a:ahLst/>
                <a:cxnLst/>
                <a:rect l="l" t="t" r="r" b="b"/>
                <a:pathLst>
                  <a:path w="4545357" h="2438400">
                    <a:moveTo>
                      <a:pt x="14804" y="0"/>
                    </a:moveTo>
                    <a:lnTo>
                      <a:pt x="4530553" y="0"/>
                    </a:lnTo>
                    <a:cubicBezTo>
                      <a:pt x="4534479" y="0"/>
                      <a:pt x="4538245" y="1560"/>
                      <a:pt x="4541021" y="4336"/>
                    </a:cubicBezTo>
                    <a:cubicBezTo>
                      <a:pt x="4543797" y="7112"/>
                      <a:pt x="4545357" y="10877"/>
                      <a:pt x="4545357" y="14804"/>
                    </a:cubicBezTo>
                    <a:lnTo>
                      <a:pt x="4545357" y="2423596"/>
                    </a:lnTo>
                    <a:cubicBezTo>
                      <a:pt x="4545357" y="2431772"/>
                      <a:pt x="4538729" y="2438400"/>
                      <a:pt x="4530553" y="2438400"/>
                    </a:cubicBezTo>
                    <a:lnTo>
                      <a:pt x="14804" y="2438400"/>
                    </a:lnTo>
                    <a:cubicBezTo>
                      <a:pt x="10877" y="2438400"/>
                      <a:pt x="7112" y="2436840"/>
                      <a:pt x="4336" y="2434064"/>
                    </a:cubicBezTo>
                    <a:cubicBezTo>
                      <a:pt x="1560" y="2431288"/>
                      <a:pt x="0" y="2427523"/>
                      <a:pt x="0" y="2423596"/>
                    </a:cubicBezTo>
                    <a:lnTo>
                      <a:pt x="0" y="14804"/>
                    </a:lnTo>
                    <a:cubicBezTo>
                      <a:pt x="0" y="10877"/>
                      <a:pt x="1560" y="7112"/>
                      <a:pt x="4336" y="4336"/>
                    </a:cubicBezTo>
                    <a:cubicBezTo>
                      <a:pt x="7112" y="1560"/>
                      <a:pt x="10877" y="0"/>
                      <a:pt x="1480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333333"/>
                </a:solidFill>
                <a:prstDash val="solid"/>
                <a:round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76200"/>
                <a:ext cx="4545357" cy="2514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8"/>
                  </a:lnSpc>
                </a:pPr>
                <a:r>
                  <a:rPr lang="en-US" sz="2200" spc="-90">
                    <a:solidFill>
                      <a:srgbClr val="FFFFFF"/>
                    </a:solidFill>
                    <a:latin typeface="JASO Sans"/>
                    <a:ea typeface="JASO Sans"/>
                    <a:cs typeface="JASO Sans"/>
                    <a:sym typeface="JASO Sans"/>
                  </a:rPr>
                  <a:t>ㄲㄲ</a:t>
                </a:r>
              </a:p>
            </p:txBody>
          </p:sp>
        </p:grpSp>
      </p:grpSp>
      <p:sp>
        <p:nvSpPr>
          <p:cNvPr id="9" name="Freeform 9"/>
          <p:cNvSpPr/>
          <p:nvPr/>
        </p:nvSpPr>
        <p:spPr>
          <a:xfrm rot="-5400000">
            <a:off x="17104554" y="827085"/>
            <a:ext cx="90727" cy="403229"/>
          </a:xfrm>
          <a:custGeom>
            <a:avLst/>
            <a:gdLst/>
            <a:ahLst/>
            <a:cxnLst/>
            <a:rect l="l" t="t" r="r" b="b"/>
            <a:pathLst>
              <a:path w="90727" h="403229">
                <a:moveTo>
                  <a:pt x="0" y="0"/>
                </a:moveTo>
                <a:lnTo>
                  <a:pt x="90726" y="0"/>
                </a:lnTo>
                <a:lnTo>
                  <a:pt x="90726" y="403230"/>
                </a:lnTo>
                <a:lnTo>
                  <a:pt x="0" y="4032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10" name="Group 10"/>
          <p:cNvGrpSpPr/>
          <p:nvPr/>
        </p:nvGrpSpPr>
        <p:grpSpPr>
          <a:xfrm>
            <a:off x="1339871" y="1050789"/>
            <a:ext cx="710270" cy="929413"/>
            <a:chOff x="0" y="-57150"/>
            <a:chExt cx="187067" cy="24478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87067" cy="187633"/>
            </a:xfrm>
            <a:custGeom>
              <a:avLst/>
              <a:gdLst/>
              <a:ahLst/>
              <a:cxnLst/>
              <a:rect l="l" t="t" r="r" b="b"/>
              <a:pathLst>
                <a:path w="187067" h="187633">
                  <a:moveTo>
                    <a:pt x="93533" y="0"/>
                  </a:moveTo>
                  <a:lnTo>
                    <a:pt x="93533" y="0"/>
                  </a:lnTo>
                  <a:cubicBezTo>
                    <a:pt x="145191" y="0"/>
                    <a:pt x="187067" y="41876"/>
                    <a:pt x="187067" y="93533"/>
                  </a:cubicBezTo>
                  <a:lnTo>
                    <a:pt x="187067" y="94100"/>
                  </a:lnTo>
                  <a:cubicBezTo>
                    <a:pt x="187067" y="118907"/>
                    <a:pt x="177213" y="142697"/>
                    <a:pt x="159672" y="160238"/>
                  </a:cubicBezTo>
                  <a:cubicBezTo>
                    <a:pt x="142131" y="177779"/>
                    <a:pt x="118340" y="187633"/>
                    <a:pt x="93533" y="187633"/>
                  </a:cubicBezTo>
                  <a:lnTo>
                    <a:pt x="93533" y="187633"/>
                  </a:lnTo>
                  <a:cubicBezTo>
                    <a:pt x="41876" y="187633"/>
                    <a:pt x="0" y="145757"/>
                    <a:pt x="0" y="94100"/>
                  </a:cubicBezTo>
                  <a:lnTo>
                    <a:pt x="0" y="93533"/>
                  </a:lnTo>
                  <a:cubicBezTo>
                    <a:pt x="0" y="68727"/>
                    <a:pt x="9854" y="44936"/>
                    <a:pt x="27395" y="27395"/>
                  </a:cubicBezTo>
                  <a:cubicBezTo>
                    <a:pt x="44936" y="9854"/>
                    <a:pt x="68727" y="0"/>
                    <a:pt x="93533" y="0"/>
                  </a:cubicBezTo>
                  <a:close/>
                </a:path>
              </a:pathLst>
            </a:custGeom>
            <a:solidFill>
              <a:srgbClr val="8DDAC8"/>
            </a:solidFill>
            <a:ln w="28575" cap="sq">
              <a:solidFill>
                <a:srgbClr val="333333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187067" cy="2447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66"/>
                </a:lnSpc>
              </a:pPr>
              <a:endParaRPr/>
            </a:p>
          </p:txBody>
        </p:sp>
      </p:grpSp>
      <p:sp>
        <p:nvSpPr>
          <p:cNvPr id="13" name="AutoShape 13"/>
          <p:cNvSpPr/>
          <p:nvPr/>
        </p:nvSpPr>
        <p:spPr>
          <a:xfrm flipV="1">
            <a:off x="1339698" y="2443184"/>
            <a:ext cx="15608605" cy="0"/>
          </a:xfrm>
          <a:prstGeom prst="line">
            <a:avLst/>
          </a:prstGeom>
          <a:ln w="19050" cap="flat">
            <a:solidFill>
              <a:srgbClr val="33333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TextBox 14"/>
          <p:cNvSpPr txBox="1"/>
          <p:nvPr/>
        </p:nvSpPr>
        <p:spPr>
          <a:xfrm rot="-18144">
            <a:off x="2289393" y="1192192"/>
            <a:ext cx="9732485" cy="8315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6414"/>
              </a:lnSpc>
              <a:spcBef>
                <a:spcPct val="0"/>
              </a:spcBef>
            </a:pPr>
            <a:r>
              <a:rPr lang="ko-KR" altLang="en-US" sz="5676" spc="-283" dirty="0" err="1">
                <a:solidFill>
                  <a:srgbClr val="33333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우리사주제도</a:t>
            </a:r>
            <a:r>
              <a:rPr lang="ko-KR" altLang="en-US" sz="5676" spc="-283" dirty="0">
                <a:solidFill>
                  <a:srgbClr val="33333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 개념</a:t>
            </a:r>
            <a:r>
              <a:rPr lang="en-US" altLang="ko-KR" sz="5676" spc="-283" dirty="0">
                <a:solidFill>
                  <a:srgbClr val="33333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(</a:t>
            </a:r>
            <a:r>
              <a:rPr lang="ko-KR" altLang="en-US" sz="5676" spc="-283" dirty="0">
                <a:solidFill>
                  <a:srgbClr val="33333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차이</a:t>
            </a:r>
            <a:r>
              <a:rPr lang="en-US" altLang="ko-KR" sz="5676" spc="-283" dirty="0">
                <a:solidFill>
                  <a:srgbClr val="33333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)</a:t>
            </a:r>
            <a:endParaRPr lang="en-US" sz="5676" spc="-283" dirty="0">
              <a:solidFill>
                <a:srgbClr val="333333"/>
              </a:solidFill>
              <a:latin typeface="210 국민체조"/>
              <a:ea typeface="210 국민체조"/>
              <a:cs typeface="210 국민체조"/>
              <a:sym typeface="210 국민체조"/>
            </a:endParaRPr>
          </a:p>
        </p:txBody>
      </p:sp>
      <p:graphicFrame>
        <p:nvGraphicFramePr>
          <p:cNvPr id="16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2796551"/>
              </p:ext>
            </p:extLst>
          </p:nvPr>
        </p:nvGraphicFramePr>
        <p:xfrm>
          <a:off x="1830665" y="4042504"/>
          <a:ext cx="14813743" cy="5021280"/>
        </p:xfrm>
        <a:graphic>
          <a:graphicData uri="http://schemas.openxmlformats.org/drawingml/2006/table">
            <a:tbl>
              <a:tblPr/>
              <a:tblGrid>
                <a:gridCol w="37164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86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486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36880">
                <a:tc>
                  <a:txBody>
                    <a:bodyPr/>
                    <a:lstStyle/>
                    <a:p>
                      <a:pPr algn="ctr">
                        <a:lnSpc>
                          <a:spcPts val="1365"/>
                        </a:lnSpc>
                        <a:defRPr/>
                      </a:pPr>
                      <a:r>
                        <a:rPr lang="en-US" sz="2731" spc="-136" dirty="0" err="1">
                          <a:solidFill>
                            <a:srgbClr val="222222"/>
                          </a:solidFill>
                          <a:latin typeface="210 국민체조"/>
                          <a:ea typeface="210 국민체조"/>
                          <a:cs typeface="210 국민체조"/>
                          <a:sym typeface="210 국민체조"/>
                        </a:rPr>
                        <a:t>구분</a:t>
                      </a:r>
                      <a:endParaRPr lang="en-US" sz="1100" dirty="0"/>
                    </a:p>
                  </a:txBody>
                  <a:tcPr marL="193111" marR="193111" marT="193111" marB="193111" anchor="ctr">
                    <a:lnL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65"/>
                        </a:lnSpc>
                        <a:defRPr/>
                      </a:pPr>
                      <a:r>
                        <a:rPr lang="en-US" sz="2731" spc="-136">
                          <a:solidFill>
                            <a:srgbClr val="222222"/>
                          </a:solidFill>
                          <a:latin typeface="210 국민체조"/>
                          <a:ea typeface="210 국민체조"/>
                          <a:cs typeface="210 국민체조"/>
                          <a:sym typeface="210 국민체조"/>
                        </a:rPr>
                        <a:t>개인 투자주식</a:t>
                      </a:r>
                      <a:endParaRPr lang="en-US" sz="1100"/>
                    </a:p>
                  </a:txBody>
                  <a:tcPr marL="193111" marR="193111" marT="193111" marB="193111" anchor="ctr">
                    <a:lnL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65"/>
                        </a:lnSpc>
                        <a:defRPr/>
                      </a:pPr>
                      <a:r>
                        <a:rPr lang="en-US" sz="2731" spc="-136">
                          <a:solidFill>
                            <a:srgbClr val="222222"/>
                          </a:solidFill>
                          <a:latin typeface="210 국민체조"/>
                          <a:ea typeface="210 국민체조"/>
                          <a:cs typeface="210 국민체조"/>
                          <a:sym typeface="210 국민체조"/>
                        </a:rPr>
                        <a:t>우리사주</a:t>
                      </a:r>
                      <a:endParaRPr lang="en-US" sz="1100"/>
                    </a:p>
                  </a:txBody>
                  <a:tcPr marL="193111" marR="193111" marT="193111" marB="193111" anchor="ctr">
                    <a:lnL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6880">
                <a:tc>
                  <a:txBody>
                    <a:bodyPr/>
                    <a:lstStyle/>
                    <a:p>
                      <a:pPr algn="ctr">
                        <a:lnSpc>
                          <a:spcPts val="963"/>
                        </a:lnSpc>
                        <a:defRPr/>
                      </a:pPr>
                      <a:r>
                        <a:rPr lang="en-US" sz="1926" b="1" dirty="0" err="1">
                          <a:solidFill>
                            <a:srgbClr val="222222"/>
                          </a:solidFill>
                          <a:latin typeface="JASO Sans Bold"/>
                          <a:ea typeface="JASO Sans Bold"/>
                          <a:cs typeface="JASO Sans Bold"/>
                          <a:sym typeface="JASO Sans Bold"/>
                        </a:rPr>
                        <a:t>투자</a:t>
                      </a:r>
                      <a:r>
                        <a:rPr lang="en-US" sz="1926" b="1" dirty="0">
                          <a:solidFill>
                            <a:srgbClr val="222222"/>
                          </a:solidFill>
                          <a:latin typeface="JASO Sans Bold"/>
                          <a:ea typeface="JASO Sans Bold"/>
                          <a:cs typeface="JASO Sans Bold"/>
                          <a:sym typeface="JASO Sans Bold"/>
                        </a:rPr>
                        <a:t> </a:t>
                      </a:r>
                      <a:r>
                        <a:rPr lang="en-US" sz="1926" b="1" dirty="0" err="1">
                          <a:solidFill>
                            <a:srgbClr val="222222"/>
                          </a:solidFill>
                          <a:latin typeface="JASO Sans Bold"/>
                          <a:ea typeface="JASO Sans Bold"/>
                          <a:cs typeface="JASO Sans Bold"/>
                          <a:sym typeface="JASO Sans Bold"/>
                        </a:rPr>
                        <a:t>주체</a:t>
                      </a:r>
                      <a:endParaRPr lang="en-US" sz="1100" dirty="0"/>
                    </a:p>
                  </a:txBody>
                  <a:tcPr marL="193111" marR="193111" marT="193111" marB="193111" anchor="ctr">
                    <a:lnL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63"/>
                        </a:lnSpc>
                        <a:defRPr/>
                      </a:pPr>
                      <a:r>
                        <a:rPr lang="en-US" sz="1926" dirty="0" err="1">
                          <a:solidFill>
                            <a:srgbClr val="222222"/>
                          </a:solidFill>
                          <a:latin typeface="JASO Sans"/>
                          <a:ea typeface="JASO Sans"/>
                          <a:cs typeface="JASO Sans"/>
                          <a:sym typeface="JASO Sans"/>
                        </a:rPr>
                        <a:t>개인</a:t>
                      </a:r>
                      <a:endParaRPr lang="en-US" sz="1100" dirty="0"/>
                    </a:p>
                  </a:txBody>
                  <a:tcPr marL="193111" marR="193111" marT="193111" marB="193111" anchor="ctr">
                    <a:lnL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63"/>
                        </a:lnSpc>
                        <a:defRPr/>
                      </a:pPr>
                      <a:r>
                        <a:rPr lang="en-US" sz="1926">
                          <a:solidFill>
                            <a:srgbClr val="222222"/>
                          </a:solidFill>
                          <a:latin typeface="JASO Sans"/>
                          <a:ea typeface="JASO Sans"/>
                          <a:cs typeface="JASO Sans"/>
                          <a:sym typeface="JASO Sans"/>
                        </a:rPr>
                        <a:t>조합(단체)</a:t>
                      </a:r>
                      <a:endParaRPr lang="en-US" sz="1100"/>
                    </a:p>
                  </a:txBody>
                  <a:tcPr marL="193111" marR="193111" marT="193111" marB="193111" anchor="ctr">
                    <a:lnL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6880">
                <a:tc>
                  <a:txBody>
                    <a:bodyPr/>
                    <a:lstStyle/>
                    <a:p>
                      <a:pPr algn="ctr">
                        <a:lnSpc>
                          <a:spcPts val="963"/>
                        </a:lnSpc>
                        <a:defRPr/>
                      </a:pPr>
                      <a:r>
                        <a:rPr lang="en-US" sz="1926" b="1">
                          <a:solidFill>
                            <a:srgbClr val="222222"/>
                          </a:solidFill>
                          <a:latin typeface="JASO Sans Bold"/>
                          <a:ea typeface="JASO Sans Bold"/>
                          <a:cs typeface="JASO Sans Bold"/>
                          <a:sym typeface="JASO Sans Bold"/>
                        </a:rPr>
                        <a:t>관리 방식</a:t>
                      </a:r>
                      <a:endParaRPr lang="en-US" sz="1100"/>
                    </a:p>
                  </a:txBody>
                  <a:tcPr marL="193111" marR="193111" marT="193111" marB="193111" anchor="ctr">
                    <a:lnL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63"/>
                        </a:lnSpc>
                        <a:defRPr/>
                      </a:pPr>
                      <a:r>
                        <a:rPr lang="en-US" sz="1926">
                          <a:solidFill>
                            <a:srgbClr val="222222"/>
                          </a:solidFill>
                          <a:latin typeface="JASO Sans"/>
                          <a:ea typeface="JASO Sans"/>
                          <a:cs typeface="JASO Sans"/>
                          <a:sym typeface="JASO Sans"/>
                        </a:rPr>
                        <a:t>개인이 직접 관리</a:t>
                      </a:r>
                      <a:endParaRPr lang="en-US" sz="1100"/>
                    </a:p>
                  </a:txBody>
                  <a:tcPr marL="193111" marR="193111" marT="193111" marB="193111" anchor="ctr">
                    <a:lnL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63"/>
                        </a:lnSpc>
                        <a:defRPr/>
                      </a:pPr>
                      <a:r>
                        <a:rPr lang="en-US" sz="1926">
                          <a:solidFill>
                            <a:srgbClr val="222222"/>
                          </a:solidFill>
                          <a:latin typeface="JASO Sans"/>
                          <a:ea typeface="JASO Sans"/>
                          <a:cs typeface="JASO Sans"/>
                          <a:sym typeface="JASO Sans"/>
                        </a:rPr>
                        <a:t>전문기관 예탁 관리</a:t>
                      </a:r>
                      <a:endParaRPr lang="en-US" sz="1100"/>
                    </a:p>
                  </a:txBody>
                  <a:tcPr marL="193111" marR="193111" marT="193111" marB="193111" anchor="ctr">
                    <a:lnL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6880">
                <a:tc>
                  <a:txBody>
                    <a:bodyPr/>
                    <a:lstStyle/>
                    <a:p>
                      <a:pPr algn="ctr">
                        <a:lnSpc>
                          <a:spcPts val="963"/>
                        </a:lnSpc>
                        <a:defRPr/>
                      </a:pPr>
                      <a:r>
                        <a:rPr lang="en-US" sz="1926" b="1">
                          <a:solidFill>
                            <a:srgbClr val="222222"/>
                          </a:solidFill>
                          <a:latin typeface="JASO Sans Bold"/>
                          <a:ea typeface="JASO Sans Bold"/>
                          <a:cs typeface="JASO Sans Bold"/>
                          <a:sym typeface="JASO Sans Bold"/>
                        </a:rPr>
                        <a:t>회사 참여</a:t>
                      </a:r>
                      <a:endParaRPr lang="en-US" sz="1100"/>
                    </a:p>
                  </a:txBody>
                  <a:tcPr marL="193111" marR="193111" marT="193111" marB="193111" anchor="ctr">
                    <a:lnL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63"/>
                        </a:lnSpc>
                        <a:defRPr/>
                      </a:pPr>
                      <a:r>
                        <a:rPr lang="en-US" sz="1926">
                          <a:solidFill>
                            <a:srgbClr val="222222"/>
                          </a:solidFill>
                          <a:latin typeface="JASO Sans"/>
                          <a:ea typeface="JASO Sans"/>
                          <a:cs typeface="JASO Sans"/>
                          <a:sym typeface="JASO Sans"/>
                        </a:rPr>
                        <a:t>없음</a:t>
                      </a:r>
                      <a:endParaRPr lang="en-US" sz="1100"/>
                    </a:p>
                  </a:txBody>
                  <a:tcPr marL="193111" marR="193111" marT="193111" marB="193111" anchor="ctr">
                    <a:lnL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63"/>
                        </a:lnSpc>
                        <a:defRPr/>
                      </a:pPr>
                      <a:r>
                        <a:rPr lang="en-US" sz="1926">
                          <a:solidFill>
                            <a:srgbClr val="222222"/>
                          </a:solidFill>
                          <a:latin typeface="JASO Sans"/>
                          <a:ea typeface="JASO Sans"/>
                          <a:cs typeface="JASO Sans"/>
                          <a:sym typeface="JASO Sans"/>
                        </a:rPr>
                        <a:t>회사 출연 가능</a:t>
                      </a:r>
                      <a:endParaRPr lang="en-US" sz="1100"/>
                    </a:p>
                  </a:txBody>
                  <a:tcPr marL="193111" marR="193111" marT="193111" marB="193111" anchor="ctr">
                    <a:lnL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6880">
                <a:tc>
                  <a:txBody>
                    <a:bodyPr/>
                    <a:lstStyle/>
                    <a:p>
                      <a:pPr algn="ctr">
                        <a:lnSpc>
                          <a:spcPts val="963"/>
                        </a:lnSpc>
                        <a:defRPr/>
                      </a:pPr>
                      <a:r>
                        <a:rPr lang="en-US" sz="1926" b="1" dirty="0" err="1">
                          <a:solidFill>
                            <a:srgbClr val="222222"/>
                          </a:solidFill>
                          <a:latin typeface="JASO Sans Bold"/>
                          <a:ea typeface="JASO Sans Bold"/>
                          <a:cs typeface="JASO Sans Bold"/>
                          <a:sym typeface="JASO Sans Bold"/>
                        </a:rPr>
                        <a:t>세제</a:t>
                      </a:r>
                      <a:r>
                        <a:rPr lang="en-US" sz="1926" b="1" dirty="0">
                          <a:solidFill>
                            <a:srgbClr val="222222"/>
                          </a:solidFill>
                          <a:latin typeface="JASO Sans Bold"/>
                          <a:ea typeface="JASO Sans Bold"/>
                          <a:cs typeface="JASO Sans Bold"/>
                          <a:sym typeface="JASO Sans Bold"/>
                        </a:rPr>
                        <a:t> </a:t>
                      </a:r>
                      <a:r>
                        <a:rPr lang="en-US" sz="1926" b="1" dirty="0" err="1">
                          <a:solidFill>
                            <a:srgbClr val="222222"/>
                          </a:solidFill>
                          <a:latin typeface="JASO Sans Bold"/>
                          <a:ea typeface="JASO Sans Bold"/>
                          <a:cs typeface="JASO Sans Bold"/>
                          <a:sym typeface="JASO Sans Bold"/>
                        </a:rPr>
                        <a:t>혜택</a:t>
                      </a:r>
                      <a:endParaRPr lang="en-US" sz="1100" dirty="0"/>
                    </a:p>
                  </a:txBody>
                  <a:tcPr marL="193111" marR="193111" marT="193111" marB="193111" anchor="ctr">
                    <a:lnL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63"/>
                        </a:lnSpc>
                        <a:defRPr/>
                      </a:pPr>
                      <a:r>
                        <a:rPr lang="en-US" sz="1926" dirty="0" err="1">
                          <a:solidFill>
                            <a:srgbClr val="222222"/>
                          </a:solidFill>
                          <a:latin typeface="JASO Sans"/>
                          <a:ea typeface="JASO Sans"/>
                          <a:cs typeface="JASO Sans"/>
                          <a:sym typeface="JASO Sans"/>
                        </a:rPr>
                        <a:t>제한적</a:t>
                      </a:r>
                      <a:endParaRPr lang="en-US" sz="1100" dirty="0"/>
                    </a:p>
                  </a:txBody>
                  <a:tcPr marL="193111" marR="193111" marT="193111" marB="193111" anchor="ctr">
                    <a:lnL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63"/>
                        </a:lnSpc>
                        <a:defRPr/>
                      </a:pPr>
                      <a:r>
                        <a:rPr lang="ko-KR" altLang="en-US" sz="1926" dirty="0">
                          <a:solidFill>
                            <a:srgbClr val="222222"/>
                          </a:solidFill>
                          <a:latin typeface="JASO Sans"/>
                          <a:ea typeface="JASO Sans"/>
                          <a:cs typeface="JASO Sans"/>
                          <a:sym typeface="JASO Sans"/>
                        </a:rPr>
                        <a:t>출연금 소득공제 및 과세 시점 조정 구조</a:t>
                      </a:r>
                      <a:endParaRPr lang="en-US" sz="1100" dirty="0"/>
                    </a:p>
                  </a:txBody>
                  <a:tcPr marL="193111" marR="193111" marT="193111" marB="193111" anchor="ctr">
                    <a:lnL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36880">
                <a:tc>
                  <a:txBody>
                    <a:bodyPr/>
                    <a:lstStyle/>
                    <a:p>
                      <a:pPr algn="ctr">
                        <a:lnSpc>
                          <a:spcPts val="963"/>
                        </a:lnSpc>
                        <a:defRPr/>
                      </a:pPr>
                      <a:r>
                        <a:rPr lang="en-US" sz="1926" b="1" dirty="0" err="1">
                          <a:solidFill>
                            <a:srgbClr val="222222"/>
                          </a:solidFill>
                          <a:latin typeface="JASO Sans Bold"/>
                          <a:ea typeface="JASO Sans Bold"/>
                          <a:cs typeface="JASO Sans Bold"/>
                          <a:sym typeface="JASO Sans Bold"/>
                        </a:rPr>
                        <a:t>의무</a:t>
                      </a:r>
                      <a:r>
                        <a:rPr lang="en-US" sz="1926" b="1" dirty="0">
                          <a:solidFill>
                            <a:srgbClr val="222222"/>
                          </a:solidFill>
                          <a:latin typeface="JASO Sans Bold"/>
                          <a:ea typeface="JASO Sans Bold"/>
                          <a:cs typeface="JASO Sans Bold"/>
                          <a:sym typeface="JASO Sans Bold"/>
                        </a:rPr>
                        <a:t> </a:t>
                      </a:r>
                      <a:r>
                        <a:rPr lang="en-US" sz="1926" b="1" dirty="0" err="1">
                          <a:solidFill>
                            <a:srgbClr val="222222"/>
                          </a:solidFill>
                          <a:latin typeface="JASO Sans Bold"/>
                          <a:ea typeface="JASO Sans Bold"/>
                          <a:cs typeface="JASO Sans Bold"/>
                          <a:sym typeface="JASO Sans Bold"/>
                        </a:rPr>
                        <a:t>보유</a:t>
                      </a:r>
                      <a:endParaRPr lang="en-US" sz="1100" dirty="0"/>
                    </a:p>
                  </a:txBody>
                  <a:tcPr marL="193111" marR="193111" marT="193111" marB="193111" anchor="ctr">
                    <a:lnL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63"/>
                        </a:lnSpc>
                        <a:defRPr/>
                      </a:pPr>
                      <a:r>
                        <a:rPr lang="en-US" sz="1926">
                          <a:solidFill>
                            <a:srgbClr val="222222"/>
                          </a:solidFill>
                          <a:latin typeface="JASO Sans"/>
                          <a:ea typeface="JASO Sans"/>
                          <a:cs typeface="JASO Sans"/>
                          <a:sym typeface="JASO Sans"/>
                        </a:rPr>
                        <a:t>없음</a:t>
                      </a:r>
                      <a:endParaRPr lang="en-US" sz="1100"/>
                    </a:p>
                  </a:txBody>
                  <a:tcPr marL="193111" marR="193111" marT="193111" marB="193111" anchor="ctr">
                    <a:lnL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63"/>
                        </a:lnSpc>
                        <a:defRPr/>
                      </a:pPr>
                      <a:r>
                        <a:rPr lang="en-US" sz="1926" dirty="0" err="1">
                          <a:solidFill>
                            <a:srgbClr val="222222"/>
                          </a:solidFill>
                          <a:latin typeface="JASO Sans"/>
                          <a:ea typeface="JASO Sans"/>
                          <a:cs typeface="JASO Sans"/>
                          <a:sym typeface="JASO Sans"/>
                        </a:rPr>
                        <a:t>의무보유기간</a:t>
                      </a:r>
                      <a:r>
                        <a:rPr lang="en-US" sz="1926" dirty="0">
                          <a:solidFill>
                            <a:srgbClr val="222222"/>
                          </a:solidFill>
                          <a:latin typeface="JASO Sans"/>
                          <a:ea typeface="JASO Sans"/>
                          <a:cs typeface="JASO Sans"/>
                          <a:sym typeface="JASO Sans"/>
                        </a:rPr>
                        <a:t> </a:t>
                      </a:r>
                      <a:r>
                        <a:rPr lang="en-US" sz="1926" dirty="0" err="1">
                          <a:solidFill>
                            <a:srgbClr val="222222"/>
                          </a:solidFill>
                          <a:latin typeface="JASO Sans"/>
                          <a:ea typeface="JASO Sans"/>
                          <a:cs typeface="JASO Sans"/>
                          <a:sym typeface="JASO Sans"/>
                        </a:rPr>
                        <a:t>존재</a:t>
                      </a:r>
                      <a:endParaRPr lang="en-US" sz="1100" dirty="0"/>
                    </a:p>
                  </a:txBody>
                  <a:tcPr marL="193111" marR="193111" marT="193111" marB="193111" anchor="ctr">
                    <a:lnL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7" name="TextBox 17"/>
          <p:cNvSpPr txBox="1"/>
          <p:nvPr/>
        </p:nvSpPr>
        <p:spPr>
          <a:xfrm>
            <a:off x="4038664" y="2623025"/>
            <a:ext cx="10591736" cy="11372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000" spc="-123" dirty="0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3000" spc="-123" dirty="0" err="1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우리사주도</a:t>
            </a:r>
            <a:r>
              <a:rPr lang="en-US" sz="3000" spc="-123" dirty="0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3000" spc="-123" dirty="0" err="1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일반주식과</a:t>
            </a:r>
            <a:r>
              <a:rPr lang="en-US" sz="3000" spc="-123" dirty="0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3000" spc="-123" dirty="0" err="1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마찬가지로</a:t>
            </a:r>
            <a:r>
              <a:rPr lang="en-US" sz="3000" spc="-123" dirty="0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3000" spc="-123" dirty="0" err="1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주식이나</a:t>
            </a:r>
            <a:r>
              <a:rPr lang="en-US" sz="3000" spc="-123" dirty="0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, </a:t>
            </a:r>
          </a:p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000" spc="-123" dirty="0" err="1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근로자가</a:t>
            </a:r>
            <a:r>
              <a:rPr lang="en-US" sz="3000" spc="-123" dirty="0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3000" spc="-123" dirty="0" err="1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자신이</a:t>
            </a:r>
            <a:r>
              <a:rPr lang="en-US" sz="3000" spc="-123" dirty="0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3000" spc="-123" dirty="0" err="1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소속되어</a:t>
            </a:r>
            <a:r>
              <a:rPr lang="en-US" sz="3000" spc="-123" dirty="0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3000" spc="-123" dirty="0" err="1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있는</a:t>
            </a:r>
            <a:r>
              <a:rPr lang="en-US" sz="3000" spc="-123" dirty="0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3000" spc="-123" dirty="0" err="1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회사의</a:t>
            </a:r>
            <a:r>
              <a:rPr lang="en-US" sz="3000" spc="-123" dirty="0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3000" spc="-123" dirty="0" err="1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주식을</a:t>
            </a:r>
            <a:r>
              <a:rPr lang="en-US" sz="3000" spc="-123" dirty="0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3000" spc="-123" dirty="0" err="1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보유한다는</a:t>
            </a:r>
            <a:r>
              <a:rPr lang="en-US" sz="3000" spc="-123" dirty="0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3000" spc="-123" dirty="0" err="1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점에서</a:t>
            </a:r>
            <a:r>
              <a:rPr lang="en-US" sz="3000" spc="-123" dirty="0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3000" spc="-123" dirty="0" err="1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차이</a:t>
            </a:r>
            <a:endParaRPr lang="en-US" sz="3000" spc="-123" dirty="0">
              <a:solidFill>
                <a:srgbClr val="333333"/>
              </a:solidFill>
              <a:latin typeface="JASO Sans"/>
              <a:ea typeface="JASO Sans"/>
              <a:cs typeface="JASO Sans"/>
              <a:sym typeface="JASO Sans"/>
            </a:endParaRPr>
          </a:p>
        </p:txBody>
      </p:sp>
      <p:sp>
        <p:nvSpPr>
          <p:cNvPr id="18" name="TextBox 15">
            <a:extLst>
              <a:ext uri="{FF2B5EF4-FFF2-40B4-BE49-F238E27FC236}">
                <a16:creationId xmlns:a16="http://schemas.microsoft.com/office/drawing/2014/main" id="{4FD394E3-D975-4D67-BFCD-5C417D216FAC}"/>
              </a:ext>
            </a:extLst>
          </p:cNvPr>
          <p:cNvSpPr txBox="1"/>
          <p:nvPr/>
        </p:nvSpPr>
        <p:spPr>
          <a:xfrm>
            <a:off x="1173591" y="1414452"/>
            <a:ext cx="1042830" cy="3656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00"/>
              </a:lnSpc>
            </a:pPr>
            <a:r>
              <a:rPr lang="en-US" sz="2416" b="1" spc="-62" dirty="0">
                <a:solidFill>
                  <a:srgbClr val="33333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1</a:t>
            </a:r>
          </a:p>
        </p:txBody>
      </p:sp>
      <p:sp>
        <p:nvSpPr>
          <p:cNvPr id="19" name="TextBox 32">
            <a:extLst>
              <a:ext uri="{FF2B5EF4-FFF2-40B4-BE49-F238E27FC236}">
                <a16:creationId xmlns:a16="http://schemas.microsoft.com/office/drawing/2014/main" id="{B6D22330-AD4B-4CAC-955F-7F33B38811C3}"/>
              </a:ext>
            </a:extLst>
          </p:cNvPr>
          <p:cNvSpPr txBox="1"/>
          <p:nvPr/>
        </p:nvSpPr>
        <p:spPr>
          <a:xfrm>
            <a:off x="9982200" y="9105900"/>
            <a:ext cx="6671034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37489" lvl="1" algn="r"/>
            <a:r>
              <a:rPr lang="en-US" altLang="ko-KR" sz="1600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※ </a:t>
            </a:r>
            <a:r>
              <a:rPr lang="ko-KR" altLang="en-US" sz="1600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우리사주는 일반 주식과 동일하게 조합원 개인에게 배당</a:t>
            </a:r>
            <a:endParaRPr lang="en-US" altLang="ko-KR" sz="1600" spc="-76" dirty="0">
              <a:solidFill>
                <a:srgbClr val="333333">
                  <a:alpha val="80000"/>
                </a:srgbClr>
              </a:solidFill>
              <a:latin typeface="JASO Sans"/>
              <a:ea typeface="JASO Sans"/>
              <a:cs typeface="JASO Sans"/>
              <a:sym typeface="JASO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14924" y="513776"/>
            <a:ext cx="17258151" cy="9391650"/>
            <a:chOff x="0" y="0"/>
            <a:chExt cx="23010868" cy="125222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77800"/>
              <a:ext cx="23010868" cy="12344400"/>
              <a:chOff x="0" y="0"/>
              <a:chExt cx="4545357" cy="24384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545357" cy="2438400"/>
              </a:xfrm>
              <a:custGeom>
                <a:avLst/>
                <a:gdLst/>
                <a:ahLst/>
                <a:cxnLst/>
                <a:rect l="l" t="t" r="r" b="b"/>
                <a:pathLst>
                  <a:path w="4545357" h="2438400">
                    <a:moveTo>
                      <a:pt x="17944" y="0"/>
                    </a:moveTo>
                    <a:lnTo>
                      <a:pt x="4527413" y="0"/>
                    </a:lnTo>
                    <a:cubicBezTo>
                      <a:pt x="4537323" y="0"/>
                      <a:pt x="4545357" y="8034"/>
                      <a:pt x="4545357" y="17944"/>
                    </a:cubicBezTo>
                    <a:lnTo>
                      <a:pt x="4545357" y="2420456"/>
                    </a:lnTo>
                    <a:cubicBezTo>
                      <a:pt x="4545357" y="2430366"/>
                      <a:pt x="4537323" y="2438400"/>
                      <a:pt x="4527413" y="2438400"/>
                    </a:cubicBezTo>
                    <a:lnTo>
                      <a:pt x="17944" y="2438400"/>
                    </a:lnTo>
                    <a:cubicBezTo>
                      <a:pt x="8034" y="2438400"/>
                      <a:pt x="0" y="2430366"/>
                      <a:pt x="0" y="2420456"/>
                    </a:cubicBezTo>
                    <a:lnTo>
                      <a:pt x="0" y="17944"/>
                    </a:lnTo>
                    <a:cubicBezTo>
                      <a:pt x="0" y="8034"/>
                      <a:pt x="8034" y="0"/>
                      <a:pt x="17944" y="0"/>
                    </a:cubicBezTo>
                    <a:close/>
                  </a:path>
                </a:pathLst>
              </a:custGeom>
              <a:solidFill>
                <a:srgbClr val="E5E5E5"/>
              </a:solidFill>
              <a:ln w="38100" cap="rnd">
                <a:solidFill>
                  <a:srgbClr val="333333"/>
                </a:solidFill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76200"/>
                <a:ext cx="4545357" cy="2514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8"/>
                  </a:lnSpc>
                </a:pPr>
                <a:r>
                  <a:rPr lang="en-US" sz="2200" spc="-90">
                    <a:solidFill>
                      <a:srgbClr val="FFFFFF"/>
                    </a:solidFill>
                    <a:latin typeface="JASO Sans"/>
                    <a:ea typeface="JASO Sans"/>
                    <a:cs typeface="JASO Sans"/>
                    <a:sym typeface="JASO Sans"/>
                  </a:rPr>
                  <a:t>ㄲㄲ</a:t>
                </a:r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23010868" cy="12344400"/>
              <a:chOff x="0" y="0"/>
              <a:chExt cx="4545357" cy="24384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545357" cy="2438400"/>
              </a:xfrm>
              <a:custGeom>
                <a:avLst/>
                <a:gdLst/>
                <a:ahLst/>
                <a:cxnLst/>
                <a:rect l="l" t="t" r="r" b="b"/>
                <a:pathLst>
                  <a:path w="4545357" h="2438400">
                    <a:moveTo>
                      <a:pt x="14804" y="0"/>
                    </a:moveTo>
                    <a:lnTo>
                      <a:pt x="4530553" y="0"/>
                    </a:lnTo>
                    <a:cubicBezTo>
                      <a:pt x="4534479" y="0"/>
                      <a:pt x="4538245" y="1560"/>
                      <a:pt x="4541021" y="4336"/>
                    </a:cubicBezTo>
                    <a:cubicBezTo>
                      <a:pt x="4543797" y="7112"/>
                      <a:pt x="4545357" y="10877"/>
                      <a:pt x="4545357" y="14804"/>
                    </a:cubicBezTo>
                    <a:lnTo>
                      <a:pt x="4545357" y="2423596"/>
                    </a:lnTo>
                    <a:cubicBezTo>
                      <a:pt x="4545357" y="2431772"/>
                      <a:pt x="4538729" y="2438400"/>
                      <a:pt x="4530553" y="2438400"/>
                    </a:cubicBezTo>
                    <a:lnTo>
                      <a:pt x="14804" y="2438400"/>
                    </a:lnTo>
                    <a:cubicBezTo>
                      <a:pt x="10877" y="2438400"/>
                      <a:pt x="7112" y="2436840"/>
                      <a:pt x="4336" y="2434064"/>
                    </a:cubicBezTo>
                    <a:cubicBezTo>
                      <a:pt x="1560" y="2431288"/>
                      <a:pt x="0" y="2427523"/>
                      <a:pt x="0" y="2423596"/>
                    </a:cubicBezTo>
                    <a:lnTo>
                      <a:pt x="0" y="14804"/>
                    </a:lnTo>
                    <a:cubicBezTo>
                      <a:pt x="0" y="10877"/>
                      <a:pt x="1560" y="7112"/>
                      <a:pt x="4336" y="4336"/>
                    </a:cubicBezTo>
                    <a:cubicBezTo>
                      <a:pt x="7112" y="1560"/>
                      <a:pt x="10877" y="0"/>
                      <a:pt x="1480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333333"/>
                </a:solidFill>
                <a:prstDash val="solid"/>
                <a:round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76200"/>
                <a:ext cx="4545357" cy="2514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8"/>
                  </a:lnSpc>
                </a:pPr>
                <a:r>
                  <a:rPr lang="en-US" sz="2200" spc="-90">
                    <a:solidFill>
                      <a:srgbClr val="FFFFFF"/>
                    </a:solidFill>
                    <a:latin typeface="JASO Sans"/>
                    <a:ea typeface="JASO Sans"/>
                    <a:cs typeface="JASO Sans"/>
                    <a:sym typeface="JASO Sans"/>
                  </a:rPr>
                  <a:t>ㄲㄲ</a:t>
                </a:r>
              </a:p>
            </p:txBody>
          </p:sp>
        </p:grpSp>
      </p:grpSp>
      <p:sp>
        <p:nvSpPr>
          <p:cNvPr id="9" name="Freeform 9"/>
          <p:cNvSpPr/>
          <p:nvPr/>
        </p:nvSpPr>
        <p:spPr>
          <a:xfrm rot="-5400000">
            <a:off x="17104554" y="827085"/>
            <a:ext cx="90727" cy="403229"/>
          </a:xfrm>
          <a:custGeom>
            <a:avLst/>
            <a:gdLst/>
            <a:ahLst/>
            <a:cxnLst/>
            <a:rect l="l" t="t" r="r" b="b"/>
            <a:pathLst>
              <a:path w="90727" h="403229">
                <a:moveTo>
                  <a:pt x="0" y="0"/>
                </a:moveTo>
                <a:lnTo>
                  <a:pt x="90726" y="0"/>
                </a:lnTo>
                <a:lnTo>
                  <a:pt x="90726" y="403230"/>
                </a:lnTo>
                <a:lnTo>
                  <a:pt x="0" y="4032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10" name="Group 10"/>
          <p:cNvGrpSpPr/>
          <p:nvPr/>
        </p:nvGrpSpPr>
        <p:grpSpPr>
          <a:xfrm>
            <a:off x="1339871" y="1267781"/>
            <a:ext cx="710270" cy="712421"/>
            <a:chOff x="0" y="0"/>
            <a:chExt cx="187067" cy="18763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87067" cy="187633"/>
            </a:xfrm>
            <a:custGeom>
              <a:avLst/>
              <a:gdLst/>
              <a:ahLst/>
              <a:cxnLst/>
              <a:rect l="l" t="t" r="r" b="b"/>
              <a:pathLst>
                <a:path w="187067" h="187633">
                  <a:moveTo>
                    <a:pt x="93533" y="0"/>
                  </a:moveTo>
                  <a:lnTo>
                    <a:pt x="93533" y="0"/>
                  </a:lnTo>
                  <a:cubicBezTo>
                    <a:pt x="145191" y="0"/>
                    <a:pt x="187067" y="41876"/>
                    <a:pt x="187067" y="93533"/>
                  </a:cubicBezTo>
                  <a:lnTo>
                    <a:pt x="187067" y="94100"/>
                  </a:lnTo>
                  <a:cubicBezTo>
                    <a:pt x="187067" y="118907"/>
                    <a:pt x="177213" y="142697"/>
                    <a:pt x="159672" y="160238"/>
                  </a:cubicBezTo>
                  <a:cubicBezTo>
                    <a:pt x="142131" y="177779"/>
                    <a:pt x="118340" y="187633"/>
                    <a:pt x="93533" y="187633"/>
                  </a:cubicBezTo>
                  <a:lnTo>
                    <a:pt x="93533" y="187633"/>
                  </a:lnTo>
                  <a:cubicBezTo>
                    <a:pt x="41876" y="187633"/>
                    <a:pt x="0" y="145757"/>
                    <a:pt x="0" y="94100"/>
                  </a:cubicBezTo>
                  <a:lnTo>
                    <a:pt x="0" y="93533"/>
                  </a:lnTo>
                  <a:cubicBezTo>
                    <a:pt x="0" y="68727"/>
                    <a:pt x="9854" y="44936"/>
                    <a:pt x="27395" y="27395"/>
                  </a:cubicBezTo>
                  <a:cubicBezTo>
                    <a:pt x="44936" y="9854"/>
                    <a:pt x="68727" y="0"/>
                    <a:pt x="93533" y="0"/>
                  </a:cubicBezTo>
                  <a:close/>
                </a:path>
              </a:pathLst>
            </a:custGeom>
            <a:solidFill>
              <a:srgbClr val="8DDAC8"/>
            </a:solidFill>
            <a:ln w="28575" cap="sq">
              <a:solidFill>
                <a:srgbClr val="333333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187067" cy="2447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66"/>
                </a:lnSpc>
              </a:pPr>
              <a:endParaRPr/>
            </a:p>
          </p:txBody>
        </p:sp>
      </p:grpSp>
      <p:sp>
        <p:nvSpPr>
          <p:cNvPr id="13" name="AutoShape 13"/>
          <p:cNvSpPr/>
          <p:nvPr/>
        </p:nvSpPr>
        <p:spPr>
          <a:xfrm flipV="1">
            <a:off x="1339698" y="2443184"/>
            <a:ext cx="15608605" cy="0"/>
          </a:xfrm>
          <a:prstGeom prst="line">
            <a:avLst/>
          </a:prstGeom>
          <a:ln w="19050" cap="flat">
            <a:solidFill>
              <a:srgbClr val="33333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TextBox 14"/>
          <p:cNvSpPr txBox="1"/>
          <p:nvPr/>
        </p:nvSpPr>
        <p:spPr>
          <a:xfrm rot="-18144">
            <a:off x="2289393" y="1192192"/>
            <a:ext cx="9732485" cy="8315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6414"/>
              </a:lnSpc>
              <a:spcBef>
                <a:spcPct val="0"/>
              </a:spcBef>
            </a:pPr>
            <a:r>
              <a:rPr lang="en-US" sz="5676" spc="-283" dirty="0" err="1">
                <a:solidFill>
                  <a:srgbClr val="33333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우리사주조합</a:t>
            </a:r>
            <a:r>
              <a:rPr lang="en-US" sz="5676" spc="-283" dirty="0">
                <a:solidFill>
                  <a:srgbClr val="33333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 </a:t>
            </a:r>
            <a:r>
              <a:rPr lang="en-US" sz="5676" spc="-283" dirty="0" err="1">
                <a:solidFill>
                  <a:srgbClr val="33333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가입</a:t>
            </a:r>
            <a:r>
              <a:rPr lang="en-US" sz="5676" spc="-283" dirty="0">
                <a:solidFill>
                  <a:srgbClr val="33333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 및 </a:t>
            </a:r>
            <a:r>
              <a:rPr lang="en-US" sz="5676" spc="-283" dirty="0" err="1">
                <a:solidFill>
                  <a:srgbClr val="33333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탈퇴</a:t>
            </a:r>
            <a:endParaRPr lang="en-US" sz="5676" spc="-283" dirty="0">
              <a:solidFill>
                <a:srgbClr val="333333"/>
              </a:solidFill>
              <a:latin typeface="210 국민체조"/>
              <a:ea typeface="210 국민체조"/>
              <a:cs typeface="210 국민체조"/>
              <a:sym typeface="210 국민체조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173591" y="1414452"/>
            <a:ext cx="1042830" cy="3656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00"/>
              </a:lnSpc>
            </a:pPr>
            <a:r>
              <a:rPr lang="en-US" sz="2416" b="1" spc="-62" dirty="0">
                <a:solidFill>
                  <a:srgbClr val="33333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2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0426816" y="3328306"/>
            <a:ext cx="6127617" cy="5473192"/>
            <a:chOff x="0" y="0"/>
            <a:chExt cx="1526452" cy="136343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526452" cy="1363436"/>
            </a:xfrm>
            <a:custGeom>
              <a:avLst/>
              <a:gdLst/>
              <a:ahLst/>
              <a:cxnLst/>
              <a:rect l="l" t="t" r="r" b="b"/>
              <a:pathLst>
                <a:path w="1526452" h="1363436">
                  <a:moveTo>
                    <a:pt x="1526452" y="13898"/>
                  </a:moveTo>
                  <a:lnTo>
                    <a:pt x="1526452" y="1349539"/>
                  </a:lnTo>
                  <a:cubicBezTo>
                    <a:pt x="1526452" y="1357214"/>
                    <a:pt x="1520230" y="1363436"/>
                    <a:pt x="1512554" y="1363436"/>
                  </a:cubicBezTo>
                  <a:lnTo>
                    <a:pt x="13898" y="1363436"/>
                  </a:lnTo>
                  <a:cubicBezTo>
                    <a:pt x="10212" y="1363436"/>
                    <a:pt x="6677" y="1361972"/>
                    <a:pt x="4071" y="1359366"/>
                  </a:cubicBezTo>
                  <a:cubicBezTo>
                    <a:pt x="1464" y="1356759"/>
                    <a:pt x="0" y="1353224"/>
                    <a:pt x="0" y="1349539"/>
                  </a:cubicBezTo>
                  <a:lnTo>
                    <a:pt x="0" y="13898"/>
                  </a:lnTo>
                  <a:cubicBezTo>
                    <a:pt x="0" y="6222"/>
                    <a:pt x="6222" y="0"/>
                    <a:pt x="13898" y="0"/>
                  </a:cubicBezTo>
                  <a:lnTo>
                    <a:pt x="1512554" y="0"/>
                  </a:lnTo>
                  <a:cubicBezTo>
                    <a:pt x="1520230" y="0"/>
                    <a:pt x="1526452" y="6222"/>
                    <a:pt x="1526452" y="13898"/>
                  </a:cubicBezTo>
                  <a:close/>
                </a:path>
              </a:pathLst>
            </a:custGeom>
            <a:solidFill>
              <a:srgbClr val="8DDAC8"/>
            </a:solidFill>
            <a:ln w="28575" cap="sq">
              <a:solidFill>
                <a:srgbClr val="333333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57150"/>
              <a:ext cx="1526452" cy="14205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66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0644575" y="3555125"/>
            <a:ext cx="5692099" cy="1030319"/>
            <a:chOff x="0" y="0"/>
            <a:chExt cx="1417977" cy="25666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417977" cy="256666"/>
            </a:xfrm>
            <a:custGeom>
              <a:avLst/>
              <a:gdLst/>
              <a:ahLst/>
              <a:cxnLst/>
              <a:rect l="l" t="t" r="r" b="b"/>
              <a:pathLst>
                <a:path w="1417977" h="256666">
                  <a:moveTo>
                    <a:pt x="14961" y="0"/>
                  </a:moveTo>
                  <a:lnTo>
                    <a:pt x="1403016" y="0"/>
                  </a:lnTo>
                  <a:cubicBezTo>
                    <a:pt x="1406984" y="0"/>
                    <a:pt x="1410789" y="1576"/>
                    <a:pt x="1413595" y="4382"/>
                  </a:cubicBezTo>
                  <a:cubicBezTo>
                    <a:pt x="1416401" y="7188"/>
                    <a:pt x="1417977" y="10993"/>
                    <a:pt x="1417977" y="14961"/>
                  </a:cubicBezTo>
                  <a:lnTo>
                    <a:pt x="1417977" y="241705"/>
                  </a:lnTo>
                  <a:cubicBezTo>
                    <a:pt x="1417977" y="245673"/>
                    <a:pt x="1416401" y="249478"/>
                    <a:pt x="1413595" y="252284"/>
                  </a:cubicBezTo>
                  <a:cubicBezTo>
                    <a:pt x="1410789" y="255090"/>
                    <a:pt x="1406984" y="256666"/>
                    <a:pt x="1403016" y="256666"/>
                  </a:cubicBezTo>
                  <a:lnTo>
                    <a:pt x="14961" y="256666"/>
                  </a:lnTo>
                  <a:cubicBezTo>
                    <a:pt x="10993" y="256666"/>
                    <a:pt x="7188" y="255090"/>
                    <a:pt x="4382" y="252284"/>
                  </a:cubicBezTo>
                  <a:cubicBezTo>
                    <a:pt x="1576" y="249478"/>
                    <a:pt x="0" y="245673"/>
                    <a:pt x="0" y="241705"/>
                  </a:cubicBezTo>
                  <a:lnTo>
                    <a:pt x="0" y="14961"/>
                  </a:lnTo>
                  <a:cubicBezTo>
                    <a:pt x="0" y="10993"/>
                    <a:pt x="1576" y="7188"/>
                    <a:pt x="4382" y="4382"/>
                  </a:cubicBezTo>
                  <a:cubicBezTo>
                    <a:pt x="7188" y="1576"/>
                    <a:pt x="10993" y="0"/>
                    <a:pt x="14961" y="0"/>
                  </a:cubicBezTo>
                  <a:close/>
                </a:path>
              </a:pathLst>
            </a:custGeom>
            <a:solidFill>
              <a:srgbClr val="F3F3F3"/>
            </a:solidFill>
            <a:ln w="28575" cap="sq">
              <a:solidFill>
                <a:srgbClr val="333333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-57150"/>
              <a:ext cx="1417977" cy="3138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66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 rot="-18144">
            <a:off x="12465390" y="3855812"/>
            <a:ext cx="1828986" cy="4610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571"/>
              </a:lnSpc>
              <a:spcBef>
                <a:spcPct val="0"/>
              </a:spcBef>
            </a:pPr>
            <a:r>
              <a:rPr lang="ko-KR" altLang="en-US" sz="3501" u="none" strike="noStrike" spc="-175" dirty="0">
                <a:solidFill>
                  <a:srgbClr val="222222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탈퇴</a:t>
            </a:r>
            <a:endParaRPr lang="en-US" sz="3501" u="none" strike="noStrike" spc="-175" dirty="0">
              <a:solidFill>
                <a:srgbClr val="222222"/>
              </a:solidFill>
              <a:latin typeface="210 국민체조"/>
              <a:ea typeface="210 국민체조"/>
              <a:cs typeface="210 국민체조"/>
              <a:sym typeface="210 국민체조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1087321" y="5060628"/>
            <a:ext cx="4806608" cy="3089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lvl="0" indent="-342900">
              <a:lnSpc>
                <a:spcPts val="3541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ko-KR" altLang="en-US" sz="2199" u="none" strike="noStrike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원칙적으로 모든 근로자는</a:t>
            </a:r>
            <a:br>
              <a:rPr lang="en-US" altLang="ko-KR" sz="2199" u="none" strike="noStrike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</a:br>
            <a:r>
              <a:rPr lang="ko-KR" altLang="en-US" sz="2199" u="none" strike="noStrike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자유로이 우리사주조합에 탈퇴 가능</a:t>
            </a:r>
            <a:endParaRPr lang="en-US" altLang="ko-KR" sz="2199" u="none" strike="noStrike" spc="-76" dirty="0">
              <a:solidFill>
                <a:srgbClr val="333333">
                  <a:alpha val="80000"/>
                </a:srgbClr>
              </a:solidFill>
              <a:latin typeface="JASO Sans"/>
              <a:ea typeface="JASO Sans"/>
              <a:cs typeface="JASO Sans"/>
              <a:sym typeface="JASO Sans"/>
            </a:endParaRPr>
          </a:p>
          <a:p>
            <a:pPr marL="342900" lvl="0" indent="-342900">
              <a:lnSpc>
                <a:spcPts val="3541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조합원이 탈퇴를 희망하는 경우</a:t>
            </a:r>
            <a:br>
              <a:rPr lang="en-US" altLang="ko-KR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</a:b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조합은 탈퇴 의사를 서면으로 받도록 함</a:t>
            </a:r>
            <a:endParaRPr lang="en-US" altLang="ko-KR" sz="2199" spc="-76" dirty="0">
              <a:solidFill>
                <a:srgbClr val="333333">
                  <a:alpha val="80000"/>
                </a:srgbClr>
              </a:solidFill>
              <a:latin typeface="JASO Sans"/>
              <a:ea typeface="JASO Sans"/>
              <a:cs typeface="JASO Sans"/>
              <a:sym typeface="JASO Sans"/>
            </a:endParaRPr>
          </a:p>
          <a:p>
            <a:pPr marL="342900" lvl="0" indent="-342900">
              <a:lnSpc>
                <a:spcPts val="3541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조합 탈퇴 시 처리 방식은 조합 규약에 따라 합리적으로 운영</a:t>
            </a:r>
            <a:endParaRPr lang="en-US" altLang="ko-KR" sz="2199" spc="-76" dirty="0">
              <a:solidFill>
                <a:srgbClr val="333333">
                  <a:alpha val="80000"/>
                </a:srgbClr>
              </a:solidFill>
              <a:latin typeface="JASO Sans"/>
              <a:ea typeface="JASO Sans"/>
              <a:cs typeface="JASO Sans"/>
              <a:sym typeface="JASO Sans"/>
            </a:endParaRPr>
          </a:p>
          <a:p>
            <a:pPr marL="342900" lvl="0" indent="-342900">
              <a:lnSpc>
                <a:spcPts val="3541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조합 탈퇴가 우리사주 인출사유는 아님</a:t>
            </a:r>
            <a:endParaRPr lang="en-US" sz="2199" spc="-76" dirty="0">
              <a:solidFill>
                <a:srgbClr val="333333">
                  <a:alpha val="80000"/>
                </a:srgbClr>
              </a:solidFill>
              <a:latin typeface="JASO Sans"/>
              <a:ea typeface="JASO Sans"/>
              <a:cs typeface="JASO Sans"/>
              <a:sym typeface="JASO Sans"/>
            </a:endParaRPr>
          </a:p>
        </p:txBody>
      </p:sp>
      <p:grpSp>
        <p:nvGrpSpPr>
          <p:cNvPr id="31" name="Group 16">
            <a:extLst>
              <a:ext uri="{FF2B5EF4-FFF2-40B4-BE49-F238E27FC236}">
                <a16:creationId xmlns:a16="http://schemas.microsoft.com/office/drawing/2014/main" id="{DAD16423-D9A3-4D87-9B63-66872A0C14D4}"/>
              </a:ext>
            </a:extLst>
          </p:cNvPr>
          <p:cNvGrpSpPr/>
          <p:nvPr/>
        </p:nvGrpSpPr>
        <p:grpSpPr>
          <a:xfrm>
            <a:off x="1733567" y="3315515"/>
            <a:ext cx="6127617" cy="5473192"/>
            <a:chOff x="0" y="0"/>
            <a:chExt cx="1526452" cy="1363436"/>
          </a:xfrm>
        </p:grpSpPr>
        <p:sp>
          <p:nvSpPr>
            <p:cNvPr id="32" name="Freeform 17">
              <a:extLst>
                <a:ext uri="{FF2B5EF4-FFF2-40B4-BE49-F238E27FC236}">
                  <a16:creationId xmlns:a16="http://schemas.microsoft.com/office/drawing/2014/main" id="{419323C4-AAA0-48D7-A22E-4E32554DDCAB}"/>
                </a:ext>
              </a:extLst>
            </p:cNvPr>
            <p:cNvSpPr/>
            <p:nvPr/>
          </p:nvSpPr>
          <p:spPr>
            <a:xfrm>
              <a:off x="0" y="0"/>
              <a:ext cx="1526452" cy="1363436"/>
            </a:xfrm>
            <a:custGeom>
              <a:avLst/>
              <a:gdLst/>
              <a:ahLst/>
              <a:cxnLst/>
              <a:rect l="l" t="t" r="r" b="b"/>
              <a:pathLst>
                <a:path w="1526452" h="1363436">
                  <a:moveTo>
                    <a:pt x="1526452" y="13898"/>
                  </a:moveTo>
                  <a:lnTo>
                    <a:pt x="1526452" y="1349539"/>
                  </a:lnTo>
                  <a:cubicBezTo>
                    <a:pt x="1526452" y="1357214"/>
                    <a:pt x="1520230" y="1363436"/>
                    <a:pt x="1512554" y="1363436"/>
                  </a:cubicBezTo>
                  <a:lnTo>
                    <a:pt x="13898" y="1363436"/>
                  </a:lnTo>
                  <a:cubicBezTo>
                    <a:pt x="10212" y="1363436"/>
                    <a:pt x="6677" y="1361972"/>
                    <a:pt x="4071" y="1359366"/>
                  </a:cubicBezTo>
                  <a:cubicBezTo>
                    <a:pt x="1464" y="1356759"/>
                    <a:pt x="0" y="1353224"/>
                    <a:pt x="0" y="1349539"/>
                  </a:cubicBezTo>
                  <a:lnTo>
                    <a:pt x="0" y="13898"/>
                  </a:lnTo>
                  <a:cubicBezTo>
                    <a:pt x="0" y="6222"/>
                    <a:pt x="6222" y="0"/>
                    <a:pt x="13898" y="0"/>
                  </a:cubicBezTo>
                  <a:lnTo>
                    <a:pt x="1512554" y="0"/>
                  </a:lnTo>
                  <a:cubicBezTo>
                    <a:pt x="1520230" y="0"/>
                    <a:pt x="1526452" y="6222"/>
                    <a:pt x="1526452" y="13898"/>
                  </a:cubicBezTo>
                  <a:close/>
                </a:path>
              </a:pathLst>
            </a:custGeom>
            <a:solidFill>
              <a:srgbClr val="8DDAC8"/>
            </a:solidFill>
            <a:ln w="28575" cap="sq">
              <a:solidFill>
                <a:srgbClr val="333333"/>
              </a:solidFill>
              <a:prstDash val="solid"/>
              <a:miter/>
            </a:ln>
          </p:spPr>
        </p:sp>
        <p:sp>
          <p:nvSpPr>
            <p:cNvPr id="33" name="TextBox 18">
              <a:extLst>
                <a:ext uri="{FF2B5EF4-FFF2-40B4-BE49-F238E27FC236}">
                  <a16:creationId xmlns:a16="http://schemas.microsoft.com/office/drawing/2014/main" id="{05EE6A92-3FBD-47D6-8996-DCC369E46941}"/>
                </a:ext>
              </a:extLst>
            </p:cNvPr>
            <p:cNvSpPr txBox="1"/>
            <p:nvPr/>
          </p:nvSpPr>
          <p:spPr>
            <a:xfrm>
              <a:off x="0" y="-57150"/>
              <a:ext cx="1526452" cy="14205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66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4" name="Group 19">
            <a:extLst>
              <a:ext uri="{FF2B5EF4-FFF2-40B4-BE49-F238E27FC236}">
                <a16:creationId xmlns:a16="http://schemas.microsoft.com/office/drawing/2014/main" id="{2F659955-6619-4298-8AD0-7C4FC1222E27}"/>
              </a:ext>
            </a:extLst>
          </p:cNvPr>
          <p:cNvGrpSpPr/>
          <p:nvPr/>
        </p:nvGrpSpPr>
        <p:grpSpPr>
          <a:xfrm>
            <a:off x="1951326" y="3542334"/>
            <a:ext cx="5692099" cy="1030319"/>
            <a:chOff x="0" y="0"/>
            <a:chExt cx="1417977" cy="256666"/>
          </a:xfrm>
        </p:grpSpPr>
        <p:sp>
          <p:nvSpPr>
            <p:cNvPr id="35" name="Freeform 20">
              <a:extLst>
                <a:ext uri="{FF2B5EF4-FFF2-40B4-BE49-F238E27FC236}">
                  <a16:creationId xmlns:a16="http://schemas.microsoft.com/office/drawing/2014/main" id="{96FDF704-5D51-4FC8-8A38-1BEDCA276B91}"/>
                </a:ext>
              </a:extLst>
            </p:cNvPr>
            <p:cNvSpPr/>
            <p:nvPr/>
          </p:nvSpPr>
          <p:spPr>
            <a:xfrm>
              <a:off x="0" y="0"/>
              <a:ext cx="1417977" cy="256666"/>
            </a:xfrm>
            <a:custGeom>
              <a:avLst/>
              <a:gdLst/>
              <a:ahLst/>
              <a:cxnLst/>
              <a:rect l="l" t="t" r="r" b="b"/>
              <a:pathLst>
                <a:path w="1417977" h="256666">
                  <a:moveTo>
                    <a:pt x="14961" y="0"/>
                  </a:moveTo>
                  <a:lnTo>
                    <a:pt x="1403016" y="0"/>
                  </a:lnTo>
                  <a:cubicBezTo>
                    <a:pt x="1406984" y="0"/>
                    <a:pt x="1410789" y="1576"/>
                    <a:pt x="1413595" y="4382"/>
                  </a:cubicBezTo>
                  <a:cubicBezTo>
                    <a:pt x="1416401" y="7188"/>
                    <a:pt x="1417977" y="10993"/>
                    <a:pt x="1417977" y="14961"/>
                  </a:cubicBezTo>
                  <a:lnTo>
                    <a:pt x="1417977" y="241705"/>
                  </a:lnTo>
                  <a:cubicBezTo>
                    <a:pt x="1417977" y="245673"/>
                    <a:pt x="1416401" y="249478"/>
                    <a:pt x="1413595" y="252284"/>
                  </a:cubicBezTo>
                  <a:cubicBezTo>
                    <a:pt x="1410789" y="255090"/>
                    <a:pt x="1406984" y="256666"/>
                    <a:pt x="1403016" y="256666"/>
                  </a:cubicBezTo>
                  <a:lnTo>
                    <a:pt x="14961" y="256666"/>
                  </a:lnTo>
                  <a:cubicBezTo>
                    <a:pt x="10993" y="256666"/>
                    <a:pt x="7188" y="255090"/>
                    <a:pt x="4382" y="252284"/>
                  </a:cubicBezTo>
                  <a:cubicBezTo>
                    <a:pt x="1576" y="249478"/>
                    <a:pt x="0" y="245673"/>
                    <a:pt x="0" y="241705"/>
                  </a:cubicBezTo>
                  <a:lnTo>
                    <a:pt x="0" y="14961"/>
                  </a:lnTo>
                  <a:cubicBezTo>
                    <a:pt x="0" y="10993"/>
                    <a:pt x="1576" y="7188"/>
                    <a:pt x="4382" y="4382"/>
                  </a:cubicBezTo>
                  <a:cubicBezTo>
                    <a:pt x="7188" y="1576"/>
                    <a:pt x="10993" y="0"/>
                    <a:pt x="14961" y="0"/>
                  </a:cubicBezTo>
                  <a:close/>
                </a:path>
              </a:pathLst>
            </a:custGeom>
            <a:solidFill>
              <a:srgbClr val="F3F3F3"/>
            </a:solidFill>
            <a:ln w="28575" cap="sq">
              <a:solidFill>
                <a:srgbClr val="333333"/>
              </a:solidFill>
              <a:prstDash val="solid"/>
              <a:miter/>
            </a:ln>
          </p:spPr>
        </p:sp>
        <p:sp>
          <p:nvSpPr>
            <p:cNvPr id="36" name="TextBox 21">
              <a:extLst>
                <a:ext uri="{FF2B5EF4-FFF2-40B4-BE49-F238E27FC236}">
                  <a16:creationId xmlns:a16="http://schemas.microsoft.com/office/drawing/2014/main" id="{A54F2C35-9ADF-4775-BE36-DE99B7358034}"/>
                </a:ext>
              </a:extLst>
            </p:cNvPr>
            <p:cNvSpPr txBox="1"/>
            <p:nvPr/>
          </p:nvSpPr>
          <p:spPr>
            <a:xfrm>
              <a:off x="0" y="-57150"/>
              <a:ext cx="1417977" cy="3138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66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7" name="TextBox 23">
            <a:extLst>
              <a:ext uri="{FF2B5EF4-FFF2-40B4-BE49-F238E27FC236}">
                <a16:creationId xmlns:a16="http://schemas.microsoft.com/office/drawing/2014/main" id="{8BE729F5-6024-49EC-96FA-0CCE08EF19A1}"/>
              </a:ext>
            </a:extLst>
          </p:cNvPr>
          <p:cNvSpPr txBox="1"/>
          <p:nvPr/>
        </p:nvSpPr>
        <p:spPr>
          <a:xfrm>
            <a:off x="2394072" y="5047837"/>
            <a:ext cx="4806608" cy="2192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lvl="0" indent="-342900">
              <a:lnSpc>
                <a:spcPts val="3541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원칙적으로 모든 근로자는</a:t>
            </a:r>
            <a:br>
              <a:rPr lang="en-US" altLang="ko-KR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</a:b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자유로이 우리사주조합에 가입 가능</a:t>
            </a:r>
            <a:endParaRPr lang="en-US" altLang="ko-KR" sz="2199" spc="-76" dirty="0">
              <a:solidFill>
                <a:srgbClr val="333333">
                  <a:alpha val="80000"/>
                </a:srgbClr>
              </a:solidFill>
              <a:latin typeface="JASO Sans"/>
              <a:ea typeface="JASO Sans"/>
              <a:cs typeface="JASO Sans"/>
              <a:sym typeface="JASO Sans"/>
            </a:endParaRPr>
          </a:p>
          <a:p>
            <a:pPr marL="342900" lvl="0" indent="-342900">
              <a:lnSpc>
                <a:spcPts val="3541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ko-KR" altLang="en-US" sz="2199" u="none" strike="noStrike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상시적으로 조합 가입 가능</a:t>
            </a:r>
            <a:endParaRPr lang="en-US" altLang="ko-KR" sz="2199" u="none" strike="noStrike" spc="-76" dirty="0">
              <a:solidFill>
                <a:srgbClr val="333333">
                  <a:alpha val="80000"/>
                </a:srgbClr>
              </a:solidFill>
              <a:latin typeface="JASO Sans"/>
              <a:ea typeface="JASO Sans"/>
              <a:cs typeface="JASO Sans"/>
              <a:sym typeface="JASO Sans"/>
            </a:endParaRPr>
          </a:p>
          <a:p>
            <a:pPr marL="342900" lvl="0" indent="-342900">
              <a:lnSpc>
                <a:spcPts val="3541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조합은 가입신청서를 접수한 후</a:t>
            </a:r>
            <a:br>
              <a:rPr lang="en-US" altLang="ko-KR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</a:b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조합원 명부에 반영</a:t>
            </a:r>
            <a:endParaRPr lang="en-US" sz="2199" u="none" strike="noStrike" spc="-76" dirty="0">
              <a:solidFill>
                <a:srgbClr val="333333">
                  <a:alpha val="80000"/>
                </a:srgbClr>
              </a:solidFill>
              <a:latin typeface="JASO Sans"/>
              <a:ea typeface="JASO Sans"/>
              <a:cs typeface="JASO Sans"/>
              <a:sym typeface="JASO Sans"/>
            </a:endParaRPr>
          </a:p>
        </p:txBody>
      </p:sp>
      <p:sp>
        <p:nvSpPr>
          <p:cNvPr id="38" name="TextBox 22">
            <a:extLst>
              <a:ext uri="{FF2B5EF4-FFF2-40B4-BE49-F238E27FC236}">
                <a16:creationId xmlns:a16="http://schemas.microsoft.com/office/drawing/2014/main" id="{8FF7E921-A5D8-4D91-B359-B3658E3D2083}"/>
              </a:ext>
            </a:extLst>
          </p:cNvPr>
          <p:cNvSpPr txBox="1"/>
          <p:nvPr/>
        </p:nvSpPr>
        <p:spPr>
          <a:xfrm rot="-18144">
            <a:off x="3735004" y="3839756"/>
            <a:ext cx="1828986" cy="4610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571"/>
              </a:lnSpc>
              <a:spcBef>
                <a:spcPct val="0"/>
              </a:spcBef>
            </a:pPr>
            <a:r>
              <a:rPr lang="ko-KR" altLang="en-US" sz="3501" u="none" strike="noStrike" spc="-175" dirty="0">
                <a:solidFill>
                  <a:srgbClr val="222222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가입</a:t>
            </a:r>
            <a:endParaRPr lang="en-US" sz="3501" u="none" strike="noStrike" spc="-175" dirty="0">
              <a:solidFill>
                <a:srgbClr val="222222"/>
              </a:solidFill>
              <a:latin typeface="210 국민체조"/>
              <a:ea typeface="210 국민체조"/>
              <a:cs typeface="210 국민체조"/>
              <a:sym typeface="210 국민체조"/>
            </a:endParaRPr>
          </a:p>
        </p:txBody>
      </p:sp>
      <p:sp>
        <p:nvSpPr>
          <p:cNvPr id="41" name="TextBox 18">
            <a:extLst>
              <a:ext uri="{FF2B5EF4-FFF2-40B4-BE49-F238E27FC236}">
                <a16:creationId xmlns:a16="http://schemas.microsoft.com/office/drawing/2014/main" id="{AA22B5CB-FFC7-41C2-AEC3-EEF91FD8AFD5}"/>
              </a:ext>
            </a:extLst>
          </p:cNvPr>
          <p:cNvSpPr txBox="1"/>
          <p:nvPr/>
        </p:nvSpPr>
        <p:spPr>
          <a:xfrm>
            <a:off x="1885967" y="3238500"/>
            <a:ext cx="6127617" cy="5702607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marL="0" lvl="0" indent="0" algn="ctr">
              <a:lnSpc>
                <a:spcPts val="3466"/>
              </a:lnSpc>
              <a:spcBef>
                <a:spcPct val="0"/>
              </a:spcBef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14924" y="513776"/>
            <a:ext cx="17258151" cy="9391650"/>
            <a:chOff x="0" y="0"/>
            <a:chExt cx="23010868" cy="125222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77800"/>
              <a:ext cx="23010868" cy="12344400"/>
              <a:chOff x="0" y="0"/>
              <a:chExt cx="4545357" cy="24384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545357" cy="2438400"/>
              </a:xfrm>
              <a:custGeom>
                <a:avLst/>
                <a:gdLst/>
                <a:ahLst/>
                <a:cxnLst/>
                <a:rect l="l" t="t" r="r" b="b"/>
                <a:pathLst>
                  <a:path w="4545357" h="2438400">
                    <a:moveTo>
                      <a:pt x="17944" y="0"/>
                    </a:moveTo>
                    <a:lnTo>
                      <a:pt x="4527413" y="0"/>
                    </a:lnTo>
                    <a:cubicBezTo>
                      <a:pt x="4537323" y="0"/>
                      <a:pt x="4545357" y="8034"/>
                      <a:pt x="4545357" y="17944"/>
                    </a:cubicBezTo>
                    <a:lnTo>
                      <a:pt x="4545357" y="2420456"/>
                    </a:lnTo>
                    <a:cubicBezTo>
                      <a:pt x="4545357" y="2430366"/>
                      <a:pt x="4537323" y="2438400"/>
                      <a:pt x="4527413" y="2438400"/>
                    </a:cubicBezTo>
                    <a:lnTo>
                      <a:pt x="17944" y="2438400"/>
                    </a:lnTo>
                    <a:cubicBezTo>
                      <a:pt x="8034" y="2438400"/>
                      <a:pt x="0" y="2430366"/>
                      <a:pt x="0" y="2420456"/>
                    </a:cubicBezTo>
                    <a:lnTo>
                      <a:pt x="0" y="17944"/>
                    </a:lnTo>
                    <a:cubicBezTo>
                      <a:pt x="0" y="8034"/>
                      <a:pt x="8034" y="0"/>
                      <a:pt x="17944" y="0"/>
                    </a:cubicBezTo>
                    <a:close/>
                  </a:path>
                </a:pathLst>
              </a:custGeom>
              <a:solidFill>
                <a:srgbClr val="E5E5E5"/>
              </a:solidFill>
              <a:ln w="38100" cap="rnd">
                <a:solidFill>
                  <a:srgbClr val="333333"/>
                </a:solidFill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76200"/>
                <a:ext cx="4545357" cy="2514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8"/>
                  </a:lnSpc>
                </a:pPr>
                <a:r>
                  <a:rPr lang="en-US" sz="2200" spc="-90">
                    <a:solidFill>
                      <a:srgbClr val="FFFFFF"/>
                    </a:solidFill>
                    <a:latin typeface="JASO Sans"/>
                    <a:ea typeface="JASO Sans"/>
                    <a:cs typeface="JASO Sans"/>
                    <a:sym typeface="JASO Sans"/>
                  </a:rPr>
                  <a:t>ㄲㄲ</a:t>
                </a:r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23010868" cy="12344400"/>
              <a:chOff x="0" y="0"/>
              <a:chExt cx="4545357" cy="24384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545357" cy="2438400"/>
              </a:xfrm>
              <a:custGeom>
                <a:avLst/>
                <a:gdLst/>
                <a:ahLst/>
                <a:cxnLst/>
                <a:rect l="l" t="t" r="r" b="b"/>
                <a:pathLst>
                  <a:path w="4545357" h="2438400">
                    <a:moveTo>
                      <a:pt x="14804" y="0"/>
                    </a:moveTo>
                    <a:lnTo>
                      <a:pt x="4530553" y="0"/>
                    </a:lnTo>
                    <a:cubicBezTo>
                      <a:pt x="4534479" y="0"/>
                      <a:pt x="4538245" y="1560"/>
                      <a:pt x="4541021" y="4336"/>
                    </a:cubicBezTo>
                    <a:cubicBezTo>
                      <a:pt x="4543797" y="7112"/>
                      <a:pt x="4545357" y="10877"/>
                      <a:pt x="4545357" y="14804"/>
                    </a:cubicBezTo>
                    <a:lnTo>
                      <a:pt x="4545357" y="2423596"/>
                    </a:lnTo>
                    <a:cubicBezTo>
                      <a:pt x="4545357" y="2431772"/>
                      <a:pt x="4538729" y="2438400"/>
                      <a:pt x="4530553" y="2438400"/>
                    </a:cubicBezTo>
                    <a:lnTo>
                      <a:pt x="14804" y="2438400"/>
                    </a:lnTo>
                    <a:cubicBezTo>
                      <a:pt x="10877" y="2438400"/>
                      <a:pt x="7112" y="2436840"/>
                      <a:pt x="4336" y="2434064"/>
                    </a:cubicBezTo>
                    <a:cubicBezTo>
                      <a:pt x="1560" y="2431288"/>
                      <a:pt x="0" y="2427523"/>
                      <a:pt x="0" y="2423596"/>
                    </a:cubicBezTo>
                    <a:lnTo>
                      <a:pt x="0" y="14804"/>
                    </a:lnTo>
                    <a:cubicBezTo>
                      <a:pt x="0" y="10877"/>
                      <a:pt x="1560" y="7112"/>
                      <a:pt x="4336" y="4336"/>
                    </a:cubicBezTo>
                    <a:cubicBezTo>
                      <a:pt x="7112" y="1560"/>
                      <a:pt x="10877" y="0"/>
                      <a:pt x="1480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333333"/>
                </a:solidFill>
                <a:prstDash val="solid"/>
                <a:round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76200"/>
                <a:ext cx="4545357" cy="2514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8"/>
                  </a:lnSpc>
                </a:pPr>
                <a:r>
                  <a:rPr lang="en-US" sz="2200" spc="-90">
                    <a:solidFill>
                      <a:srgbClr val="FFFFFF"/>
                    </a:solidFill>
                    <a:latin typeface="JASO Sans"/>
                    <a:ea typeface="JASO Sans"/>
                    <a:cs typeface="JASO Sans"/>
                    <a:sym typeface="JASO Sans"/>
                  </a:rPr>
                  <a:t>ㄲㄲ</a:t>
                </a:r>
              </a:p>
            </p:txBody>
          </p:sp>
        </p:grpSp>
      </p:grpSp>
      <p:sp>
        <p:nvSpPr>
          <p:cNvPr id="9" name="Freeform 9"/>
          <p:cNvSpPr/>
          <p:nvPr/>
        </p:nvSpPr>
        <p:spPr>
          <a:xfrm rot="-5400000">
            <a:off x="17104554" y="827085"/>
            <a:ext cx="90727" cy="403229"/>
          </a:xfrm>
          <a:custGeom>
            <a:avLst/>
            <a:gdLst/>
            <a:ahLst/>
            <a:cxnLst/>
            <a:rect l="l" t="t" r="r" b="b"/>
            <a:pathLst>
              <a:path w="90727" h="403229">
                <a:moveTo>
                  <a:pt x="0" y="0"/>
                </a:moveTo>
                <a:lnTo>
                  <a:pt x="90726" y="0"/>
                </a:lnTo>
                <a:lnTo>
                  <a:pt x="90726" y="403230"/>
                </a:lnTo>
                <a:lnTo>
                  <a:pt x="0" y="4032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10" name="Group 10"/>
          <p:cNvGrpSpPr/>
          <p:nvPr/>
        </p:nvGrpSpPr>
        <p:grpSpPr>
          <a:xfrm>
            <a:off x="1339871" y="1267781"/>
            <a:ext cx="710270" cy="712421"/>
            <a:chOff x="0" y="0"/>
            <a:chExt cx="187067" cy="18763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87067" cy="187633"/>
            </a:xfrm>
            <a:custGeom>
              <a:avLst/>
              <a:gdLst/>
              <a:ahLst/>
              <a:cxnLst/>
              <a:rect l="l" t="t" r="r" b="b"/>
              <a:pathLst>
                <a:path w="187067" h="187633">
                  <a:moveTo>
                    <a:pt x="93533" y="0"/>
                  </a:moveTo>
                  <a:lnTo>
                    <a:pt x="93533" y="0"/>
                  </a:lnTo>
                  <a:cubicBezTo>
                    <a:pt x="145191" y="0"/>
                    <a:pt x="187067" y="41876"/>
                    <a:pt x="187067" y="93533"/>
                  </a:cubicBezTo>
                  <a:lnTo>
                    <a:pt x="187067" y="94100"/>
                  </a:lnTo>
                  <a:cubicBezTo>
                    <a:pt x="187067" y="118907"/>
                    <a:pt x="177213" y="142697"/>
                    <a:pt x="159672" y="160238"/>
                  </a:cubicBezTo>
                  <a:cubicBezTo>
                    <a:pt x="142131" y="177779"/>
                    <a:pt x="118340" y="187633"/>
                    <a:pt x="93533" y="187633"/>
                  </a:cubicBezTo>
                  <a:lnTo>
                    <a:pt x="93533" y="187633"/>
                  </a:lnTo>
                  <a:cubicBezTo>
                    <a:pt x="41876" y="187633"/>
                    <a:pt x="0" y="145757"/>
                    <a:pt x="0" y="94100"/>
                  </a:cubicBezTo>
                  <a:lnTo>
                    <a:pt x="0" y="93533"/>
                  </a:lnTo>
                  <a:cubicBezTo>
                    <a:pt x="0" y="68727"/>
                    <a:pt x="9854" y="44936"/>
                    <a:pt x="27395" y="27395"/>
                  </a:cubicBezTo>
                  <a:cubicBezTo>
                    <a:pt x="44936" y="9854"/>
                    <a:pt x="68727" y="0"/>
                    <a:pt x="93533" y="0"/>
                  </a:cubicBezTo>
                  <a:close/>
                </a:path>
              </a:pathLst>
            </a:custGeom>
            <a:solidFill>
              <a:srgbClr val="8DDAC8"/>
            </a:solidFill>
            <a:ln w="28575" cap="sq">
              <a:solidFill>
                <a:srgbClr val="333333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187067" cy="2447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66"/>
                </a:lnSpc>
              </a:pPr>
              <a:endParaRPr/>
            </a:p>
          </p:txBody>
        </p:sp>
      </p:grpSp>
      <p:sp>
        <p:nvSpPr>
          <p:cNvPr id="13" name="AutoShape 13"/>
          <p:cNvSpPr/>
          <p:nvPr/>
        </p:nvSpPr>
        <p:spPr>
          <a:xfrm flipV="1">
            <a:off x="1339698" y="2443184"/>
            <a:ext cx="15608605" cy="0"/>
          </a:xfrm>
          <a:prstGeom prst="line">
            <a:avLst/>
          </a:prstGeom>
          <a:ln w="19050" cap="flat">
            <a:solidFill>
              <a:srgbClr val="33333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TextBox 14"/>
          <p:cNvSpPr txBox="1"/>
          <p:nvPr/>
        </p:nvSpPr>
        <p:spPr>
          <a:xfrm rot="-18144">
            <a:off x="2289393" y="1192192"/>
            <a:ext cx="9732485" cy="8315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6414"/>
              </a:lnSpc>
              <a:spcBef>
                <a:spcPct val="0"/>
              </a:spcBef>
            </a:pPr>
            <a:r>
              <a:rPr lang="en-US" sz="5676" spc="-283" dirty="0" err="1">
                <a:solidFill>
                  <a:srgbClr val="33333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우리사주조합</a:t>
            </a:r>
            <a:r>
              <a:rPr lang="en-US" sz="5676" spc="-283" dirty="0">
                <a:solidFill>
                  <a:srgbClr val="33333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 </a:t>
            </a:r>
            <a:r>
              <a:rPr lang="en-US" sz="5676" spc="-283" dirty="0" err="1">
                <a:solidFill>
                  <a:srgbClr val="33333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가입</a:t>
            </a:r>
            <a:r>
              <a:rPr lang="en-US" sz="5676" spc="-283" dirty="0">
                <a:solidFill>
                  <a:srgbClr val="33333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 및 </a:t>
            </a:r>
            <a:r>
              <a:rPr lang="en-US" sz="5676" spc="-283" dirty="0" err="1">
                <a:solidFill>
                  <a:srgbClr val="33333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탈퇴</a:t>
            </a:r>
            <a:r>
              <a:rPr lang="en-US" sz="5676" spc="-283" dirty="0">
                <a:solidFill>
                  <a:srgbClr val="33333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(</a:t>
            </a:r>
            <a:r>
              <a:rPr lang="ko-KR" altLang="en-US" sz="5676" spc="-283" dirty="0">
                <a:solidFill>
                  <a:srgbClr val="33333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자격</a:t>
            </a:r>
            <a:r>
              <a:rPr lang="en-US" altLang="ko-KR" sz="5676" spc="-283" dirty="0">
                <a:solidFill>
                  <a:srgbClr val="33333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)</a:t>
            </a:r>
            <a:endParaRPr lang="en-US" sz="5676" spc="-283" dirty="0">
              <a:solidFill>
                <a:srgbClr val="333333"/>
              </a:solidFill>
              <a:latin typeface="210 국민체조"/>
              <a:ea typeface="210 국민체조"/>
              <a:cs typeface="210 국민체조"/>
              <a:sym typeface="210 국민체조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173591" y="1414452"/>
            <a:ext cx="1042830" cy="3656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00"/>
              </a:lnSpc>
            </a:pPr>
            <a:r>
              <a:rPr lang="en-US" sz="2416" b="1" spc="-62" dirty="0">
                <a:solidFill>
                  <a:srgbClr val="33333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2</a:t>
            </a: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D5387C9D-35F3-40AB-99A0-6F9AA7158F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9350" y="2599157"/>
            <a:ext cx="13449300" cy="6781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2374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14924" y="513776"/>
            <a:ext cx="17258151" cy="9391650"/>
            <a:chOff x="0" y="0"/>
            <a:chExt cx="23010868" cy="125222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77800"/>
              <a:ext cx="23010868" cy="12344400"/>
              <a:chOff x="0" y="0"/>
              <a:chExt cx="4545357" cy="24384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545357" cy="2438400"/>
              </a:xfrm>
              <a:custGeom>
                <a:avLst/>
                <a:gdLst/>
                <a:ahLst/>
                <a:cxnLst/>
                <a:rect l="l" t="t" r="r" b="b"/>
                <a:pathLst>
                  <a:path w="4545357" h="2438400">
                    <a:moveTo>
                      <a:pt x="17944" y="0"/>
                    </a:moveTo>
                    <a:lnTo>
                      <a:pt x="4527413" y="0"/>
                    </a:lnTo>
                    <a:cubicBezTo>
                      <a:pt x="4537323" y="0"/>
                      <a:pt x="4545357" y="8034"/>
                      <a:pt x="4545357" y="17944"/>
                    </a:cubicBezTo>
                    <a:lnTo>
                      <a:pt x="4545357" y="2420456"/>
                    </a:lnTo>
                    <a:cubicBezTo>
                      <a:pt x="4545357" y="2430366"/>
                      <a:pt x="4537323" y="2438400"/>
                      <a:pt x="4527413" y="2438400"/>
                    </a:cubicBezTo>
                    <a:lnTo>
                      <a:pt x="17944" y="2438400"/>
                    </a:lnTo>
                    <a:cubicBezTo>
                      <a:pt x="8034" y="2438400"/>
                      <a:pt x="0" y="2430366"/>
                      <a:pt x="0" y="2420456"/>
                    </a:cubicBezTo>
                    <a:lnTo>
                      <a:pt x="0" y="17944"/>
                    </a:lnTo>
                    <a:cubicBezTo>
                      <a:pt x="0" y="8034"/>
                      <a:pt x="8034" y="0"/>
                      <a:pt x="17944" y="0"/>
                    </a:cubicBezTo>
                    <a:close/>
                  </a:path>
                </a:pathLst>
              </a:custGeom>
              <a:solidFill>
                <a:srgbClr val="E5E5E5"/>
              </a:solidFill>
              <a:ln w="38100" cap="rnd">
                <a:solidFill>
                  <a:srgbClr val="333333"/>
                </a:solidFill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76200"/>
                <a:ext cx="4545357" cy="2514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8"/>
                  </a:lnSpc>
                </a:pPr>
                <a:r>
                  <a:rPr lang="en-US" sz="2200" spc="-90">
                    <a:solidFill>
                      <a:srgbClr val="FFFFFF"/>
                    </a:solidFill>
                    <a:latin typeface="JASO Sans"/>
                    <a:ea typeface="JASO Sans"/>
                    <a:cs typeface="JASO Sans"/>
                    <a:sym typeface="JASO Sans"/>
                  </a:rPr>
                  <a:t>ㄲㄲ</a:t>
                </a:r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23010868" cy="12344400"/>
              <a:chOff x="0" y="0"/>
              <a:chExt cx="4545357" cy="24384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545357" cy="2438400"/>
              </a:xfrm>
              <a:custGeom>
                <a:avLst/>
                <a:gdLst/>
                <a:ahLst/>
                <a:cxnLst/>
                <a:rect l="l" t="t" r="r" b="b"/>
                <a:pathLst>
                  <a:path w="4545357" h="2438400">
                    <a:moveTo>
                      <a:pt x="14804" y="0"/>
                    </a:moveTo>
                    <a:lnTo>
                      <a:pt x="4530553" y="0"/>
                    </a:lnTo>
                    <a:cubicBezTo>
                      <a:pt x="4534479" y="0"/>
                      <a:pt x="4538245" y="1560"/>
                      <a:pt x="4541021" y="4336"/>
                    </a:cubicBezTo>
                    <a:cubicBezTo>
                      <a:pt x="4543797" y="7112"/>
                      <a:pt x="4545357" y="10877"/>
                      <a:pt x="4545357" y="14804"/>
                    </a:cubicBezTo>
                    <a:lnTo>
                      <a:pt x="4545357" y="2423596"/>
                    </a:lnTo>
                    <a:cubicBezTo>
                      <a:pt x="4545357" y="2431772"/>
                      <a:pt x="4538729" y="2438400"/>
                      <a:pt x="4530553" y="2438400"/>
                    </a:cubicBezTo>
                    <a:lnTo>
                      <a:pt x="14804" y="2438400"/>
                    </a:lnTo>
                    <a:cubicBezTo>
                      <a:pt x="10877" y="2438400"/>
                      <a:pt x="7112" y="2436840"/>
                      <a:pt x="4336" y="2434064"/>
                    </a:cubicBezTo>
                    <a:cubicBezTo>
                      <a:pt x="1560" y="2431288"/>
                      <a:pt x="0" y="2427523"/>
                      <a:pt x="0" y="2423596"/>
                    </a:cubicBezTo>
                    <a:lnTo>
                      <a:pt x="0" y="14804"/>
                    </a:lnTo>
                    <a:cubicBezTo>
                      <a:pt x="0" y="10877"/>
                      <a:pt x="1560" y="7112"/>
                      <a:pt x="4336" y="4336"/>
                    </a:cubicBezTo>
                    <a:cubicBezTo>
                      <a:pt x="7112" y="1560"/>
                      <a:pt x="10877" y="0"/>
                      <a:pt x="1480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333333"/>
                </a:solidFill>
                <a:prstDash val="solid"/>
                <a:round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76200"/>
                <a:ext cx="4545357" cy="2514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8"/>
                  </a:lnSpc>
                </a:pPr>
                <a:r>
                  <a:rPr lang="en-US" sz="2200" spc="-90">
                    <a:solidFill>
                      <a:srgbClr val="FFFFFF"/>
                    </a:solidFill>
                    <a:latin typeface="JASO Sans"/>
                    <a:ea typeface="JASO Sans"/>
                    <a:cs typeface="JASO Sans"/>
                    <a:sym typeface="JASO Sans"/>
                  </a:rPr>
                  <a:t>ㄲㄲ</a:t>
                </a:r>
              </a:p>
            </p:txBody>
          </p:sp>
        </p:grpSp>
      </p:grpSp>
      <p:sp>
        <p:nvSpPr>
          <p:cNvPr id="9" name="Freeform 9"/>
          <p:cNvSpPr/>
          <p:nvPr/>
        </p:nvSpPr>
        <p:spPr>
          <a:xfrm rot="-5400000">
            <a:off x="17104554" y="827085"/>
            <a:ext cx="90727" cy="403229"/>
          </a:xfrm>
          <a:custGeom>
            <a:avLst/>
            <a:gdLst/>
            <a:ahLst/>
            <a:cxnLst/>
            <a:rect l="l" t="t" r="r" b="b"/>
            <a:pathLst>
              <a:path w="90727" h="403229">
                <a:moveTo>
                  <a:pt x="0" y="0"/>
                </a:moveTo>
                <a:lnTo>
                  <a:pt x="90726" y="0"/>
                </a:lnTo>
                <a:lnTo>
                  <a:pt x="90726" y="403230"/>
                </a:lnTo>
                <a:lnTo>
                  <a:pt x="0" y="4032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10" name="Group 10"/>
          <p:cNvGrpSpPr/>
          <p:nvPr/>
        </p:nvGrpSpPr>
        <p:grpSpPr>
          <a:xfrm>
            <a:off x="1339871" y="1267781"/>
            <a:ext cx="710270" cy="712421"/>
            <a:chOff x="0" y="0"/>
            <a:chExt cx="187067" cy="18763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87067" cy="187633"/>
            </a:xfrm>
            <a:custGeom>
              <a:avLst/>
              <a:gdLst/>
              <a:ahLst/>
              <a:cxnLst/>
              <a:rect l="l" t="t" r="r" b="b"/>
              <a:pathLst>
                <a:path w="187067" h="187633">
                  <a:moveTo>
                    <a:pt x="93533" y="0"/>
                  </a:moveTo>
                  <a:lnTo>
                    <a:pt x="93533" y="0"/>
                  </a:lnTo>
                  <a:cubicBezTo>
                    <a:pt x="145191" y="0"/>
                    <a:pt x="187067" y="41876"/>
                    <a:pt x="187067" y="93533"/>
                  </a:cubicBezTo>
                  <a:lnTo>
                    <a:pt x="187067" y="94100"/>
                  </a:lnTo>
                  <a:cubicBezTo>
                    <a:pt x="187067" y="118907"/>
                    <a:pt x="177213" y="142697"/>
                    <a:pt x="159672" y="160238"/>
                  </a:cubicBezTo>
                  <a:cubicBezTo>
                    <a:pt x="142131" y="177779"/>
                    <a:pt x="118340" y="187633"/>
                    <a:pt x="93533" y="187633"/>
                  </a:cubicBezTo>
                  <a:lnTo>
                    <a:pt x="93533" y="187633"/>
                  </a:lnTo>
                  <a:cubicBezTo>
                    <a:pt x="41876" y="187633"/>
                    <a:pt x="0" y="145757"/>
                    <a:pt x="0" y="94100"/>
                  </a:cubicBezTo>
                  <a:lnTo>
                    <a:pt x="0" y="93533"/>
                  </a:lnTo>
                  <a:cubicBezTo>
                    <a:pt x="0" y="68727"/>
                    <a:pt x="9854" y="44936"/>
                    <a:pt x="27395" y="27395"/>
                  </a:cubicBezTo>
                  <a:cubicBezTo>
                    <a:pt x="44936" y="9854"/>
                    <a:pt x="68727" y="0"/>
                    <a:pt x="93533" y="0"/>
                  </a:cubicBezTo>
                  <a:close/>
                </a:path>
              </a:pathLst>
            </a:custGeom>
            <a:solidFill>
              <a:srgbClr val="8DDAC8"/>
            </a:solidFill>
            <a:ln w="28575" cap="sq">
              <a:solidFill>
                <a:srgbClr val="333333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187067" cy="2447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66"/>
                </a:lnSpc>
              </a:pPr>
              <a:endParaRPr/>
            </a:p>
          </p:txBody>
        </p:sp>
      </p:grpSp>
      <p:sp>
        <p:nvSpPr>
          <p:cNvPr id="13" name="AutoShape 13"/>
          <p:cNvSpPr/>
          <p:nvPr/>
        </p:nvSpPr>
        <p:spPr>
          <a:xfrm flipV="1">
            <a:off x="1339698" y="2443184"/>
            <a:ext cx="15608605" cy="0"/>
          </a:xfrm>
          <a:prstGeom prst="line">
            <a:avLst/>
          </a:prstGeom>
          <a:ln w="19050" cap="flat">
            <a:solidFill>
              <a:srgbClr val="33333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TextBox 14"/>
          <p:cNvSpPr txBox="1"/>
          <p:nvPr/>
        </p:nvSpPr>
        <p:spPr>
          <a:xfrm rot="-18144">
            <a:off x="2289392" y="1191940"/>
            <a:ext cx="9827735" cy="8315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6414"/>
              </a:lnSpc>
              <a:spcBef>
                <a:spcPct val="0"/>
              </a:spcBef>
            </a:pPr>
            <a:r>
              <a:rPr lang="en-US" sz="5676" spc="-283" dirty="0" err="1">
                <a:solidFill>
                  <a:srgbClr val="33333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우리사주</a:t>
            </a:r>
            <a:r>
              <a:rPr lang="en-US" sz="5676" spc="-283" dirty="0">
                <a:solidFill>
                  <a:srgbClr val="33333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 </a:t>
            </a:r>
            <a:r>
              <a:rPr lang="en-US" sz="5676" spc="-283" dirty="0" err="1">
                <a:solidFill>
                  <a:srgbClr val="33333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생애주기</a:t>
            </a:r>
            <a:endParaRPr lang="en-US" sz="5676" spc="-283" dirty="0">
              <a:solidFill>
                <a:srgbClr val="333333"/>
              </a:solidFill>
              <a:latin typeface="210 국민체조"/>
              <a:ea typeface="210 국민체조"/>
              <a:cs typeface="210 국민체조"/>
              <a:sym typeface="210 국민체조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173591" y="1414452"/>
            <a:ext cx="1042830" cy="3656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00"/>
              </a:lnSpc>
            </a:pPr>
            <a:r>
              <a:rPr lang="en-US" sz="2416" b="1" spc="-62" dirty="0">
                <a:solidFill>
                  <a:srgbClr val="33333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3</a:t>
            </a:r>
          </a:p>
        </p:txBody>
      </p:sp>
      <p:pic>
        <p:nvPicPr>
          <p:cNvPr id="51" name="그림 50">
            <a:extLst>
              <a:ext uri="{FF2B5EF4-FFF2-40B4-BE49-F238E27FC236}">
                <a16:creationId xmlns:a16="http://schemas.microsoft.com/office/drawing/2014/main" id="{DFE531E6-E8C8-4F3D-A2B8-91DC0E69819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5006" y="2947140"/>
            <a:ext cx="14422185" cy="6360894"/>
          </a:xfrm>
          <a:prstGeom prst="rect">
            <a:avLst/>
          </a:prstGeom>
        </p:spPr>
      </p:pic>
      <p:sp>
        <p:nvSpPr>
          <p:cNvPr id="17" name="TextBox 32">
            <a:extLst>
              <a:ext uri="{FF2B5EF4-FFF2-40B4-BE49-F238E27FC236}">
                <a16:creationId xmlns:a16="http://schemas.microsoft.com/office/drawing/2014/main" id="{AB6BDBB6-67F3-4AFF-8A62-9E8232FD3312}"/>
              </a:ext>
            </a:extLst>
          </p:cNvPr>
          <p:cNvSpPr txBox="1"/>
          <p:nvPr/>
        </p:nvSpPr>
        <p:spPr>
          <a:xfrm>
            <a:off x="10972800" y="9441384"/>
            <a:ext cx="6671034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37489" lvl="1" algn="r"/>
            <a:r>
              <a:rPr lang="en-US" altLang="ko-KR" sz="1600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※ </a:t>
            </a:r>
            <a:r>
              <a:rPr lang="ko-KR" altLang="en-US" sz="1600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본 생애주기 설명은 당사 우리사주조합 재건 구조</a:t>
            </a:r>
            <a:r>
              <a:rPr lang="en-US" altLang="ko-KR" sz="1600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(</a:t>
            </a:r>
            <a:r>
              <a:rPr lang="ko-KR" altLang="en-US" sz="1600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유상취득 기준</a:t>
            </a:r>
            <a:r>
              <a:rPr lang="en-US" altLang="ko-KR" sz="1600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)</a:t>
            </a:r>
            <a:r>
              <a:rPr lang="ko-KR" altLang="en-US" sz="1600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를 전제로 함</a:t>
            </a:r>
            <a:endParaRPr lang="en-US" altLang="ko-KR" sz="1600" spc="-76" dirty="0">
              <a:solidFill>
                <a:srgbClr val="333333">
                  <a:alpha val="80000"/>
                </a:srgbClr>
              </a:solidFill>
              <a:latin typeface="JASO Sans"/>
              <a:ea typeface="JASO Sans"/>
              <a:cs typeface="JASO Sans"/>
              <a:sym typeface="JASO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14924" y="513776"/>
            <a:ext cx="17258151" cy="9391650"/>
            <a:chOff x="0" y="0"/>
            <a:chExt cx="23010868" cy="125222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77800"/>
              <a:ext cx="23010868" cy="12344400"/>
              <a:chOff x="0" y="0"/>
              <a:chExt cx="4545357" cy="24384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545357" cy="2438400"/>
              </a:xfrm>
              <a:custGeom>
                <a:avLst/>
                <a:gdLst/>
                <a:ahLst/>
                <a:cxnLst/>
                <a:rect l="l" t="t" r="r" b="b"/>
                <a:pathLst>
                  <a:path w="4545357" h="2438400">
                    <a:moveTo>
                      <a:pt x="17944" y="0"/>
                    </a:moveTo>
                    <a:lnTo>
                      <a:pt x="4527413" y="0"/>
                    </a:lnTo>
                    <a:cubicBezTo>
                      <a:pt x="4537323" y="0"/>
                      <a:pt x="4545357" y="8034"/>
                      <a:pt x="4545357" y="17944"/>
                    </a:cubicBezTo>
                    <a:lnTo>
                      <a:pt x="4545357" y="2420456"/>
                    </a:lnTo>
                    <a:cubicBezTo>
                      <a:pt x="4545357" y="2430366"/>
                      <a:pt x="4537323" y="2438400"/>
                      <a:pt x="4527413" y="2438400"/>
                    </a:cubicBezTo>
                    <a:lnTo>
                      <a:pt x="17944" y="2438400"/>
                    </a:lnTo>
                    <a:cubicBezTo>
                      <a:pt x="8034" y="2438400"/>
                      <a:pt x="0" y="2430366"/>
                      <a:pt x="0" y="2420456"/>
                    </a:cubicBezTo>
                    <a:lnTo>
                      <a:pt x="0" y="17944"/>
                    </a:lnTo>
                    <a:cubicBezTo>
                      <a:pt x="0" y="8034"/>
                      <a:pt x="8034" y="0"/>
                      <a:pt x="17944" y="0"/>
                    </a:cubicBezTo>
                    <a:close/>
                  </a:path>
                </a:pathLst>
              </a:custGeom>
              <a:solidFill>
                <a:srgbClr val="E5E5E5"/>
              </a:solidFill>
              <a:ln w="38100" cap="rnd">
                <a:solidFill>
                  <a:srgbClr val="333333"/>
                </a:solidFill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76200"/>
                <a:ext cx="4545357" cy="2514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8"/>
                  </a:lnSpc>
                </a:pPr>
                <a:r>
                  <a:rPr lang="en-US" sz="2200" spc="-90">
                    <a:solidFill>
                      <a:srgbClr val="FFFFFF"/>
                    </a:solidFill>
                    <a:latin typeface="JASO Sans"/>
                    <a:ea typeface="JASO Sans"/>
                    <a:cs typeface="JASO Sans"/>
                    <a:sym typeface="JASO Sans"/>
                  </a:rPr>
                  <a:t>ㄲㄲ</a:t>
                </a:r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23010868" cy="12344400"/>
              <a:chOff x="0" y="0"/>
              <a:chExt cx="4545357" cy="24384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545357" cy="2438400"/>
              </a:xfrm>
              <a:custGeom>
                <a:avLst/>
                <a:gdLst/>
                <a:ahLst/>
                <a:cxnLst/>
                <a:rect l="l" t="t" r="r" b="b"/>
                <a:pathLst>
                  <a:path w="4545357" h="2438400">
                    <a:moveTo>
                      <a:pt x="14804" y="0"/>
                    </a:moveTo>
                    <a:lnTo>
                      <a:pt x="4530553" y="0"/>
                    </a:lnTo>
                    <a:cubicBezTo>
                      <a:pt x="4534479" y="0"/>
                      <a:pt x="4538245" y="1560"/>
                      <a:pt x="4541021" y="4336"/>
                    </a:cubicBezTo>
                    <a:cubicBezTo>
                      <a:pt x="4543797" y="7112"/>
                      <a:pt x="4545357" y="10877"/>
                      <a:pt x="4545357" y="14804"/>
                    </a:cubicBezTo>
                    <a:lnTo>
                      <a:pt x="4545357" y="2423596"/>
                    </a:lnTo>
                    <a:cubicBezTo>
                      <a:pt x="4545357" y="2431772"/>
                      <a:pt x="4538729" y="2438400"/>
                      <a:pt x="4530553" y="2438400"/>
                    </a:cubicBezTo>
                    <a:lnTo>
                      <a:pt x="14804" y="2438400"/>
                    </a:lnTo>
                    <a:cubicBezTo>
                      <a:pt x="10877" y="2438400"/>
                      <a:pt x="7112" y="2436840"/>
                      <a:pt x="4336" y="2434064"/>
                    </a:cubicBezTo>
                    <a:cubicBezTo>
                      <a:pt x="1560" y="2431288"/>
                      <a:pt x="0" y="2427523"/>
                      <a:pt x="0" y="2423596"/>
                    </a:cubicBezTo>
                    <a:lnTo>
                      <a:pt x="0" y="14804"/>
                    </a:lnTo>
                    <a:cubicBezTo>
                      <a:pt x="0" y="10877"/>
                      <a:pt x="1560" y="7112"/>
                      <a:pt x="4336" y="4336"/>
                    </a:cubicBezTo>
                    <a:cubicBezTo>
                      <a:pt x="7112" y="1560"/>
                      <a:pt x="10877" y="0"/>
                      <a:pt x="1480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333333"/>
                </a:solidFill>
                <a:prstDash val="solid"/>
                <a:round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76200"/>
                <a:ext cx="4545357" cy="2514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8"/>
                  </a:lnSpc>
                </a:pPr>
                <a:r>
                  <a:rPr lang="en-US" sz="2200" spc="-90">
                    <a:solidFill>
                      <a:srgbClr val="FFFFFF"/>
                    </a:solidFill>
                    <a:latin typeface="JASO Sans"/>
                    <a:ea typeface="JASO Sans"/>
                    <a:cs typeface="JASO Sans"/>
                    <a:sym typeface="JASO Sans"/>
                  </a:rPr>
                  <a:t>ㄲㄲ</a:t>
                </a:r>
              </a:p>
            </p:txBody>
          </p:sp>
        </p:grpSp>
      </p:grpSp>
      <p:sp>
        <p:nvSpPr>
          <p:cNvPr id="9" name="Freeform 9"/>
          <p:cNvSpPr/>
          <p:nvPr/>
        </p:nvSpPr>
        <p:spPr>
          <a:xfrm rot="-5400000">
            <a:off x="17104554" y="827085"/>
            <a:ext cx="90727" cy="403229"/>
          </a:xfrm>
          <a:custGeom>
            <a:avLst/>
            <a:gdLst/>
            <a:ahLst/>
            <a:cxnLst/>
            <a:rect l="l" t="t" r="r" b="b"/>
            <a:pathLst>
              <a:path w="90727" h="403229">
                <a:moveTo>
                  <a:pt x="0" y="0"/>
                </a:moveTo>
                <a:lnTo>
                  <a:pt x="90726" y="0"/>
                </a:lnTo>
                <a:lnTo>
                  <a:pt x="90726" y="403230"/>
                </a:lnTo>
                <a:lnTo>
                  <a:pt x="0" y="4032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10" name="Group 10"/>
          <p:cNvGrpSpPr/>
          <p:nvPr/>
        </p:nvGrpSpPr>
        <p:grpSpPr>
          <a:xfrm>
            <a:off x="1339871" y="1267781"/>
            <a:ext cx="710270" cy="712421"/>
            <a:chOff x="0" y="0"/>
            <a:chExt cx="187067" cy="18763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87067" cy="187633"/>
            </a:xfrm>
            <a:custGeom>
              <a:avLst/>
              <a:gdLst/>
              <a:ahLst/>
              <a:cxnLst/>
              <a:rect l="l" t="t" r="r" b="b"/>
              <a:pathLst>
                <a:path w="187067" h="187633">
                  <a:moveTo>
                    <a:pt x="93533" y="0"/>
                  </a:moveTo>
                  <a:lnTo>
                    <a:pt x="93533" y="0"/>
                  </a:lnTo>
                  <a:cubicBezTo>
                    <a:pt x="145191" y="0"/>
                    <a:pt x="187067" y="41876"/>
                    <a:pt x="187067" y="93533"/>
                  </a:cubicBezTo>
                  <a:lnTo>
                    <a:pt x="187067" y="94100"/>
                  </a:lnTo>
                  <a:cubicBezTo>
                    <a:pt x="187067" y="118907"/>
                    <a:pt x="177213" y="142697"/>
                    <a:pt x="159672" y="160238"/>
                  </a:cubicBezTo>
                  <a:cubicBezTo>
                    <a:pt x="142131" y="177779"/>
                    <a:pt x="118340" y="187633"/>
                    <a:pt x="93533" y="187633"/>
                  </a:cubicBezTo>
                  <a:lnTo>
                    <a:pt x="93533" y="187633"/>
                  </a:lnTo>
                  <a:cubicBezTo>
                    <a:pt x="41876" y="187633"/>
                    <a:pt x="0" y="145757"/>
                    <a:pt x="0" y="94100"/>
                  </a:cubicBezTo>
                  <a:lnTo>
                    <a:pt x="0" y="93533"/>
                  </a:lnTo>
                  <a:cubicBezTo>
                    <a:pt x="0" y="68727"/>
                    <a:pt x="9854" y="44936"/>
                    <a:pt x="27395" y="27395"/>
                  </a:cubicBezTo>
                  <a:cubicBezTo>
                    <a:pt x="44936" y="9854"/>
                    <a:pt x="68727" y="0"/>
                    <a:pt x="93533" y="0"/>
                  </a:cubicBezTo>
                  <a:close/>
                </a:path>
              </a:pathLst>
            </a:custGeom>
            <a:solidFill>
              <a:srgbClr val="8DDAC8"/>
            </a:solidFill>
            <a:ln w="28575" cap="sq">
              <a:solidFill>
                <a:srgbClr val="333333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187067" cy="2447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66"/>
                </a:lnSpc>
              </a:pPr>
              <a:endParaRPr/>
            </a:p>
          </p:txBody>
        </p:sp>
      </p:grpSp>
      <p:sp>
        <p:nvSpPr>
          <p:cNvPr id="13" name="AutoShape 13"/>
          <p:cNvSpPr/>
          <p:nvPr/>
        </p:nvSpPr>
        <p:spPr>
          <a:xfrm flipV="1">
            <a:off x="1339698" y="2443184"/>
            <a:ext cx="15608605" cy="0"/>
          </a:xfrm>
          <a:prstGeom prst="line">
            <a:avLst/>
          </a:prstGeom>
          <a:ln w="19050" cap="flat">
            <a:solidFill>
              <a:srgbClr val="33333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TextBox 14"/>
          <p:cNvSpPr txBox="1"/>
          <p:nvPr/>
        </p:nvSpPr>
        <p:spPr>
          <a:xfrm rot="-18144">
            <a:off x="2289392" y="1191940"/>
            <a:ext cx="9827735" cy="8315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6414"/>
              </a:lnSpc>
              <a:spcBef>
                <a:spcPct val="0"/>
              </a:spcBef>
            </a:pPr>
            <a:r>
              <a:rPr lang="ko-KR" altLang="en-US" sz="5676" spc="-283" dirty="0">
                <a:solidFill>
                  <a:srgbClr val="33333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우리사주조합 혜택</a:t>
            </a:r>
            <a:endParaRPr lang="en-US" sz="5676" spc="-283" dirty="0">
              <a:solidFill>
                <a:srgbClr val="333333"/>
              </a:solidFill>
              <a:latin typeface="210 국민체조"/>
              <a:ea typeface="210 국민체조"/>
              <a:cs typeface="210 국민체조"/>
              <a:sym typeface="210 국민체조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173591" y="1414452"/>
            <a:ext cx="1042830" cy="3656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00"/>
              </a:lnSpc>
            </a:pPr>
            <a:r>
              <a:rPr lang="en-US" sz="2416" b="1" spc="-62" dirty="0">
                <a:solidFill>
                  <a:srgbClr val="33333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4</a:t>
            </a:r>
          </a:p>
        </p:txBody>
      </p:sp>
      <p:graphicFrame>
        <p:nvGraphicFramePr>
          <p:cNvPr id="28" name="다이어그램 27">
            <a:extLst>
              <a:ext uri="{FF2B5EF4-FFF2-40B4-BE49-F238E27FC236}">
                <a16:creationId xmlns:a16="http://schemas.microsoft.com/office/drawing/2014/main" id="{5D847083-36F6-49B1-AED0-D0521B2AC0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80086802"/>
              </p:ext>
            </p:extLst>
          </p:nvPr>
        </p:nvGraphicFramePr>
        <p:xfrm>
          <a:off x="4191000" y="4882285"/>
          <a:ext cx="10058400" cy="36902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grpSp>
        <p:nvGrpSpPr>
          <p:cNvPr id="33" name="Group 16">
            <a:extLst>
              <a:ext uri="{FF2B5EF4-FFF2-40B4-BE49-F238E27FC236}">
                <a16:creationId xmlns:a16="http://schemas.microsoft.com/office/drawing/2014/main" id="{153BE3B4-58B5-4580-A5FE-B767C39CF2C3}"/>
              </a:ext>
            </a:extLst>
          </p:cNvPr>
          <p:cNvGrpSpPr/>
          <p:nvPr/>
        </p:nvGrpSpPr>
        <p:grpSpPr>
          <a:xfrm>
            <a:off x="1739955" y="2941923"/>
            <a:ext cx="7353346" cy="2691392"/>
            <a:chOff x="0" y="0"/>
            <a:chExt cx="533001" cy="195083"/>
          </a:xfrm>
        </p:grpSpPr>
        <p:sp>
          <p:nvSpPr>
            <p:cNvPr id="34" name="Freeform 17">
              <a:extLst>
                <a:ext uri="{FF2B5EF4-FFF2-40B4-BE49-F238E27FC236}">
                  <a16:creationId xmlns:a16="http://schemas.microsoft.com/office/drawing/2014/main" id="{9749AB1A-116D-4B01-86A8-844146C6E623}"/>
                </a:ext>
              </a:extLst>
            </p:cNvPr>
            <p:cNvSpPr/>
            <p:nvPr/>
          </p:nvSpPr>
          <p:spPr>
            <a:xfrm>
              <a:off x="0" y="0"/>
              <a:ext cx="533001" cy="195083"/>
            </a:xfrm>
            <a:custGeom>
              <a:avLst/>
              <a:gdLst/>
              <a:ahLst/>
              <a:cxnLst/>
              <a:rect l="l" t="t" r="r" b="b"/>
              <a:pathLst>
                <a:path w="533001" h="195083">
                  <a:moveTo>
                    <a:pt x="11581" y="0"/>
                  </a:moveTo>
                  <a:lnTo>
                    <a:pt x="521420" y="0"/>
                  </a:lnTo>
                  <a:cubicBezTo>
                    <a:pt x="524491" y="0"/>
                    <a:pt x="527437" y="1220"/>
                    <a:pt x="529609" y="3392"/>
                  </a:cubicBezTo>
                  <a:cubicBezTo>
                    <a:pt x="531781" y="5564"/>
                    <a:pt x="533001" y="8510"/>
                    <a:pt x="533001" y="11581"/>
                  </a:cubicBezTo>
                  <a:lnTo>
                    <a:pt x="533001" y="183502"/>
                  </a:lnTo>
                  <a:cubicBezTo>
                    <a:pt x="533001" y="186574"/>
                    <a:pt x="531781" y="189519"/>
                    <a:pt x="529609" y="191691"/>
                  </a:cubicBezTo>
                  <a:cubicBezTo>
                    <a:pt x="527437" y="193863"/>
                    <a:pt x="524491" y="195083"/>
                    <a:pt x="521420" y="195083"/>
                  </a:cubicBezTo>
                  <a:lnTo>
                    <a:pt x="11581" y="195083"/>
                  </a:lnTo>
                  <a:cubicBezTo>
                    <a:pt x="5185" y="195083"/>
                    <a:pt x="0" y="189898"/>
                    <a:pt x="0" y="183502"/>
                  </a:cubicBezTo>
                  <a:lnTo>
                    <a:pt x="0" y="11581"/>
                  </a:lnTo>
                  <a:cubicBezTo>
                    <a:pt x="0" y="8510"/>
                    <a:pt x="1220" y="5564"/>
                    <a:pt x="3392" y="3392"/>
                  </a:cubicBezTo>
                  <a:cubicBezTo>
                    <a:pt x="5564" y="1220"/>
                    <a:pt x="8510" y="0"/>
                    <a:pt x="11581" y="0"/>
                  </a:cubicBezTo>
                  <a:close/>
                </a:path>
              </a:pathLst>
            </a:custGeom>
            <a:solidFill>
              <a:srgbClr val="F3F3F3"/>
            </a:solidFill>
            <a:ln w="28575" cap="sq">
              <a:solidFill>
                <a:srgbClr val="333333"/>
              </a:solidFill>
              <a:prstDash val="solid"/>
              <a:miter/>
            </a:ln>
          </p:spPr>
        </p:sp>
        <p:sp>
          <p:nvSpPr>
            <p:cNvPr id="35" name="TextBox 18">
              <a:extLst>
                <a:ext uri="{FF2B5EF4-FFF2-40B4-BE49-F238E27FC236}">
                  <a16:creationId xmlns:a16="http://schemas.microsoft.com/office/drawing/2014/main" id="{21274451-A51E-4408-80F0-FD15E300BDC4}"/>
                </a:ext>
              </a:extLst>
            </p:cNvPr>
            <p:cNvSpPr txBox="1"/>
            <p:nvPr/>
          </p:nvSpPr>
          <p:spPr>
            <a:xfrm>
              <a:off x="0" y="-57150"/>
              <a:ext cx="533001" cy="252233"/>
            </a:xfrm>
            <a:prstGeom prst="rect">
              <a:avLst/>
            </a:prstGeom>
          </p:spPr>
          <p:txBody>
            <a:bodyPr lIns="37850" tIns="37850" rIns="37850" bIns="37850" rtlCol="0" anchor="ctr"/>
            <a:lstStyle/>
            <a:p>
              <a:pPr marL="0" lvl="0" indent="0" algn="ctr">
                <a:lnSpc>
                  <a:spcPts val="3466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6" name="TextBox 28">
            <a:extLst>
              <a:ext uri="{FF2B5EF4-FFF2-40B4-BE49-F238E27FC236}">
                <a16:creationId xmlns:a16="http://schemas.microsoft.com/office/drawing/2014/main" id="{8BBBBBF8-54CD-494C-AE15-2253FF5D49EC}"/>
              </a:ext>
            </a:extLst>
          </p:cNvPr>
          <p:cNvSpPr txBox="1"/>
          <p:nvPr/>
        </p:nvSpPr>
        <p:spPr>
          <a:xfrm>
            <a:off x="2859951" y="3321230"/>
            <a:ext cx="4045246" cy="512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955"/>
              </a:lnSpc>
              <a:spcBef>
                <a:spcPct val="0"/>
              </a:spcBef>
            </a:pPr>
            <a:r>
              <a:rPr lang="ko-KR" altLang="en-US" sz="3500" spc="-175" dirty="0">
                <a:solidFill>
                  <a:srgbClr val="33333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출연금 소득공제</a:t>
            </a:r>
            <a:endParaRPr lang="en-US" sz="3500" spc="-175" dirty="0">
              <a:solidFill>
                <a:srgbClr val="333333"/>
              </a:solidFill>
              <a:latin typeface="210 국민체조"/>
              <a:ea typeface="210 국민체조"/>
              <a:cs typeface="210 국민체조"/>
              <a:sym typeface="210 국민체조"/>
            </a:endParaRPr>
          </a:p>
        </p:txBody>
      </p:sp>
      <p:sp>
        <p:nvSpPr>
          <p:cNvPr id="37" name="TextBox 32">
            <a:extLst>
              <a:ext uri="{FF2B5EF4-FFF2-40B4-BE49-F238E27FC236}">
                <a16:creationId xmlns:a16="http://schemas.microsoft.com/office/drawing/2014/main" id="{6B0543FA-43DC-447A-8CB5-4127B711A0A1}"/>
              </a:ext>
            </a:extLst>
          </p:cNvPr>
          <p:cNvSpPr txBox="1"/>
          <p:nvPr/>
        </p:nvSpPr>
        <p:spPr>
          <a:xfrm>
            <a:off x="2381914" y="4152900"/>
            <a:ext cx="6175912" cy="12445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9" lvl="1" indent="-237490" algn="l">
              <a:lnSpc>
                <a:spcPct val="200000"/>
              </a:lnSpc>
              <a:buFont typeface="Arial"/>
              <a:buChar char="•"/>
            </a:pP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연간 출연금액의 </a:t>
            </a:r>
            <a:r>
              <a:rPr lang="en-US" altLang="ko-KR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400</a:t>
            </a: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만원까지 소득공제 가능</a:t>
            </a:r>
            <a:endParaRPr lang="en-US" altLang="ko-KR" sz="2199" spc="-76" dirty="0">
              <a:solidFill>
                <a:srgbClr val="333333">
                  <a:alpha val="80000"/>
                </a:srgbClr>
              </a:solidFill>
              <a:latin typeface="JASO Sans"/>
              <a:ea typeface="JASO Sans"/>
              <a:cs typeface="JASO Sans"/>
              <a:sym typeface="JASO Sans"/>
            </a:endParaRPr>
          </a:p>
          <a:p>
            <a:pPr marL="474979" lvl="1" indent="-237490" algn="l">
              <a:lnSpc>
                <a:spcPct val="200000"/>
              </a:lnSpc>
              <a:buFont typeface="Arial"/>
              <a:buChar char="•"/>
            </a:pP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소득공제 받은 주식은 인출 시 근로소득으로 과세</a:t>
            </a:r>
            <a:endParaRPr lang="en-US" spc="-76" dirty="0">
              <a:solidFill>
                <a:srgbClr val="333333">
                  <a:alpha val="80000"/>
                </a:srgbClr>
              </a:solidFill>
              <a:latin typeface="JASO Sans"/>
              <a:ea typeface="JASO Sans"/>
              <a:cs typeface="JASO Sans"/>
              <a:sym typeface="JASO Sans"/>
            </a:endParaRPr>
          </a:p>
        </p:txBody>
      </p:sp>
      <p:sp>
        <p:nvSpPr>
          <p:cNvPr id="38" name="AutoShape 36">
            <a:extLst>
              <a:ext uri="{FF2B5EF4-FFF2-40B4-BE49-F238E27FC236}">
                <a16:creationId xmlns:a16="http://schemas.microsoft.com/office/drawing/2014/main" id="{BDD986F9-C2DB-4F56-B0E2-EEC5C0A90B5D}"/>
              </a:ext>
            </a:extLst>
          </p:cNvPr>
          <p:cNvSpPr/>
          <p:nvPr/>
        </p:nvSpPr>
        <p:spPr>
          <a:xfrm>
            <a:off x="2157012" y="4093880"/>
            <a:ext cx="6711633" cy="0"/>
          </a:xfrm>
          <a:prstGeom prst="line">
            <a:avLst/>
          </a:prstGeom>
          <a:ln w="9525" cap="rnd">
            <a:solidFill>
              <a:srgbClr val="222222"/>
            </a:solidFill>
            <a:prstDash val="solid"/>
            <a:headEnd type="none" w="sm" len="sm"/>
            <a:tailEnd type="none" w="sm" len="sm"/>
          </a:ln>
        </p:spPr>
      </p:sp>
      <p:graphicFrame>
        <p:nvGraphicFramePr>
          <p:cNvPr id="46" name="Table 16">
            <a:extLst>
              <a:ext uri="{FF2B5EF4-FFF2-40B4-BE49-F238E27FC236}">
                <a16:creationId xmlns:a16="http://schemas.microsoft.com/office/drawing/2014/main" id="{1B70BE47-96D0-46FA-BF95-867C5BFF1B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744736"/>
              </p:ext>
            </p:extLst>
          </p:nvPr>
        </p:nvGraphicFramePr>
        <p:xfrm>
          <a:off x="2209800" y="7658100"/>
          <a:ext cx="12039600" cy="1604548"/>
        </p:xfrm>
        <a:graphic>
          <a:graphicData uri="http://schemas.openxmlformats.org/drawingml/2006/table">
            <a:tbl>
              <a:tblPr/>
              <a:tblGrid>
                <a:gridCol w="21973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807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80739">
                  <a:extLst>
                    <a:ext uri="{9D8B030D-6E8A-4147-A177-3AD203B41FA5}">
                      <a16:colId xmlns:a16="http://schemas.microsoft.com/office/drawing/2014/main" val="1334737225"/>
                    </a:ext>
                  </a:extLst>
                </a:gridCol>
                <a:gridCol w="32807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4585">
                <a:tc>
                  <a:txBody>
                    <a:bodyPr/>
                    <a:lstStyle/>
                    <a:p>
                      <a:pPr algn="ctr">
                        <a:lnSpc>
                          <a:spcPts val="963"/>
                        </a:lnSpc>
                        <a:defRPr/>
                      </a:pPr>
                      <a:r>
                        <a:rPr lang="ko-KR" altLang="en-US" sz="1930" b="1" dirty="0">
                          <a:solidFill>
                            <a:srgbClr val="222222"/>
                          </a:solidFill>
                          <a:latin typeface="JASO Sans Bold"/>
                          <a:ea typeface="JASO Sans Bold"/>
                          <a:sym typeface="JASO Sans Bold"/>
                        </a:rPr>
                        <a:t>소득공제</a:t>
                      </a:r>
                      <a:endParaRPr lang="en-US" sz="1930" dirty="0"/>
                    </a:p>
                  </a:txBody>
                  <a:tcPr marL="193111" marR="193111" marT="193111" marB="193111" anchor="ctr">
                    <a:lnL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/>
                      </a:pPr>
                      <a:r>
                        <a:rPr lang="ko-KR" altLang="en-US" sz="1930" dirty="0">
                          <a:solidFill>
                            <a:srgbClr val="222222"/>
                          </a:solidFill>
                          <a:latin typeface="JASO Sans"/>
                          <a:ea typeface="JASO Sans"/>
                          <a:sym typeface="JASO Sans"/>
                        </a:rPr>
                        <a:t>연말정산 시 소득공제</a:t>
                      </a:r>
                      <a:br>
                        <a:rPr lang="en-US" sz="1930" dirty="0">
                          <a:solidFill>
                            <a:srgbClr val="222222"/>
                          </a:solidFill>
                          <a:latin typeface="JASO Sans"/>
                          <a:ea typeface="JASO Sans"/>
                          <a:sym typeface="JASO Sans"/>
                        </a:rPr>
                      </a:br>
                      <a:r>
                        <a:rPr lang="en-US" sz="1600" dirty="0">
                          <a:solidFill>
                            <a:srgbClr val="222222"/>
                          </a:solidFill>
                          <a:latin typeface="JASO Sans"/>
                          <a:ea typeface="JASO Sans"/>
                          <a:sym typeface="JASO Sans"/>
                        </a:rPr>
                        <a:t>(</a:t>
                      </a:r>
                      <a:r>
                        <a:rPr lang="ko-KR" altLang="en-US" sz="1600" dirty="0">
                          <a:solidFill>
                            <a:srgbClr val="222222"/>
                          </a:solidFill>
                          <a:latin typeface="JASO Sans"/>
                          <a:ea typeface="JASO Sans"/>
                          <a:sym typeface="JASO Sans"/>
                        </a:rPr>
                        <a:t>연 </a:t>
                      </a:r>
                      <a:r>
                        <a:rPr lang="en-US" altLang="ko-KR" sz="1600" dirty="0">
                          <a:solidFill>
                            <a:srgbClr val="222222"/>
                          </a:solidFill>
                          <a:latin typeface="JASO Sans"/>
                          <a:ea typeface="JASO Sans"/>
                          <a:sym typeface="JASO Sans"/>
                        </a:rPr>
                        <a:t>400</a:t>
                      </a:r>
                      <a:r>
                        <a:rPr lang="ko-KR" altLang="en-US" sz="1600" dirty="0">
                          <a:solidFill>
                            <a:srgbClr val="222222"/>
                          </a:solidFill>
                          <a:latin typeface="JASO Sans"/>
                          <a:ea typeface="JASO Sans"/>
                          <a:sym typeface="JASO Sans"/>
                        </a:rPr>
                        <a:t>만원 한도</a:t>
                      </a:r>
                      <a:r>
                        <a:rPr lang="en-US" altLang="ko-KR" sz="1600" dirty="0">
                          <a:solidFill>
                            <a:srgbClr val="222222"/>
                          </a:solidFill>
                          <a:latin typeface="JASO Sans"/>
                          <a:ea typeface="JASO Sans"/>
                          <a:sym typeface="JASO Sans"/>
                        </a:rPr>
                        <a:t>)</a:t>
                      </a:r>
                      <a:endParaRPr lang="en-US" sz="1930" dirty="0"/>
                    </a:p>
                  </a:txBody>
                  <a:tcPr marL="193111" marR="193111" marT="193111" marB="193111" anchor="ctr">
                    <a:lnL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930" dirty="0">
                          <a:solidFill>
                            <a:srgbClr val="222222"/>
                          </a:solidFill>
                          <a:latin typeface="JASO Sans"/>
                          <a:ea typeface="JASO Sans"/>
                          <a:sym typeface="JASO Sans"/>
                        </a:rPr>
                        <a:t>의무예탁기간 적용</a:t>
                      </a:r>
                      <a:endParaRPr lang="en-US" altLang="ko-KR" sz="1930" dirty="0">
                        <a:solidFill>
                          <a:srgbClr val="222222"/>
                        </a:solidFill>
                        <a:latin typeface="JASO Sans"/>
                        <a:ea typeface="JASO Sans"/>
                        <a:sym typeface="JASO San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>
                          <a:solidFill>
                            <a:srgbClr val="222222"/>
                          </a:solidFill>
                          <a:latin typeface="JASO Sans"/>
                          <a:ea typeface="JASO Sans"/>
                          <a:sym typeface="JASO Sans"/>
                        </a:rPr>
                        <a:t>(</a:t>
                      </a:r>
                      <a:r>
                        <a:rPr lang="ko-KR" altLang="en-US" sz="1600" dirty="0">
                          <a:solidFill>
                            <a:srgbClr val="222222"/>
                          </a:solidFill>
                          <a:latin typeface="JASO Sans"/>
                          <a:ea typeface="JASO Sans"/>
                          <a:sym typeface="JASO Sans"/>
                        </a:rPr>
                        <a:t>최소 </a:t>
                      </a:r>
                      <a:r>
                        <a:rPr lang="en-US" altLang="ko-KR" sz="1600" dirty="0">
                          <a:solidFill>
                            <a:srgbClr val="222222"/>
                          </a:solidFill>
                          <a:latin typeface="JASO Sans"/>
                          <a:ea typeface="JASO Sans"/>
                          <a:sym typeface="JASO Sans"/>
                        </a:rPr>
                        <a:t>1</a:t>
                      </a:r>
                      <a:r>
                        <a:rPr lang="ko-KR" altLang="en-US" sz="1600" dirty="0">
                          <a:solidFill>
                            <a:srgbClr val="222222"/>
                          </a:solidFill>
                          <a:latin typeface="JASO Sans"/>
                          <a:ea typeface="JASO Sans"/>
                          <a:sym typeface="JASO Sans"/>
                        </a:rPr>
                        <a:t>년</a:t>
                      </a:r>
                      <a:r>
                        <a:rPr lang="en-US" altLang="ko-KR" sz="1600" dirty="0">
                          <a:solidFill>
                            <a:srgbClr val="222222"/>
                          </a:solidFill>
                          <a:latin typeface="JASO Sans"/>
                          <a:ea typeface="JASO Sans"/>
                          <a:sym typeface="JASO Sans"/>
                        </a:rPr>
                        <a:t>, </a:t>
                      </a:r>
                      <a:r>
                        <a:rPr lang="ko-KR" altLang="en-US" sz="1600" dirty="0">
                          <a:solidFill>
                            <a:srgbClr val="222222"/>
                          </a:solidFill>
                          <a:latin typeface="JASO Sans"/>
                          <a:ea typeface="JASO Sans"/>
                          <a:sym typeface="JASO Sans"/>
                        </a:rPr>
                        <a:t>인출은 조합 규약에 따름</a:t>
                      </a:r>
                      <a:r>
                        <a:rPr lang="en-US" altLang="ko-KR" sz="1600" dirty="0">
                          <a:solidFill>
                            <a:srgbClr val="222222"/>
                          </a:solidFill>
                          <a:latin typeface="JASO Sans"/>
                          <a:ea typeface="JASO Sans"/>
                          <a:sym typeface="JASO Sans"/>
                        </a:rPr>
                        <a:t>)</a:t>
                      </a:r>
                      <a:endParaRPr lang="en-US" altLang="ko-KR" sz="1600" dirty="0"/>
                    </a:p>
                  </a:txBody>
                  <a:tcPr marL="193111" marR="193111" marT="193111" marB="193111" anchor="ctr">
                    <a:lnL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/>
                      </a:pPr>
                      <a:r>
                        <a:rPr lang="ko-KR" altLang="en-US" sz="1930" dirty="0">
                          <a:solidFill>
                            <a:srgbClr val="222222"/>
                          </a:solidFill>
                          <a:latin typeface="JASO Sans"/>
                          <a:ea typeface="JASO Sans"/>
                          <a:sym typeface="JASO Sans"/>
                        </a:rPr>
                        <a:t>소득공제 환수 대상 아님</a:t>
                      </a:r>
                      <a:endParaRPr lang="en-US" sz="1930" dirty="0"/>
                    </a:p>
                  </a:txBody>
                  <a:tcPr marL="193111" marR="193111" marT="193111" marB="193111" anchor="ctr">
                    <a:lnL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4585">
                <a:tc>
                  <a:txBody>
                    <a:bodyPr/>
                    <a:lstStyle/>
                    <a:p>
                      <a:pPr algn="ctr">
                        <a:lnSpc>
                          <a:spcPts val="963"/>
                        </a:lnSpc>
                        <a:defRPr/>
                      </a:pPr>
                      <a:r>
                        <a:rPr lang="ko-KR" altLang="en-US" sz="1930" b="1" dirty="0">
                          <a:solidFill>
                            <a:srgbClr val="222222"/>
                          </a:solidFill>
                          <a:latin typeface="JASO Sans Bold"/>
                          <a:ea typeface="JASO Sans Bold"/>
                          <a:sym typeface="JASO Sans Bold"/>
                        </a:rPr>
                        <a:t>과세구조</a:t>
                      </a:r>
                      <a:endParaRPr lang="en-US" sz="1930" dirty="0"/>
                    </a:p>
                  </a:txBody>
                  <a:tcPr marL="193111" marR="193111" marT="193111" marB="193111" anchor="ctr">
                    <a:lnL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/>
                      </a:pPr>
                      <a:r>
                        <a:rPr lang="ko-KR" altLang="en-US" sz="1930" dirty="0">
                          <a:solidFill>
                            <a:srgbClr val="222222"/>
                          </a:solidFill>
                          <a:latin typeface="JASO Sans"/>
                          <a:ea typeface="JASO Sans"/>
                          <a:cs typeface="JASO Sans"/>
                          <a:sym typeface="JASO Sans"/>
                        </a:rPr>
                        <a:t>출연 시 과세 없음 </a:t>
                      </a:r>
                      <a:endParaRPr lang="en-US" sz="1930" dirty="0"/>
                    </a:p>
                  </a:txBody>
                  <a:tcPr marL="193111" marR="193111" marT="193111" marB="193111" anchor="ctr">
                    <a:lnL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defRPr/>
                      </a:pPr>
                      <a:r>
                        <a:rPr lang="ko-KR" altLang="en-US" sz="1930" kern="1200" dirty="0">
                          <a:solidFill>
                            <a:srgbClr val="222222"/>
                          </a:solidFill>
                          <a:latin typeface="JASO Sans"/>
                          <a:ea typeface="JASO Sans"/>
                        </a:rPr>
                        <a:t>보유 중 과세 없음</a:t>
                      </a:r>
                      <a:endParaRPr lang="en-US" sz="1930" kern="1200" dirty="0">
                        <a:solidFill>
                          <a:srgbClr val="222222"/>
                        </a:solidFill>
                        <a:latin typeface="JASO Sans"/>
                        <a:ea typeface="JASO Sans"/>
                      </a:endParaRPr>
                    </a:p>
                  </a:txBody>
                  <a:tcPr marL="193111" marR="193111" marT="193111" marB="193111" anchor="ctr">
                    <a:lnL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/>
                      </a:pPr>
                      <a:r>
                        <a:rPr lang="ko-KR" altLang="en-US" sz="1930" dirty="0">
                          <a:solidFill>
                            <a:srgbClr val="222222"/>
                          </a:solidFill>
                          <a:latin typeface="JASO Sans"/>
                          <a:ea typeface="JASO Sans"/>
                          <a:cs typeface="JASO Sans"/>
                          <a:sym typeface="JASO Sans"/>
                        </a:rPr>
                        <a:t>인출 시 과세</a:t>
                      </a:r>
                      <a:r>
                        <a:rPr lang="en-US" altLang="ko-KR" sz="1600" baseline="30000" dirty="0">
                          <a:solidFill>
                            <a:srgbClr val="222222"/>
                          </a:solidFill>
                          <a:latin typeface="JASO Sans"/>
                          <a:ea typeface="JASO Sans"/>
                          <a:cs typeface="JASO Sans"/>
                          <a:sym typeface="JASO Sans"/>
                        </a:rPr>
                        <a:t>(※)</a:t>
                      </a:r>
                      <a:endParaRPr lang="en-US" sz="1600" baseline="30000" dirty="0"/>
                    </a:p>
                  </a:txBody>
                  <a:tcPr marL="193111" marR="193111" marT="193111" marB="193111">
                    <a:lnL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47" name="Group 16">
            <a:extLst>
              <a:ext uri="{FF2B5EF4-FFF2-40B4-BE49-F238E27FC236}">
                <a16:creationId xmlns:a16="http://schemas.microsoft.com/office/drawing/2014/main" id="{3605A709-D848-4DD4-8681-C3007639D726}"/>
              </a:ext>
            </a:extLst>
          </p:cNvPr>
          <p:cNvGrpSpPr/>
          <p:nvPr/>
        </p:nvGrpSpPr>
        <p:grpSpPr>
          <a:xfrm>
            <a:off x="9344129" y="2941923"/>
            <a:ext cx="7353346" cy="2691392"/>
            <a:chOff x="0" y="0"/>
            <a:chExt cx="533001" cy="195083"/>
          </a:xfrm>
        </p:grpSpPr>
        <p:sp>
          <p:nvSpPr>
            <p:cNvPr id="48" name="Freeform 17">
              <a:extLst>
                <a:ext uri="{FF2B5EF4-FFF2-40B4-BE49-F238E27FC236}">
                  <a16:creationId xmlns:a16="http://schemas.microsoft.com/office/drawing/2014/main" id="{B3171D28-0CAD-4C42-91D0-F00DEFE87C99}"/>
                </a:ext>
              </a:extLst>
            </p:cNvPr>
            <p:cNvSpPr/>
            <p:nvPr/>
          </p:nvSpPr>
          <p:spPr>
            <a:xfrm>
              <a:off x="0" y="0"/>
              <a:ext cx="533001" cy="195083"/>
            </a:xfrm>
            <a:custGeom>
              <a:avLst/>
              <a:gdLst/>
              <a:ahLst/>
              <a:cxnLst/>
              <a:rect l="l" t="t" r="r" b="b"/>
              <a:pathLst>
                <a:path w="533001" h="195083">
                  <a:moveTo>
                    <a:pt x="11581" y="0"/>
                  </a:moveTo>
                  <a:lnTo>
                    <a:pt x="521420" y="0"/>
                  </a:lnTo>
                  <a:cubicBezTo>
                    <a:pt x="524491" y="0"/>
                    <a:pt x="527437" y="1220"/>
                    <a:pt x="529609" y="3392"/>
                  </a:cubicBezTo>
                  <a:cubicBezTo>
                    <a:pt x="531781" y="5564"/>
                    <a:pt x="533001" y="8510"/>
                    <a:pt x="533001" y="11581"/>
                  </a:cubicBezTo>
                  <a:lnTo>
                    <a:pt x="533001" y="183502"/>
                  </a:lnTo>
                  <a:cubicBezTo>
                    <a:pt x="533001" y="186574"/>
                    <a:pt x="531781" y="189519"/>
                    <a:pt x="529609" y="191691"/>
                  </a:cubicBezTo>
                  <a:cubicBezTo>
                    <a:pt x="527437" y="193863"/>
                    <a:pt x="524491" y="195083"/>
                    <a:pt x="521420" y="195083"/>
                  </a:cubicBezTo>
                  <a:lnTo>
                    <a:pt x="11581" y="195083"/>
                  </a:lnTo>
                  <a:cubicBezTo>
                    <a:pt x="5185" y="195083"/>
                    <a:pt x="0" y="189898"/>
                    <a:pt x="0" y="183502"/>
                  </a:cubicBezTo>
                  <a:lnTo>
                    <a:pt x="0" y="11581"/>
                  </a:lnTo>
                  <a:cubicBezTo>
                    <a:pt x="0" y="8510"/>
                    <a:pt x="1220" y="5564"/>
                    <a:pt x="3392" y="3392"/>
                  </a:cubicBezTo>
                  <a:cubicBezTo>
                    <a:pt x="5564" y="1220"/>
                    <a:pt x="8510" y="0"/>
                    <a:pt x="11581" y="0"/>
                  </a:cubicBezTo>
                  <a:close/>
                </a:path>
              </a:pathLst>
            </a:custGeom>
            <a:solidFill>
              <a:srgbClr val="F3F3F3"/>
            </a:solidFill>
            <a:ln w="28575" cap="sq">
              <a:solidFill>
                <a:srgbClr val="333333"/>
              </a:solidFill>
              <a:prstDash val="solid"/>
              <a:miter/>
            </a:ln>
          </p:spPr>
        </p:sp>
        <p:sp>
          <p:nvSpPr>
            <p:cNvPr id="49" name="TextBox 18">
              <a:extLst>
                <a:ext uri="{FF2B5EF4-FFF2-40B4-BE49-F238E27FC236}">
                  <a16:creationId xmlns:a16="http://schemas.microsoft.com/office/drawing/2014/main" id="{FF04E7C1-F169-4AE2-A8E9-70E020A09DA7}"/>
                </a:ext>
              </a:extLst>
            </p:cNvPr>
            <p:cNvSpPr txBox="1"/>
            <p:nvPr/>
          </p:nvSpPr>
          <p:spPr>
            <a:xfrm>
              <a:off x="0" y="-57150"/>
              <a:ext cx="533001" cy="252233"/>
            </a:xfrm>
            <a:prstGeom prst="rect">
              <a:avLst/>
            </a:prstGeom>
          </p:spPr>
          <p:txBody>
            <a:bodyPr lIns="37850" tIns="37850" rIns="37850" bIns="37850" rtlCol="0" anchor="ctr"/>
            <a:lstStyle/>
            <a:p>
              <a:pPr marL="0" lvl="0" indent="0" algn="ctr">
                <a:lnSpc>
                  <a:spcPts val="3466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0" name="TextBox 28">
            <a:extLst>
              <a:ext uri="{FF2B5EF4-FFF2-40B4-BE49-F238E27FC236}">
                <a16:creationId xmlns:a16="http://schemas.microsoft.com/office/drawing/2014/main" id="{3FDCCEE8-ED43-42A7-B73E-A125941A8FBD}"/>
              </a:ext>
            </a:extLst>
          </p:cNvPr>
          <p:cNvSpPr txBox="1"/>
          <p:nvPr/>
        </p:nvSpPr>
        <p:spPr>
          <a:xfrm>
            <a:off x="10464125" y="3321230"/>
            <a:ext cx="4045246" cy="512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955"/>
              </a:lnSpc>
              <a:spcBef>
                <a:spcPct val="0"/>
              </a:spcBef>
            </a:pPr>
            <a:r>
              <a:rPr lang="ko-KR" altLang="en-US" sz="3500" spc="-175" dirty="0">
                <a:solidFill>
                  <a:srgbClr val="33333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우리사주 과세 구조</a:t>
            </a:r>
            <a:endParaRPr lang="en-US" sz="3500" spc="-175" dirty="0">
              <a:solidFill>
                <a:srgbClr val="333333"/>
              </a:solidFill>
              <a:latin typeface="210 국민체조"/>
              <a:ea typeface="210 국민체조"/>
              <a:cs typeface="210 국민체조"/>
              <a:sym typeface="210 국민체조"/>
            </a:endParaRPr>
          </a:p>
        </p:txBody>
      </p:sp>
      <p:sp>
        <p:nvSpPr>
          <p:cNvPr id="51" name="TextBox 32">
            <a:extLst>
              <a:ext uri="{FF2B5EF4-FFF2-40B4-BE49-F238E27FC236}">
                <a16:creationId xmlns:a16="http://schemas.microsoft.com/office/drawing/2014/main" id="{8FC13833-21B1-4020-B3B7-E54CADEDD9F1}"/>
              </a:ext>
            </a:extLst>
          </p:cNvPr>
          <p:cNvSpPr txBox="1"/>
          <p:nvPr/>
        </p:nvSpPr>
        <p:spPr>
          <a:xfrm>
            <a:off x="9986087" y="4152900"/>
            <a:ext cx="6962215" cy="12445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74979" lvl="1" indent="-237490" algn="l">
              <a:lnSpc>
                <a:spcPct val="200000"/>
              </a:lnSpc>
              <a:buFont typeface="Arial"/>
              <a:buChar char="•"/>
            </a:pP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취득</a:t>
            </a:r>
            <a:r>
              <a:rPr lang="en-US" altLang="ko-KR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, </a:t>
            </a: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보유</a:t>
            </a:r>
            <a:r>
              <a:rPr lang="en-US" altLang="ko-KR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단계 </a:t>
            </a:r>
            <a:r>
              <a:rPr lang="en-US" altLang="ko-KR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:</a:t>
            </a: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과세되지 않음</a:t>
            </a:r>
            <a:endParaRPr lang="en-US" altLang="ko-KR" sz="2199" spc="-76" dirty="0">
              <a:solidFill>
                <a:srgbClr val="333333">
                  <a:alpha val="80000"/>
                </a:srgbClr>
              </a:solidFill>
              <a:latin typeface="JASO Sans"/>
              <a:ea typeface="JASO Sans"/>
              <a:cs typeface="JASO Sans"/>
              <a:sym typeface="JASO Sans"/>
            </a:endParaRPr>
          </a:p>
          <a:p>
            <a:pPr marL="474979" lvl="1" indent="-237490" algn="l">
              <a:lnSpc>
                <a:spcPct val="200000"/>
              </a:lnSpc>
              <a:buFont typeface="Arial"/>
              <a:buChar char="•"/>
            </a:pP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인출 단계</a:t>
            </a:r>
            <a:r>
              <a:rPr lang="en-US" altLang="ko-KR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(</a:t>
            </a: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현금화</a:t>
            </a:r>
            <a:r>
              <a:rPr lang="en-US" altLang="ko-KR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)</a:t>
            </a: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altLang="ko-KR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:</a:t>
            </a: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근로소득에 합산 회사에서 원천징수</a:t>
            </a:r>
            <a:endParaRPr lang="en-US" altLang="ko-KR" sz="2199" spc="-76" dirty="0">
              <a:solidFill>
                <a:srgbClr val="333333">
                  <a:alpha val="80000"/>
                </a:srgbClr>
              </a:solidFill>
              <a:latin typeface="JASO Sans"/>
              <a:ea typeface="JASO Sans"/>
              <a:cs typeface="JASO Sans"/>
              <a:sym typeface="JASO Sans"/>
            </a:endParaRPr>
          </a:p>
        </p:txBody>
      </p:sp>
      <p:sp>
        <p:nvSpPr>
          <p:cNvPr id="52" name="AutoShape 36">
            <a:extLst>
              <a:ext uri="{FF2B5EF4-FFF2-40B4-BE49-F238E27FC236}">
                <a16:creationId xmlns:a16="http://schemas.microsoft.com/office/drawing/2014/main" id="{B200B26A-6D7A-4C00-9BFB-4F3E2905D1D1}"/>
              </a:ext>
            </a:extLst>
          </p:cNvPr>
          <p:cNvSpPr/>
          <p:nvPr/>
        </p:nvSpPr>
        <p:spPr>
          <a:xfrm>
            <a:off x="9761186" y="4093880"/>
            <a:ext cx="6711633" cy="0"/>
          </a:xfrm>
          <a:prstGeom prst="line">
            <a:avLst/>
          </a:prstGeom>
          <a:ln w="9525" cap="rnd">
            <a:solidFill>
              <a:srgbClr val="22222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3" name="TextBox 32">
            <a:extLst>
              <a:ext uri="{FF2B5EF4-FFF2-40B4-BE49-F238E27FC236}">
                <a16:creationId xmlns:a16="http://schemas.microsoft.com/office/drawing/2014/main" id="{6BA2BE22-E38A-48DE-88CE-DD0E7076EA9D}"/>
              </a:ext>
            </a:extLst>
          </p:cNvPr>
          <p:cNvSpPr txBox="1"/>
          <p:nvPr/>
        </p:nvSpPr>
        <p:spPr>
          <a:xfrm>
            <a:off x="10820400" y="9352738"/>
            <a:ext cx="5147034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37489" lvl="1" algn="l"/>
            <a:r>
              <a:rPr lang="en-US" altLang="ko-KR" sz="1600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※ </a:t>
            </a:r>
            <a:r>
              <a:rPr lang="ko-KR" altLang="en-US" sz="1600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과세 금액은 취득가액과 인출 시점 시가 중 작은 금액 기준</a:t>
            </a:r>
            <a:r>
              <a:rPr lang="en-US" altLang="ko-KR" sz="1600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654149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14924" y="513776"/>
            <a:ext cx="17258151" cy="9391650"/>
            <a:chOff x="0" y="0"/>
            <a:chExt cx="23010868" cy="125222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77800"/>
              <a:ext cx="23010868" cy="12344400"/>
              <a:chOff x="0" y="0"/>
              <a:chExt cx="4545357" cy="24384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545357" cy="2438400"/>
              </a:xfrm>
              <a:custGeom>
                <a:avLst/>
                <a:gdLst/>
                <a:ahLst/>
                <a:cxnLst/>
                <a:rect l="l" t="t" r="r" b="b"/>
                <a:pathLst>
                  <a:path w="4545357" h="2438400">
                    <a:moveTo>
                      <a:pt x="17944" y="0"/>
                    </a:moveTo>
                    <a:lnTo>
                      <a:pt x="4527413" y="0"/>
                    </a:lnTo>
                    <a:cubicBezTo>
                      <a:pt x="4537323" y="0"/>
                      <a:pt x="4545357" y="8034"/>
                      <a:pt x="4545357" y="17944"/>
                    </a:cubicBezTo>
                    <a:lnTo>
                      <a:pt x="4545357" y="2420456"/>
                    </a:lnTo>
                    <a:cubicBezTo>
                      <a:pt x="4545357" y="2430366"/>
                      <a:pt x="4537323" y="2438400"/>
                      <a:pt x="4527413" y="2438400"/>
                    </a:cubicBezTo>
                    <a:lnTo>
                      <a:pt x="17944" y="2438400"/>
                    </a:lnTo>
                    <a:cubicBezTo>
                      <a:pt x="8034" y="2438400"/>
                      <a:pt x="0" y="2430366"/>
                      <a:pt x="0" y="2420456"/>
                    </a:cubicBezTo>
                    <a:lnTo>
                      <a:pt x="0" y="17944"/>
                    </a:lnTo>
                    <a:cubicBezTo>
                      <a:pt x="0" y="8034"/>
                      <a:pt x="8034" y="0"/>
                      <a:pt x="17944" y="0"/>
                    </a:cubicBezTo>
                    <a:close/>
                  </a:path>
                </a:pathLst>
              </a:custGeom>
              <a:solidFill>
                <a:srgbClr val="E5E5E5"/>
              </a:solidFill>
              <a:ln w="38100" cap="rnd">
                <a:solidFill>
                  <a:srgbClr val="333333"/>
                </a:solidFill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76200"/>
                <a:ext cx="4545357" cy="2514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8"/>
                  </a:lnSpc>
                </a:pPr>
                <a:r>
                  <a:rPr lang="en-US" sz="2200" spc="-90">
                    <a:solidFill>
                      <a:srgbClr val="FFFFFF"/>
                    </a:solidFill>
                    <a:latin typeface="JASO Sans"/>
                    <a:ea typeface="JASO Sans"/>
                    <a:cs typeface="JASO Sans"/>
                    <a:sym typeface="JASO Sans"/>
                  </a:rPr>
                  <a:t>ㄲㄲ</a:t>
                </a:r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23010868" cy="12344400"/>
              <a:chOff x="0" y="0"/>
              <a:chExt cx="4545357" cy="24384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545357" cy="2438400"/>
              </a:xfrm>
              <a:custGeom>
                <a:avLst/>
                <a:gdLst/>
                <a:ahLst/>
                <a:cxnLst/>
                <a:rect l="l" t="t" r="r" b="b"/>
                <a:pathLst>
                  <a:path w="4545357" h="2438400">
                    <a:moveTo>
                      <a:pt x="14804" y="0"/>
                    </a:moveTo>
                    <a:lnTo>
                      <a:pt x="4530553" y="0"/>
                    </a:lnTo>
                    <a:cubicBezTo>
                      <a:pt x="4534479" y="0"/>
                      <a:pt x="4538245" y="1560"/>
                      <a:pt x="4541021" y="4336"/>
                    </a:cubicBezTo>
                    <a:cubicBezTo>
                      <a:pt x="4543797" y="7112"/>
                      <a:pt x="4545357" y="10877"/>
                      <a:pt x="4545357" y="14804"/>
                    </a:cubicBezTo>
                    <a:lnTo>
                      <a:pt x="4545357" y="2423596"/>
                    </a:lnTo>
                    <a:cubicBezTo>
                      <a:pt x="4545357" y="2431772"/>
                      <a:pt x="4538729" y="2438400"/>
                      <a:pt x="4530553" y="2438400"/>
                    </a:cubicBezTo>
                    <a:lnTo>
                      <a:pt x="14804" y="2438400"/>
                    </a:lnTo>
                    <a:cubicBezTo>
                      <a:pt x="10877" y="2438400"/>
                      <a:pt x="7112" y="2436840"/>
                      <a:pt x="4336" y="2434064"/>
                    </a:cubicBezTo>
                    <a:cubicBezTo>
                      <a:pt x="1560" y="2431288"/>
                      <a:pt x="0" y="2427523"/>
                      <a:pt x="0" y="2423596"/>
                    </a:cubicBezTo>
                    <a:lnTo>
                      <a:pt x="0" y="14804"/>
                    </a:lnTo>
                    <a:cubicBezTo>
                      <a:pt x="0" y="10877"/>
                      <a:pt x="1560" y="7112"/>
                      <a:pt x="4336" y="4336"/>
                    </a:cubicBezTo>
                    <a:cubicBezTo>
                      <a:pt x="7112" y="1560"/>
                      <a:pt x="10877" y="0"/>
                      <a:pt x="1480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333333"/>
                </a:solidFill>
                <a:prstDash val="solid"/>
                <a:round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76200"/>
                <a:ext cx="4545357" cy="2514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8"/>
                  </a:lnSpc>
                </a:pPr>
                <a:r>
                  <a:rPr lang="en-US" sz="2200" spc="-90">
                    <a:solidFill>
                      <a:srgbClr val="FFFFFF"/>
                    </a:solidFill>
                    <a:latin typeface="JASO Sans"/>
                    <a:ea typeface="JASO Sans"/>
                    <a:cs typeface="JASO Sans"/>
                    <a:sym typeface="JASO Sans"/>
                  </a:rPr>
                  <a:t>ㄲㄲ</a:t>
                </a:r>
              </a:p>
            </p:txBody>
          </p:sp>
        </p:grpSp>
      </p:grpSp>
      <p:sp>
        <p:nvSpPr>
          <p:cNvPr id="9" name="Freeform 9"/>
          <p:cNvSpPr/>
          <p:nvPr/>
        </p:nvSpPr>
        <p:spPr>
          <a:xfrm rot="-5400000">
            <a:off x="17104554" y="827085"/>
            <a:ext cx="90727" cy="403229"/>
          </a:xfrm>
          <a:custGeom>
            <a:avLst/>
            <a:gdLst/>
            <a:ahLst/>
            <a:cxnLst/>
            <a:rect l="l" t="t" r="r" b="b"/>
            <a:pathLst>
              <a:path w="90727" h="403229">
                <a:moveTo>
                  <a:pt x="0" y="0"/>
                </a:moveTo>
                <a:lnTo>
                  <a:pt x="90726" y="0"/>
                </a:lnTo>
                <a:lnTo>
                  <a:pt x="90726" y="403230"/>
                </a:lnTo>
                <a:lnTo>
                  <a:pt x="0" y="4032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10" name="Group 10"/>
          <p:cNvGrpSpPr/>
          <p:nvPr/>
        </p:nvGrpSpPr>
        <p:grpSpPr>
          <a:xfrm>
            <a:off x="1339871" y="1267781"/>
            <a:ext cx="710270" cy="712421"/>
            <a:chOff x="0" y="0"/>
            <a:chExt cx="187067" cy="18763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87067" cy="187633"/>
            </a:xfrm>
            <a:custGeom>
              <a:avLst/>
              <a:gdLst/>
              <a:ahLst/>
              <a:cxnLst/>
              <a:rect l="l" t="t" r="r" b="b"/>
              <a:pathLst>
                <a:path w="187067" h="187633">
                  <a:moveTo>
                    <a:pt x="93533" y="0"/>
                  </a:moveTo>
                  <a:lnTo>
                    <a:pt x="93533" y="0"/>
                  </a:lnTo>
                  <a:cubicBezTo>
                    <a:pt x="145191" y="0"/>
                    <a:pt x="187067" y="41876"/>
                    <a:pt x="187067" y="93533"/>
                  </a:cubicBezTo>
                  <a:lnTo>
                    <a:pt x="187067" y="94100"/>
                  </a:lnTo>
                  <a:cubicBezTo>
                    <a:pt x="187067" y="118907"/>
                    <a:pt x="177213" y="142697"/>
                    <a:pt x="159672" y="160238"/>
                  </a:cubicBezTo>
                  <a:cubicBezTo>
                    <a:pt x="142131" y="177779"/>
                    <a:pt x="118340" y="187633"/>
                    <a:pt x="93533" y="187633"/>
                  </a:cubicBezTo>
                  <a:lnTo>
                    <a:pt x="93533" y="187633"/>
                  </a:lnTo>
                  <a:cubicBezTo>
                    <a:pt x="41876" y="187633"/>
                    <a:pt x="0" y="145757"/>
                    <a:pt x="0" y="94100"/>
                  </a:cubicBezTo>
                  <a:lnTo>
                    <a:pt x="0" y="93533"/>
                  </a:lnTo>
                  <a:cubicBezTo>
                    <a:pt x="0" y="68727"/>
                    <a:pt x="9854" y="44936"/>
                    <a:pt x="27395" y="27395"/>
                  </a:cubicBezTo>
                  <a:cubicBezTo>
                    <a:pt x="44936" y="9854"/>
                    <a:pt x="68727" y="0"/>
                    <a:pt x="93533" y="0"/>
                  </a:cubicBezTo>
                  <a:close/>
                </a:path>
              </a:pathLst>
            </a:custGeom>
            <a:solidFill>
              <a:srgbClr val="8DDAC8"/>
            </a:solidFill>
            <a:ln w="28575" cap="sq">
              <a:solidFill>
                <a:srgbClr val="333333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187067" cy="2447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66"/>
                </a:lnSpc>
              </a:pPr>
              <a:endParaRPr/>
            </a:p>
          </p:txBody>
        </p:sp>
      </p:grpSp>
      <p:sp>
        <p:nvSpPr>
          <p:cNvPr id="13" name="AutoShape 13"/>
          <p:cNvSpPr/>
          <p:nvPr/>
        </p:nvSpPr>
        <p:spPr>
          <a:xfrm flipV="1">
            <a:off x="1339698" y="2443184"/>
            <a:ext cx="15608605" cy="0"/>
          </a:xfrm>
          <a:prstGeom prst="line">
            <a:avLst/>
          </a:prstGeom>
          <a:ln w="19050" cap="flat">
            <a:solidFill>
              <a:srgbClr val="33333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TextBox 14"/>
          <p:cNvSpPr txBox="1"/>
          <p:nvPr/>
        </p:nvSpPr>
        <p:spPr>
          <a:xfrm rot="-18144">
            <a:off x="2289392" y="1191940"/>
            <a:ext cx="9827735" cy="8315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6414"/>
              </a:lnSpc>
              <a:spcBef>
                <a:spcPct val="0"/>
              </a:spcBef>
            </a:pPr>
            <a:r>
              <a:rPr lang="ko-KR" altLang="en-US" sz="5676" spc="-283" dirty="0">
                <a:solidFill>
                  <a:srgbClr val="33333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우리사주조합 혜택</a:t>
            </a:r>
            <a:endParaRPr lang="en-US" sz="5676" spc="-283" dirty="0">
              <a:solidFill>
                <a:srgbClr val="333333"/>
              </a:solidFill>
              <a:latin typeface="210 국민체조"/>
              <a:ea typeface="210 국민체조"/>
              <a:cs typeface="210 국민체조"/>
              <a:sym typeface="210 국민체조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173591" y="1414452"/>
            <a:ext cx="1042830" cy="3656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00"/>
              </a:lnSpc>
            </a:pPr>
            <a:r>
              <a:rPr lang="en-US" sz="2416" b="1" spc="-62" dirty="0">
                <a:solidFill>
                  <a:srgbClr val="33333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4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8BCADBE6-8FCD-4A8A-ACEE-F367CCE4AAA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0800" y="2647951"/>
            <a:ext cx="12324765" cy="6999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9873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14924" y="513776"/>
            <a:ext cx="17258151" cy="9391650"/>
            <a:chOff x="0" y="0"/>
            <a:chExt cx="23010868" cy="125222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77800"/>
              <a:ext cx="23010868" cy="12344400"/>
              <a:chOff x="0" y="0"/>
              <a:chExt cx="4545357" cy="24384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545357" cy="2438400"/>
              </a:xfrm>
              <a:custGeom>
                <a:avLst/>
                <a:gdLst/>
                <a:ahLst/>
                <a:cxnLst/>
                <a:rect l="l" t="t" r="r" b="b"/>
                <a:pathLst>
                  <a:path w="4545357" h="2438400">
                    <a:moveTo>
                      <a:pt x="17944" y="0"/>
                    </a:moveTo>
                    <a:lnTo>
                      <a:pt x="4527413" y="0"/>
                    </a:lnTo>
                    <a:cubicBezTo>
                      <a:pt x="4537323" y="0"/>
                      <a:pt x="4545357" y="8034"/>
                      <a:pt x="4545357" y="17944"/>
                    </a:cubicBezTo>
                    <a:lnTo>
                      <a:pt x="4545357" y="2420456"/>
                    </a:lnTo>
                    <a:cubicBezTo>
                      <a:pt x="4545357" y="2430366"/>
                      <a:pt x="4537323" y="2438400"/>
                      <a:pt x="4527413" y="2438400"/>
                    </a:cubicBezTo>
                    <a:lnTo>
                      <a:pt x="17944" y="2438400"/>
                    </a:lnTo>
                    <a:cubicBezTo>
                      <a:pt x="8034" y="2438400"/>
                      <a:pt x="0" y="2430366"/>
                      <a:pt x="0" y="2420456"/>
                    </a:cubicBezTo>
                    <a:lnTo>
                      <a:pt x="0" y="17944"/>
                    </a:lnTo>
                    <a:cubicBezTo>
                      <a:pt x="0" y="8034"/>
                      <a:pt x="8034" y="0"/>
                      <a:pt x="17944" y="0"/>
                    </a:cubicBezTo>
                    <a:close/>
                  </a:path>
                </a:pathLst>
              </a:custGeom>
              <a:solidFill>
                <a:srgbClr val="E5E5E5"/>
              </a:solidFill>
              <a:ln w="38100" cap="rnd">
                <a:solidFill>
                  <a:srgbClr val="333333"/>
                </a:solidFill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76200"/>
                <a:ext cx="4545357" cy="2514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8"/>
                  </a:lnSpc>
                </a:pPr>
                <a:r>
                  <a:rPr lang="en-US" sz="2200" spc="-90">
                    <a:solidFill>
                      <a:srgbClr val="FFFFFF"/>
                    </a:solidFill>
                    <a:latin typeface="JASO Sans"/>
                    <a:ea typeface="JASO Sans"/>
                    <a:cs typeface="JASO Sans"/>
                    <a:sym typeface="JASO Sans"/>
                  </a:rPr>
                  <a:t>ㄲㄲ</a:t>
                </a:r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23010868" cy="12344400"/>
              <a:chOff x="0" y="0"/>
              <a:chExt cx="4545357" cy="24384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545357" cy="2438400"/>
              </a:xfrm>
              <a:custGeom>
                <a:avLst/>
                <a:gdLst/>
                <a:ahLst/>
                <a:cxnLst/>
                <a:rect l="l" t="t" r="r" b="b"/>
                <a:pathLst>
                  <a:path w="4545357" h="2438400">
                    <a:moveTo>
                      <a:pt x="14804" y="0"/>
                    </a:moveTo>
                    <a:lnTo>
                      <a:pt x="4530553" y="0"/>
                    </a:lnTo>
                    <a:cubicBezTo>
                      <a:pt x="4534479" y="0"/>
                      <a:pt x="4538245" y="1560"/>
                      <a:pt x="4541021" y="4336"/>
                    </a:cubicBezTo>
                    <a:cubicBezTo>
                      <a:pt x="4543797" y="7112"/>
                      <a:pt x="4545357" y="10877"/>
                      <a:pt x="4545357" y="14804"/>
                    </a:cubicBezTo>
                    <a:lnTo>
                      <a:pt x="4545357" y="2423596"/>
                    </a:lnTo>
                    <a:cubicBezTo>
                      <a:pt x="4545357" y="2431772"/>
                      <a:pt x="4538729" y="2438400"/>
                      <a:pt x="4530553" y="2438400"/>
                    </a:cubicBezTo>
                    <a:lnTo>
                      <a:pt x="14804" y="2438400"/>
                    </a:lnTo>
                    <a:cubicBezTo>
                      <a:pt x="10877" y="2438400"/>
                      <a:pt x="7112" y="2436840"/>
                      <a:pt x="4336" y="2434064"/>
                    </a:cubicBezTo>
                    <a:cubicBezTo>
                      <a:pt x="1560" y="2431288"/>
                      <a:pt x="0" y="2427523"/>
                      <a:pt x="0" y="2423596"/>
                    </a:cubicBezTo>
                    <a:lnTo>
                      <a:pt x="0" y="14804"/>
                    </a:lnTo>
                    <a:cubicBezTo>
                      <a:pt x="0" y="10877"/>
                      <a:pt x="1560" y="7112"/>
                      <a:pt x="4336" y="4336"/>
                    </a:cubicBezTo>
                    <a:cubicBezTo>
                      <a:pt x="7112" y="1560"/>
                      <a:pt x="10877" y="0"/>
                      <a:pt x="1480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333333"/>
                </a:solidFill>
                <a:prstDash val="solid"/>
                <a:round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76200"/>
                <a:ext cx="4545357" cy="2514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8"/>
                  </a:lnSpc>
                </a:pPr>
                <a:r>
                  <a:rPr lang="en-US" sz="2200" spc="-90">
                    <a:solidFill>
                      <a:srgbClr val="FFFFFF"/>
                    </a:solidFill>
                    <a:latin typeface="JASO Sans"/>
                    <a:ea typeface="JASO Sans"/>
                    <a:cs typeface="JASO Sans"/>
                    <a:sym typeface="JASO Sans"/>
                  </a:rPr>
                  <a:t>ㄲㄲ</a:t>
                </a:r>
              </a:p>
            </p:txBody>
          </p:sp>
        </p:grpSp>
      </p:grpSp>
      <p:sp>
        <p:nvSpPr>
          <p:cNvPr id="9" name="Freeform 9"/>
          <p:cNvSpPr/>
          <p:nvPr/>
        </p:nvSpPr>
        <p:spPr>
          <a:xfrm rot="-5400000">
            <a:off x="17104554" y="827085"/>
            <a:ext cx="90727" cy="403229"/>
          </a:xfrm>
          <a:custGeom>
            <a:avLst/>
            <a:gdLst/>
            <a:ahLst/>
            <a:cxnLst/>
            <a:rect l="l" t="t" r="r" b="b"/>
            <a:pathLst>
              <a:path w="90727" h="403229">
                <a:moveTo>
                  <a:pt x="0" y="0"/>
                </a:moveTo>
                <a:lnTo>
                  <a:pt x="90726" y="0"/>
                </a:lnTo>
                <a:lnTo>
                  <a:pt x="90726" y="403230"/>
                </a:lnTo>
                <a:lnTo>
                  <a:pt x="0" y="4032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10" name="Group 10"/>
          <p:cNvGrpSpPr/>
          <p:nvPr/>
        </p:nvGrpSpPr>
        <p:grpSpPr>
          <a:xfrm>
            <a:off x="1339871" y="1267781"/>
            <a:ext cx="710270" cy="712421"/>
            <a:chOff x="0" y="0"/>
            <a:chExt cx="187067" cy="18763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87067" cy="187633"/>
            </a:xfrm>
            <a:custGeom>
              <a:avLst/>
              <a:gdLst/>
              <a:ahLst/>
              <a:cxnLst/>
              <a:rect l="l" t="t" r="r" b="b"/>
              <a:pathLst>
                <a:path w="187067" h="187633">
                  <a:moveTo>
                    <a:pt x="93533" y="0"/>
                  </a:moveTo>
                  <a:lnTo>
                    <a:pt x="93533" y="0"/>
                  </a:lnTo>
                  <a:cubicBezTo>
                    <a:pt x="145191" y="0"/>
                    <a:pt x="187067" y="41876"/>
                    <a:pt x="187067" y="93533"/>
                  </a:cubicBezTo>
                  <a:lnTo>
                    <a:pt x="187067" y="94100"/>
                  </a:lnTo>
                  <a:cubicBezTo>
                    <a:pt x="187067" y="118907"/>
                    <a:pt x="177213" y="142697"/>
                    <a:pt x="159672" y="160238"/>
                  </a:cubicBezTo>
                  <a:cubicBezTo>
                    <a:pt x="142131" y="177779"/>
                    <a:pt x="118340" y="187633"/>
                    <a:pt x="93533" y="187633"/>
                  </a:cubicBezTo>
                  <a:lnTo>
                    <a:pt x="93533" y="187633"/>
                  </a:lnTo>
                  <a:cubicBezTo>
                    <a:pt x="41876" y="187633"/>
                    <a:pt x="0" y="145757"/>
                    <a:pt x="0" y="94100"/>
                  </a:cubicBezTo>
                  <a:lnTo>
                    <a:pt x="0" y="93533"/>
                  </a:lnTo>
                  <a:cubicBezTo>
                    <a:pt x="0" y="68727"/>
                    <a:pt x="9854" y="44936"/>
                    <a:pt x="27395" y="27395"/>
                  </a:cubicBezTo>
                  <a:cubicBezTo>
                    <a:pt x="44936" y="9854"/>
                    <a:pt x="68727" y="0"/>
                    <a:pt x="93533" y="0"/>
                  </a:cubicBezTo>
                  <a:close/>
                </a:path>
              </a:pathLst>
            </a:custGeom>
            <a:solidFill>
              <a:srgbClr val="8DDAC8"/>
            </a:solidFill>
            <a:ln w="28575" cap="sq">
              <a:solidFill>
                <a:srgbClr val="333333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187067" cy="2447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66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 rot="-18144">
            <a:off x="2289392" y="1191940"/>
            <a:ext cx="9827735" cy="8315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6414"/>
              </a:lnSpc>
              <a:spcBef>
                <a:spcPct val="0"/>
              </a:spcBef>
            </a:pPr>
            <a:r>
              <a:rPr lang="ko-KR" altLang="en-US" sz="5676" spc="-283" dirty="0">
                <a:solidFill>
                  <a:srgbClr val="33333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우리사주조합 재건 진행 개요</a:t>
            </a:r>
            <a:endParaRPr lang="en-US" sz="5676" spc="-283" dirty="0">
              <a:solidFill>
                <a:srgbClr val="333333"/>
              </a:solidFill>
              <a:latin typeface="210 국민체조"/>
              <a:ea typeface="210 국민체조"/>
              <a:cs typeface="210 국민체조"/>
              <a:sym typeface="210 국민체조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173591" y="1414452"/>
            <a:ext cx="1042830" cy="3656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00"/>
              </a:lnSpc>
            </a:pPr>
            <a:r>
              <a:rPr lang="en-US" sz="2416" b="1" spc="-62" dirty="0">
                <a:solidFill>
                  <a:srgbClr val="33333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5</a:t>
            </a:r>
          </a:p>
        </p:txBody>
      </p:sp>
      <p:sp>
        <p:nvSpPr>
          <p:cNvPr id="80" name="AutoShape 13">
            <a:extLst>
              <a:ext uri="{FF2B5EF4-FFF2-40B4-BE49-F238E27FC236}">
                <a16:creationId xmlns:a16="http://schemas.microsoft.com/office/drawing/2014/main" id="{196E38CD-463A-4AB5-8A62-7B8D28205BBF}"/>
              </a:ext>
            </a:extLst>
          </p:cNvPr>
          <p:cNvSpPr/>
          <p:nvPr/>
        </p:nvSpPr>
        <p:spPr>
          <a:xfrm flipV="1">
            <a:off x="1339698" y="2443184"/>
            <a:ext cx="15608605" cy="0"/>
          </a:xfrm>
          <a:prstGeom prst="line">
            <a:avLst/>
          </a:prstGeom>
          <a:ln w="19050" cap="flat">
            <a:solidFill>
              <a:srgbClr val="33333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1" name="AutoShape 13">
            <a:extLst>
              <a:ext uri="{FF2B5EF4-FFF2-40B4-BE49-F238E27FC236}">
                <a16:creationId xmlns:a16="http://schemas.microsoft.com/office/drawing/2014/main" id="{BCECE857-B6E3-438A-9F87-F539F47F9FC0}"/>
              </a:ext>
            </a:extLst>
          </p:cNvPr>
          <p:cNvSpPr/>
          <p:nvPr/>
        </p:nvSpPr>
        <p:spPr>
          <a:xfrm flipV="1">
            <a:off x="1339698" y="2443184"/>
            <a:ext cx="15608605" cy="0"/>
          </a:xfrm>
          <a:prstGeom prst="line">
            <a:avLst/>
          </a:prstGeom>
          <a:ln w="19050" cap="flat">
            <a:solidFill>
              <a:srgbClr val="333333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82" name="Group 2">
            <a:extLst>
              <a:ext uri="{FF2B5EF4-FFF2-40B4-BE49-F238E27FC236}">
                <a16:creationId xmlns:a16="http://schemas.microsoft.com/office/drawing/2014/main" id="{78693AD5-EA42-48CF-A664-D1F4263B1884}"/>
              </a:ext>
            </a:extLst>
          </p:cNvPr>
          <p:cNvGrpSpPr/>
          <p:nvPr/>
        </p:nvGrpSpPr>
        <p:grpSpPr>
          <a:xfrm>
            <a:off x="1148570" y="3558416"/>
            <a:ext cx="4726277" cy="1880628"/>
            <a:chOff x="0" y="0"/>
            <a:chExt cx="1551920" cy="617523"/>
          </a:xfrm>
        </p:grpSpPr>
        <p:sp>
          <p:nvSpPr>
            <p:cNvPr id="183" name="Freeform 3">
              <a:extLst>
                <a:ext uri="{FF2B5EF4-FFF2-40B4-BE49-F238E27FC236}">
                  <a16:creationId xmlns:a16="http://schemas.microsoft.com/office/drawing/2014/main" id="{872204A7-7209-4386-9328-C71D48A03C26}"/>
                </a:ext>
              </a:extLst>
            </p:cNvPr>
            <p:cNvSpPr/>
            <p:nvPr/>
          </p:nvSpPr>
          <p:spPr>
            <a:xfrm>
              <a:off x="0" y="0"/>
              <a:ext cx="1551920" cy="617523"/>
            </a:xfrm>
            <a:custGeom>
              <a:avLst/>
              <a:gdLst/>
              <a:ahLst/>
              <a:cxnLst/>
              <a:rect l="l" t="t" r="r" b="b"/>
              <a:pathLst>
                <a:path w="1551920" h="617523">
                  <a:moveTo>
                    <a:pt x="75351" y="0"/>
                  </a:moveTo>
                  <a:lnTo>
                    <a:pt x="1476569" y="0"/>
                  </a:lnTo>
                  <a:cubicBezTo>
                    <a:pt x="1518184" y="0"/>
                    <a:pt x="1551920" y="33736"/>
                    <a:pt x="1551920" y="75351"/>
                  </a:cubicBezTo>
                  <a:lnTo>
                    <a:pt x="1551920" y="542172"/>
                  </a:lnTo>
                  <a:cubicBezTo>
                    <a:pt x="1551920" y="583787"/>
                    <a:pt x="1518184" y="617523"/>
                    <a:pt x="1476569" y="617523"/>
                  </a:cubicBezTo>
                  <a:lnTo>
                    <a:pt x="75351" y="617523"/>
                  </a:lnTo>
                  <a:cubicBezTo>
                    <a:pt x="33736" y="617523"/>
                    <a:pt x="0" y="583787"/>
                    <a:pt x="0" y="542172"/>
                  </a:cubicBezTo>
                  <a:lnTo>
                    <a:pt x="0" y="75351"/>
                  </a:lnTo>
                  <a:cubicBezTo>
                    <a:pt x="0" y="33736"/>
                    <a:pt x="33736" y="0"/>
                    <a:pt x="75351" y="0"/>
                  </a:cubicBezTo>
                  <a:close/>
                </a:path>
              </a:pathLst>
            </a:custGeom>
            <a:solidFill>
              <a:srgbClr val="11221D"/>
            </a:solidFill>
          </p:spPr>
        </p:sp>
        <p:sp>
          <p:nvSpPr>
            <p:cNvPr id="184" name="TextBox 4">
              <a:extLst>
                <a:ext uri="{FF2B5EF4-FFF2-40B4-BE49-F238E27FC236}">
                  <a16:creationId xmlns:a16="http://schemas.microsoft.com/office/drawing/2014/main" id="{60665CA2-7540-46B6-96AA-542B289FCFE9}"/>
                </a:ext>
              </a:extLst>
            </p:cNvPr>
            <p:cNvSpPr txBox="1"/>
            <p:nvPr/>
          </p:nvSpPr>
          <p:spPr>
            <a:xfrm>
              <a:off x="0" y="-38100"/>
              <a:ext cx="1551920" cy="6556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185" name="Group 5">
            <a:extLst>
              <a:ext uri="{FF2B5EF4-FFF2-40B4-BE49-F238E27FC236}">
                <a16:creationId xmlns:a16="http://schemas.microsoft.com/office/drawing/2014/main" id="{95371EE2-16C3-4100-9AB2-2E58A8815276}"/>
              </a:ext>
            </a:extLst>
          </p:cNvPr>
          <p:cNvGrpSpPr/>
          <p:nvPr/>
        </p:nvGrpSpPr>
        <p:grpSpPr>
          <a:xfrm>
            <a:off x="1148570" y="6796916"/>
            <a:ext cx="4726277" cy="1880628"/>
            <a:chOff x="0" y="0"/>
            <a:chExt cx="1551920" cy="617523"/>
          </a:xfrm>
        </p:grpSpPr>
        <p:sp>
          <p:nvSpPr>
            <p:cNvPr id="186" name="Freeform 6">
              <a:extLst>
                <a:ext uri="{FF2B5EF4-FFF2-40B4-BE49-F238E27FC236}">
                  <a16:creationId xmlns:a16="http://schemas.microsoft.com/office/drawing/2014/main" id="{8C708FA4-EDE9-4CDB-8712-7A19FA5C26FE}"/>
                </a:ext>
              </a:extLst>
            </p:cNvPr>
            <p:cNvSpPr/>
            <p:nvPr/>
          </p:nvSpPr>
          <p:spPr>
            <a:xfrm>
              <a:off x="0" y="0"/>
              <a:ext cx="1551920" cy="617523"/>
            </a:xfrm>
            <a:custGeom>
              <a:avLst/>
              <a:gdLst/>
              <a:ahLst/>
              <a:cxnLst/>
              <a:rect l="l" t="t" r="r" b="b"/>
              <a:pathLst>
                <a:path w="1551920" h="617523">
                  <a:moveTo>
                    <a:pt x="75351" y="0"/>
                  </a:moveTo>
                  <a:lnTo>
                    <a:pt x="1476569" y="0"/>
                  </a:lnTo>
                  <a:cubicBezTo>
                    <a:pt x="1518184" y="0"/>
                    <a:pt x="1551920" y="33736"/>
                    <a:pt x="1551920" y="75351"/>
                  </a:cubicBezTo>
                  <a:lnTo>
                    <a:pt x="1551920" y="542172"/>
                  </a:lnTo>
                  <a:cubicBezTo>
                    <a:pt x="1551920" y="583787"/>
                    <a:pt x="1518184" y="617523"/>
                    <a:pt x="1476569" y="617523"/>
                  </a:cubicBezTo>
                  <a:lnTo>
                    <a:pt x="75351" y="617523"/>
                  </a:lnTo>
                  <a:cubicBezTo>
                    <a:pt x="33736" y="617523"/>
                    <a:pt x="0" y="583787"/>
                    <a:pt x="0" y="542172"/>
                  </a:cubicBezTo>
                  <a:lnTo>
                    <a:pt x="0" y="75351"/>
                  </a:lnTo>
                  <a:cubicBezTo>
                    <a:pt x="0" y="33736"/>
                    <a:pt x="33736" y="0"/>
                    <a:pt x="75351" y="0"/>
                  </a:cubicBezTo>
                  <a:close/>
                </a:path>
              </a:pathLst>
            </a:custGeom>
            <a:solidFill>
              <a:srgbClr val="F28301"/>
            </a:solidFill>
          </p:spPr>
        </p:sp>
        <p:sp>
          <p:nvSpPr>
            <p:cNvPr id="187" name="TextBox 7">
              <a:extLst>
                <a:ext uri="{FF2B5EF4-FFF2-40B4-BE49-F238E27FC236}">
                  <a16:creationId xmlns:a16="http://schemas.microsoft.com/office/drawing/2014/main" id="{3D85C427-128F-4FE0-9C46-EA5716DA1224}"/>
                </a:ext>
              </a:extLst>
            </p:cNvPr>
            <p:cNvSpPr txBox="1"/>
            <p:nvPr/>
          </p:nvSpPr>
          <p:spPr>
            <a:xfrm>
              <a:off x="0" y="-38100"/>
              <a:ext cx="1551920" cy="6556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188" name="Group 8">
            <a:extLst>
              <a:ext uri="{FF2B5EF4-FFF2-40B4-BE49-F238E27FC236}">
                <a16:creationId xmlns:a16="http://schemas.microsoft.com/office/drawing/2014/main" id="{97EF4BC5-EBEA-47FD-8411-84D4C5CC2E59}"/>
              </a:ext>
            </a:extLst>
          </p:cNvPr>
          <p:cNvGrpSpPr/>
          <p:nvPr/>
        </p:nvGrpSpPr>
        <p:grpSpPr>
          <a:xfrm>
            <a:off x="6673070" y="3558416"/>
            <a:ext cx="4726277" cy="1880628"/>
            <a:chOff x="0" y="0"/>
            <a:chExt cx="1551920" cy="617523"/>
          </a:xfrm>
        </p:grpSpPr>
        <p:sp>
          <p:nvSpPr>
            <p:cNvPr id="189" name="Freeform 9">
              <a:extLst>
                <a:ext uri="{FF2B5EF4-FFF2-40B4-BE49-F238E27FC236}">
                  <a16:creationId xmlns:a16="http://schemas.microsoft.com/office/drawing/2014/main" id="{7F3A46C2-038A-485F-8A88-AF590198C36B}"/>
                </a:ext>
              </a:extLst>
            </p:cNvPr>
            <p:cNvSpPr/>
            <p:nvPr/>
          </p:nvSpPr>
          <p:spPr>
            <a:xfrm>
              <a:off x="0" y="0"/>
              <a:ext cx="1551920" cy="617523"/>
            </a:xfrm>
            <a:custGeom>
              <a:avLst/>
              <a:gdLst/>
              <a:ahLst/>
              <a:cxnLst/>
              <a:rect l="l" t="t" r="r" b="b"/>
              <a:pathLst>
                <a:path w="1551920" h="617523">
                  <a:moveTo>
                    <a:pt x="75351" y="0"/>
                  </a:moveTo>
                  <a:lnTo>
                    <a:pt x="1476569" y="0"/>
                  </a:lnTo>
                  <a:cubicBezTo>
                    <a:pt x="1518184" y="0"/>
                    <a:pt x="1551920" y="33736"/>
                    <a:pt x="1551920" y="75351"/>
                  </a:cubicBezTo>
                  <a:lnTo>
                    <a:pt x="1551920" y="542172"/>
                  </a:lnTo>
                  <a:cubicBezTo>
                    <a:pt x="1551920" y="583787"/>
                    <a:pt x="1518184" y="617523"/>
                    <a:pt x="1476569" y="617523"/>
                  </a:cubicBezTo>
                  <a:lnTo>
                    <a:pt x="75351" y="617523"/>
                  </a:lnTo>
                  <a:cubicBezTo>
                    <a:pt x="33736" y="617523"/>
                    <a:pt x="0" y="583787"/>
                    <a:pt x="0" y="542172"/>
                  </a:cubicBezTo>
                  <a:lnTo>
                    <a:pt x="0" y="75351"/>
                  </a:lnTo>
                  <a:cubicBezTo>
                    <a:pt x="0" y="33736"/>
                    <a:pt x="33736" y="0"/>
                    <a:pt x="75351" y="0"/>
                  </a:cubicBezTo>
                  <a:close/>
                </a:path>
              </a:pathLst>
            </a:custGeom>
            <a:solidFill>
              <a:srgbClr val="19443C"/>
            </a:solidFill>
          </p:spPr>
        </p:sp>
        <p:sp>
          <p:nvSpPr>
            <p:cNvPr id="190" name="TextBox 10">
              <a:extLst>
                <a:ext uri="{FF2B5EF4-FFF2-40B4-BE49-F238E27FC236}">
                  <a16:creationId xmlns:a16="http://schemas.microsoft.com/office/drawing/2014/main" id="{E8FEA975-BBAC-441D-B31E-7C07A6F34988}"/>
                </a:ext>
              </a:extLst>
            </p:cNvPr>
            <p:cNvSpPr txBox="1"/>
            <p:nvPr/>
          </p:nvSpPr>
          <p:spPr>
            <a:xfrm>
              <a:off x="0" y="-38100"/>
              <a:ext cx="1551920" cy="6556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191" name="Group 11">
            <a:extLst>
              <a:ext uri="{FF2B5EF4-FFF2-40B4-BE49-F238E27FC236}">
                <a16:creationId xmlns:a16="http://schemas.microsoft.com/office/drawing/2014/main" id="{8993DDFE-D63B-4C53-82F6-E928F6983BE7}"/>
              </a:ext>
            </a:extLst>
          </p:cNvPr>
          <p:cNvGrpSpPr/>
          <p:nvPr/>
        </p:nvGrpSpPr>
        <p:grpSpPr>
          <a:xfrm>
            <a:off x="6673070" y="6796916"/>
            <a:ext cx="4726277" cy="1880628"/>
            <a:chOff x="0" y="0"/>
            <a:chExt cx="1551920" cy="617523"/>
          </a:xfrm>
        </p:grpSpPr>
        <p:sp>
          <p:nvSpPr>
            <p:cNvPr id="192" name="Freeform 12">
              <a:extLst>
                <a:ext uri="{FF2B5EF4-FFF2-40B4-BE49-F238E27FC236}">
                  <a16:creationId xmlns:a16="http://schemas.microsoft.com/office/drawing/2014/main" id="{93684EC6-8CED-47CD-9AD7-040684D55131}"/>
                </a:ext>
              </a:extLst>
            </p:cNvPr>
            <p:cNvSpPr/>
            <p:nvPr/>
          </p:nvSpPr>
          <p:spPr>
            <a:xfrm>
              <a:off x="0" y="0"/>
              <a:ext cx="1551920" cy="617523"/>
            </a:xfrm>
            <a:custGeom>
              <a:avLst/>
              <a:gdLst/>
              <a:ahLst/>
              <a:cxnLst/>
              <a:rect l="l" t="t" r="r" b="b"/>
              <a:pathLst>
                <a:path w="1551920" h="617523">
                  <a:moveTo>
                    <a:pt x="75351" y="0"/>
                  </a:moveTo>
                  <a:lnTo>
                    <a:pt x="1476569" y="0"/>
                  </a:lnTo>
                  <a:cubicBezTo>
                    <a:pt x="1518184" y="0"/>
                    <a:pt x="1551920" y="33736"/>
                    <a:pt x="1551920" y="75351"/>
                  </a:cubicBezTo>
                  <a:lnTo>
                    <a:pt x="1551920" y="542172"/>
                  </a:lnTo>
                  <a:cubicBezTo>
                    <a:pt x="1551920" y="583787"/>
                    <a:pt x="1518184" y="617523"/>
                    <a:pt x="1476569" y="617523"/>
                  </a:cubicBezTo>
                  <a:lnTo>
                    <a:pt x="75351" y="617523"/>
                  </a:lnTo>
                  <a:cubicBezTo>
                    <a:pt x="33736" y="617523"/>
                    <a:pt x="0" y="583787"/>
                    <a:pt x="0" y="542172"/>
                  </a:cubicBezTo>
                  <a:lnTo>
                    <a:pt x="0" y="75351"/>
                  </a:lnTo>
                  <a:cubicBezTo>
                    <a:pt x="0" y="33736"/>
                    <a:pt x="33736" y="0"/>
                    <a:pt x="75351" y="0"/>
                  </a:cubicBezTo>
                  <a:close/>
                </a:path>
              </a:pathLst>
            </a:custGeom>
            <a:solidFill>
              <a:srgbClr val="FFBE2B"/>
            </a:solidFill>
          </p:spPr>
        </p:sp>
        <p:sp>
          <p:nvSpPr>
            <p:cNvPr id="193" name="TextBox 13">
              <a:extLst>
                <a:ext uri="{FF2B5EF4-FFF2-40B4-BE49-F238E27FC236}">
                  <a16:creationId xmlns:a16="http://schemas.microsoft.com/office/drawing/2014/main" id="{27C41E22-6C55-44DB-A53F-2CCCC812105E}"/>
                </a:ext>
              </a:extLst>
            </p:cNvPr>
            <p:cNvSpPr txBox="1"/>
            <p:nvPr/>
          </p:nvSpPr>
          <p:spPr>
            <a:xfrm>
              <a:off x="0" y="-38100"/>
              <a:ext cx="1551920" cy="6556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194" name="Group 14">
            <a:extLst>
              <a:ext uri="{FF2B5EF4-FFF2-40B4-BE49-F238E27FC236}">
                <a16:creationId xmlns:a16="http://schemas.microsoft.com/office/drawing/2014/main" id="{98FAFD2F-6D73-4C25-A09E-FC044DFB3738}"/>
              </a:ext>
            </a:extLst>
          </p:cNvPr>
          <p:cNvGrpSpPr/>
          <p:nvPr/>
        </p:nvGrpSpPr>
        <p:grpSpPr>
          <a:xfrm>
            <a:off x="2125967" y="3028149"/>
            <a:ext cx="3964463" cy="2263630"/>
            <a:chOff x="0" y="0"/>
            <a:chExt cx="1301771" cy="743285"/>
          </a:xfrm>
        </p:grpSpPr>
        <p:sp>
          <p:nvSpPr>
            <p:cNvPr id="195" name="Freeform 15">
              <a:extLst>
                <a:ext uri="{FF2B5EF4-FFF2-40B4-BE49-F238E27FC236}">
                  <a16:creationId xmlns:a16="http://schemas.microsoft.com/office/drawing/2014/main" id="{533A96D8-E06F-4F05-906B-DD5143C698D3}"/>
                </a:ext>
              </a:extLst>
            </p:cNvPr>
            <p:cNvSpPr/>
            <p:nvPr/>
          </p:nvSpPr>
          <p:spPr>
            <a:xfrm>
              <a:off x="0" y="0"/>
              <a:ext cx="1301771" cy="743285"/>
            </a:xfrm>
            <a:custGeom>
              <a:avLst/>
              <a:gdLst/>
              <a:ahLst/>
              <a:cxnLst/>
              <a:rect l="l" t="t" r="r" b="b"/>
              <a:pathLst>
                <a:path w="1301771" h="743285">
                  <a:moveTo>
                    <a:pt x="95689" y="0"/>
                  </a:moveTo>
                  <a:lnTo>
                    <a:pt x="1206082" y="0"/>
                  </a:lnTo>
                  <a:cubicBezTo>
                    <a:pt x="1258930" y="0"/>
                    <a:pt x="1301771" y="42841"/>
                    <a:pt x="1301771" y="95689"/>
                  </a:cubicBezTo>
                  <a:lnTo>
                    <a:pt x="1301771" y="647597"/>
                  </a:lnTo>
                  <a:cubicBezTo>
                    <a:pt x="1301771" y="700444"/>
                    <a:pt x="1258930" y="743285"/>
                    <a:pt x="1206082" y="743285"/>
                  </a:cubicBezTo>
                  <a:lnTo>
                    <a:pt x="95689" y="743285"/>
                  </a:lnTo>
                  <a:cubicBezTo>
                    <a:pt x="42841" y="743285"/>
                    <a:pt x="0" y="700444"/>
                    <a:pt x="0" y="647597"/>
                  </a:cubicBezTo>
                  <a:lnTo>
                    <a:pt x="0" y="95689"/>
                  </a:lnTo>
                  <a:cubicBezTo>
                    <a:pt x="0" y="42841"/>
                    <a:pt x="42841" y="0"/>
                    <a:pt x="95689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11221D"/>
              </a:solidFill>
              <a:prstDash val="solid"/>
              <a:round/>
            </a:ln>
          </p:spPr>
        </p:sp>
        <p:sp>
          <p:nvSpPr>
            <p:cNvPr id="196" name="TextBox 16">
              <a:extLst>
                <a:ext uri="{FF2B5EF4-FFF2-40B4-BE49-F238E27FC236}">
                  <a16:creationId xmlns:a16="http://schemas.microsoft.com/office/drawing/2014/main" id="{C35E523E-21CB-4230-A7E0-05EC68EAFE24}"/>
                </a:ext>
              </a:extLst>
            </p:cNvPr>
            <p:cNvSpPr txBox="1"/>
            <p:nvPr/>
          </p:nvSpPr>
          <p:spPr>
            <a:xfrm>
              <a:off x="0" y="-38100"/>
              <a:ext cx="1301771" cy="7813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197" name="Group 17">
            <a:extLst>
              <a:ext uri="{FF2B5EF4-FFF2-40B4-BE49-F238E27FC236}">
                <a16:creationId xmlns:a16="http://schemas.microsoft.com/office/drawing/2014/main" id="{2BC3EC5E-6034-4E5F-BB0A-BB37A72026B9}"/>
              </a:ext>
            </a:extLst>
          </p:cNvPr>
          <p:cNvGrpSpPr/>
          <p:nvPr/>
        </p:nvGrpSpPr>
        <p:grpSpPr>
          <a:xfrm>
            <a:off x="2125967" y="6266649"/>
            <a:ext cx="3964463" cy="2263630"/>
            <a:chOff x="0" y="0"/>
            <a:chExt cx="1301771" cy="743285"/>
          </a:xfrm>
        </p:grpSpPr>
        <p:sp>
          <p:nvSpPr>
            <p:cNvPr id="198" name="Freeform 18">
              <a:extLst>
                <a:ext uri="{FF2B5EF4-FFF2-40B4-BE49-F238E27FC236}">
                  <a16:creationId xmlns:a16="http://schemas.microsoft.com/office/drawing/2014/main" id="{6F4BC7E0-E7E1-4EC1-B1FE-A6C1187BE92C}"/>
                </a:ext>
              </a:extLst>
            </p:cNvPr>
            <p:cNvSpPr/>
            <p:nvPr/>
          </p:nvSpPr>
          <p:spPr>
            <a:xfrm>
              <a:off x="0" y="0"/>
              <a:ext cx="1301771" cy="743285"/>
            </a:xfrm>
            <a:custGeom>
              <a:avLst/>
              <a:gdLst/>
              <a:ahLst/>
              <a:cxnLst/>
              <a:rect l="l" t="t" r="r" b="b"/>
              <a:pathLst>
                <a:path w="1301771" h="743285">
                  <a:moveTo>
                    <a:pt x="95689" y="0"/>
                  </a:moveTo>
                  <a:lnTo>
                    <a:pt x="1206082" y="0"/>
                  </a:lnTo>
                  <a:cubicBezTo>
                    <a:pt x="1258930" y="0"/>
                    <a:pt x="1301771" y="42841"/>
                    <a:pt x="1301771" y="95689"/>
                  </a:cubicBezTo>
                  <a:lnTo>
                    <a:pt x="1301771" y="647597"/>
                  </a:lnTo>
                  <a:cubicBezTo>
                    <a:pt x="1301771" y="700444"/>
                    <a:pt x="1258930" y="743285"/>
                    <a:pt x="1206082" y="743285"/>
                  </a:cubicBezTo>
                  <a:lnTo>
                    <a:pt x="95689" y="743285"/>
                  </a:lnTo>
                  <a:cubicBezTo>
                    <a:pt x="42841" y="743285"/>
                    <a:pt x="0" y="700444"/>
                    <a:pt x="0" y="647597"/>
                  </a:cubicBezTo>
                  <a:lnTo>
                    <a:pt x="0" y="95689"/>
                  </a:lnTo>
                  <a:cubicBezTo>
                    <a:pt x="0" y="42841"/>
                    <a:pt x="42841" y="0"/>
                    <a:pt x="95689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F28301"/>
              </a:solidFill>
              <a:prstDash val="solid"/>
              <a:round/>
            </a:ln>
          </p:spPr>
        </p:sp>
        <p:sp>
          <p:nvSpPr>
            <p:cNvPr id="199" name="TextBox 19">
              <a:extLst>
                <a:ext uri="{FF2B5EF4-FFF2-40B4-BE49-F238E27FC236}">
                  <a16:creationId xmlns:a16="http://schemas.microsoft.com/office/drawing/2014/main" id="{EFF00DF3-CA01-4C8B-A05A-AA52EF7522FE}"/>
                </a:ext>
              </a:extLst>
            </p:cNvPr>
            <p:cNvSpPr txBox="1"/>
            <p:nvPr/>
          </p:nvSpPr>
          <p:spPr>
            <a:xfrm>
              <a:off x="0" y="-38100"/>
              <a:ext cx="1301771" cy="7813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200" name="Group 20">
            <a:extLst>
              <a:ext uri="{FF2B5EF4-FFF2-40B4-BE49-F238E27FC236}">
                <a16:creationId xmlns:a16="http://schemas.microsoft.com/office/drawing/2014/main" id="{44210F33-8C75-4A9E-A046-679BF940BE64}"/>
              </a:ext>
            </a:extLst>
          </p:cNvPr>
          <p:cNvGrpSpPr/>
          <p:nvPr/>
        </p:nvGrpSpPr>
        <p:grpSpPr>
          <a:xfrm>
            <a:off x="7650467" y="3028149"/>
            <a:ext cx="3964463" cy="2263630"/>
            <a:chOff x="0" y="0"/>
            <a:chExt cx="1301771" cy="743285"/>
          </a:xfrm>
        </p:grpSpPr>
        <p:sp>
          <p:nvSpPr>
            <p:cNvPr id="201" name="Freeform 21">
              <a:extLst>
                <a:ext uri="{FF2B5EF4-FFF2-40B4-BE49-F238E27FC236}">
                  <a16:creationId xmlns:a16="http://schemas.microsoft.com/office/drawing/2014/main" id="{CD07655B-A416-420F-BCF1-9F1216C19303}"/>
                </a:ext>
              </a:extLst>
            </p:cNvPr>
            <p:cNvSpPr/>
            <p:nvPr/>
          </p:nvSpPr>
          <p:spPr>
            <a:xfrm>
              <a:off x="0" y="0"/>
              <a:ext cx="1301771" cy="743285"/>
            </a:xfrm>
            <a:custGeom>
              <a:avLst/>
              <a:gdLst/>
              <a:ahLst/>
              <a:cxnLst/>
              <a:rect l="l" t="t" r="r" b="b"/>
              <a:pathLst>
                <a:path w="1301771" h="743285">
                  <a:moveTo>
                    <a:pt x="95689" y="0"/>
                  </a:moveTo>
                  <a:lnTo>
                    <a:pt x="1206082" y="0"/>
                  </a:lnTo>
                  <a:cubicBezTo>
                    <a:pt x="1258930" y="0"/>
                    <a:pt x="1301771" y="42841"/>
                    <a:pt x="1301771" y="95689"/>
                  </a:cubicBezTo>
                  <a:lnTo>
                    <a:pt x="1301771" y="647597"/>
                  </a:lnTo>
                  <a:cubicBezTo>
                    <a:pt x="1301771" y="700444"/>
                    <a:pt x="1258930" y="743285"/>
                    <a:pt x="1206082" y="743285"/>
                  </a:cubicBezTo>
                  <a:lnTo>
                    <a:pt x="95689" y="743285"/>
                  </a:lnTo>
                  <a:cubicBezTo>
                    <a:pt x="42841" y="743285"/>
                    <a:pt x="0" y="700444"/>
                    <a:pt x="0" y="647597"/>
                  </a:cubicBezTo>
                  <a:lnTo>
                    <a:pt x="0" y="95689"/>
                  </a:lnTo>
                  <a:cubicBezTo>
                    <a:pt x="0" y="42841"/>
                    <a:pt x="42841" y="0"/>
                    <a:pt x="95689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19443C"/>
              </a:solidFill>
              <a:prstDash val="solid"/>
              <a:round/>
            </a:ln>
          </p:spPr>
        </p:sp>
        <p:sp>
          <p:nvSpPr>
            <p:cNvPr id="202" name="TextBox 22">
              <a:extLst>
                <a:ext uri="{FF2B5EF4-FFF2-40B4-BE49-F238E27FC236}">
                  <a16:creationId xmlns:a16="http://schemas.microsoft.com/office/drawing/2014/main" id="{F0819A49-DA3F-432F-B40F-4C8969EEF890}"/>
                </a:ext>
              </a:extLst>
            </p:cNvPr>
            <p:cNvSpPr txBox="1"/>
            <p:nvPr/>
          </p:nvSpPr>
          <p:spPr>
            <a:xfrm>
              <a:off x="0" y="-38100"/>
              <a:ext cx="1301771" cy="7813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203" name="Group 23">
            <a:extLst>
              <a:ext uri="{FF2B5EF4-FFF2-40B4-BE49-F238E27FC236}">
                <a16:creationId xmlns:a16="http://schemas.microsoft.com/office/drawing/2014/main" id="{5165AE20-F998-45FC-A746-47B1295965E1}"/>
              </a:ext>
            </a:extLst>
          </p:cNvPr>
          <p:cNvGrpSpPr/>
          <p:nvPr/>
        </p:nvGrpSpPr>
        <p:grpSpPr>
          <a:xfrm>
            <a:off x="7650467" y="6266649"/>
            <a:ext cx="3964463" cy="2263630"/>
            <a:chOff x="0" y="0"/>
            <a:chExt cx="1301771" cy="743285"/>
          </a:xfrm>
        </p:grpSpPr>
        <p:sp>
          <p:nvSpPr>
            <p:cNvPr id="204" name="Freeform 24">
              <a:extLst>
                <a:ext uri="{FF2B5EF4-FFF2-40B4-BE49-F238E27FC236}">
                  <a16:creationId xmlns:a16="http://schemas.microsoft.com/office/drawing/2014/main" id="{08576087-0799-4FD8-8250-1C5E52E44173}"/>
                </a:ext>
              </a:extLst>
            </p:cNvPr>
            <p:cNvSpPr/>
            <p:nvPr/>
          </p:nvSpPr>
          <p:spPr>
            <a:xfrm>
              <a:off x="0" y="0"/>
              <a:ext cx="1301771" cy="743285"/>
            </a:xfrm>
            <a:custGeom>
              <a:avLst/>
              <a:gdLst/>
              <a:ahLst/>
              <a:cxnLst/>
              <a:rect l="l" t="t" r="r" b="b"/>
              <a:pathLst>
                <a:path w="1301771" h="743285">
                  <a:moveTo>
                    <a:pt x="95689" y="0"/>
                  </a:moveTo>
                  <a:lnTo>
                    <a:pt x="1206082" y="0"/>
                  </a:lnTo>
                  <a:cubicBezTo>
                    <a:pt x="1258930" y="0"/>
                    <a:pt x="1301771" y="42841"/>
                    <a:pt x="1301771" y="95689"/>
                  </a:cubicBezTo>
                  <a:lnTo>
                    <a:pt x="1301771" y="647597"/>
                  </a:lnTo>
                  <a:cubicBezTo>
                    <a:pt x="1301771" y="700444"/>
                    <a:pt x="1258930" y="743285"/>
                    <a:pt x="1206082" y="743285"/>
                  </a:cubicBezTo>
                  <a:lnTo>
                    <a:pt x="95689" y="743285"/>
                  </a:lnTo>
                  <a:cubicBezTo>
                    <a:pt x="42841" y="743285"/>
                    <a:pt x="0" y="700444"/>
                    <a:pt x="0" y="647597"/>
                  </a:cubicBezTo>
                  <a:lnTo>
                    <a:pt x="0" y="95689"/>
                  </a:lnTo>
                  <a:cubicBezTo>
                    <a:pt x="0" y="42841"/>
                    <a:pt x="42841" y="0"/>
                    <a:pt x="95689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FFBE2B"/>
              </a:solidFill>
              <a:prstDash val="solid"/>
              <a:round/>
            </a:ln>
          </p:spPr>
        </p:sp>
        <p:sp>
          <p:nvSpPr>
            <p:cNvPr id="205" name="TextBox 25">
              <a:extLst>
                <a:ext uri="{FF2B5EF4-FFF2-40B4-BE49-F238E27FC236}">
                  <a16:creationId xmlns:a16="http://schemas.microsoft.com/office/drawing/2014/main" id="{1AFFFC29-57CE-4D99-88D6-9673CCB43F6A}"/>
                </a:ext>
              </a:extLst>
            </p:cNvPr>
            <p:cNvSpPr txBox="1"/>
            <p:nvPr/>
          </p:nvSpPr>
          <p:spPr>
            <a:xfrm>
              <a:off x="0" y="-38100"/>
              <a:ext cx="1301771" cy="7813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206" name="Group 26">
            <a:extLst>
              <a:ext uri="{FF2B5EF4-FFF2-40B4-BE49-F238E27FC236}">
                <a16:creationId xmlns:a16="http://schemas.microsoft.com/office/drawing/2014/main" id="{1C906C1B-E55A-4012-B653-F66AFE3D0852}"/>
              </a:ext>
            </a:extLst>
          </p:cNvPr>
          <p:cNvGrpSpPr/>
          <p:nvPr/>
        </p:nvGrpSpPr>
        <p:grpSpPr>
          <a:xfrm>
            <a:off x="1700721" y="2667000"/>
            <a:ext cx="1080961" cy="1080961"/>
            <a:chOff x="0" y="0"/>
            <a:chExt cx="812800" cy="812800"/>
          </a:xfrm>
        </p:grpSpPr>
        <p:sp>
          <p:nvSpPr>
            <p:cNvPr id="207" name="Freeform 27">
              <a:extLst>
                <a:ext uri="{FF2B5EF4-FFF2-40B4-BE49-F238E27FC236}">
                  <a16:creationId xmlns:a16="http://schemas.microsoft.com/office/drawing/2014/main" id="{94DE72D5-46C8-467B-8EFC-E11A44572CC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1221D"/>
            </a:solidFill>
            <a:ln cap="sq">
              <a:noFill/>
              <a:prstDash val="solid"/>
              <a:miter/>
            </a:ln>
          </p:spPr>
        </p:sp>
        <p:sp>
          <p:nvSpPr>
            <p:cNvPr id="208" name="TextBox 28">
              <a:extLst>
                <a:ext uri="{FF2B5EF4-FFF2-40B4-BE49-F238E27FC236}">
                  <a16:creationId xmlns:a16="http://schemas.microsoft.com/office/drawing/2014/main" id="{CD439971-4394-447E-9553-9CA2841302DE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209" name="Group 29">
            <a:extLst>
              <a:ext uri="{FF2B5EF4-FFF2-40B4-BE49-F238E27FC236}">
                <a16:creationId xmlns:a16="http://schemas.microsoft.com/office/drawing/2014/main" id="{CA9EA6DD-6CF8-4D45-A3DD-8A713123A50A}"/>
              </a:ext>
            </a:extLst>
          </p:cNvPr>
          <p:cNvGrpSpPr/>
          <p:nvPr/>
        </p:nvGrpSpPr>
        <p:grpSpPr>
          <a:xfrm>
            <a:off x="1700721" y="5905500"/>
            <a:ext cx="1080961" cy="1080961"/>
            <a:chOff x="0" y="0"/>
            <a:chExt cx="812800" cy="812800"/>
          </a:xfrm>
        </p:grpSpPr>
        <p:sp>
          <p:nvSpPr>
            <p:cNvPr id="210" name="Freeform 30">
              <a:extLst>
                <a:ext uri="{FF2B5EF4-FFF2-40B4-BE49-F238E27FC236}">
                  <a16:creationId xmlns:a16="http://schemas.microsoft.com/office/drawing/2014/main" id="{3F7043F9-EA27-4A8B-BB8C-D7443256830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8400"/>
            </a:solidFill>
            <a:ln cap="sq">
              <a:noFill/>
              <a:prstDash val="solid"/>
              <a:miter/>
            </a:ln>
          </p:spPr>
        </p:sp>
        <p:sp>
          <p:nvSpPr>
            <p:cNvPr id="211" name="TextBox 31">
              <a:extLst>
                <a:ext uri="{FF2B5EF4-FFF2-40B4-BE49-F238E27FC236}">
                  <a16:creationId xmlns:a16="http://schemas.microsoft.com/office/drawing/2014/main" id="{6DBAB299-0A92-4F39-8A65-3071AE76C671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212" name="Group 32">
            <a:extLst>
              <a:ext uri="{FF2B5EF4-FFF2-40B4-BE49-F238E27FC236}">
                <a16:creationId xmlns:a16="http://schemas.microsoft.com/office/drawing/2014/main" id="{3AAA1AD6-A947-44D1-A09F-E844B8EBABE9}"/>
              </a:ext>
            </a:extLst>
          </p:cNvPr>
          <p:cNvGrpSpPr/>
          <p:nvPr/>
        </p:nvGrpSpPr>
        <p:grpSpPr>
          <a:xfrm>
            <a:off x="7225221" y="2667000"/>
            <a:ext cx="1080961" cy="1080961"/>
            <a:chOff x="0" y="0"/>
            <a:chExt cx="812800" cy="812800"/>
          </a:xfrm>
        </p:grpSpPr>
        <p:sp>
          <p:nvSpPr>
            <p:cNvPr id="213" name="Freeform 33">
              <a:extLst>
                <a:ext uri="{FF2B5EF4-FFF2-40B4-BE49-F238E27FC236}">
                  <a16:creationId xmlns:a16="http://schemas.microsoft.com/office/drawing/2014/main" id="{2182F3DF-1710-43B9-AA40-1703BA3484E4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9443C"/>
            </a:solidFill>
            <a:ln cap="sq">
              <a:noFill/>
              <a:prstDash val="solid"/>
              <a:miter/>
            </a:ln>
          </p:spPr>
        </p:sp>
        <p:sp>
          <p:nvSpPr>
            <p:cNvPr id="214" name="TextBox 34">
              <a:extLst>
                <a:ext uri="{FF2B5EF4-FFF2-40B4-BE49-F238E27FC236}">
                  <a16:creationId xmlns:a16="http://schemas.microsoft.com/office/drawing/2014/main" id="{42B1C547-A803-44B2-B2B8-1D8624B28980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215" name="Group 35">
            <a:extLst>
              <a:ext uri="{FF2B5EF4-FFF2-40B4-BE49-F238E27FC236}">
                <a16:creationId xmlns:a16="http://schemas.microsoft.com/office/drawing/2014/main" id="{6043D1E0-2742-4F06-91F8-578D87668AF4}"/>
              </a:ext>
            </a:extLst>
          </p:cNvPr>
          <p:cNvGrpSpPr/>
          <p:nvPr/>
        </p:nvGrpSpPr>
        <p:grpSpPr>
          <a:xfrm>
            <a:off x="7225221" y="5905500"/>
            <a:ext cx="1080961" cy="1080961"/>
            <a:chOff x="0" y="0"/>
            <a:chExt cx="812800" cy="812800"/>
          </a:xfrm>
        </p:grpSpPr>
        <p:sp>
          <p:nvSpPr>
            <p:cNvPr id="216" name="Freeform 36">
              <a:extLst>
                <a:ext uri="{FF2B5EF4-FFF2-40B4-BE49-F238E27FC236}">
                  <a16:creationId xmlns:a16="http://schemas.microsoft.com/office/drawing/2014/main" id="{FBF1FBA5-CD58-4AAF-BE9F-FD336DBF703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E2B"/>
            </a:solidFill>
            <a:ln cap="sq">
              <a:noFill/>
              <a:prstDash val="solid"/>
              <a:miter/>
            </a:ln>
          </p:spPr>
        </p:sp>
        <p:sp>
          <p:nvSpPr>
            <p:cNvPr id="217" name="TextBox 37">
              <a:extLst>
                <a:ext uri="{FF2B5EF4-FFF2-40B4-BE49-F238E27FC236}">
                  <a16:creationId xmlns:a16="http://schemas.microsoft.com/office/drawing/2014/main" id="{7A1C507C-6680-4EB0-B013-89B48A7BE4AA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218" name="Freeform 38">
            <a:extLst>
              <a:ext uri="{FF2B5EF4-FFF2-40B4-BE49-F238E27FC236}">
                <a16:creationId xmlns:a16="http://schemas.microsoft.com/office/drawing/2014/main" id="{87E7EFCA-684D-42EC-8032-ED8F316ED439}"/>
              </a:ext>
            </a:extLst>
          </p:cNvPr>
          <p:cNvSpPr/>
          <p:nvPr/>
        </p:nvSpPr>
        <p:spPr>
          <a:xfrm>
            <a:off x="2003076" y="2969356"/>
            <a:ext cx="476250" cy="476250"/>
          </a:xfrm>
          <a:custGeom>
            <a:avLst/>
            <a:gdLst/>
            <a:ahLst/>
            <a:cxnLst/>
            <a:rect l="l" t="t" r="r" b="b"/>
            <a:pathLst>
              <a:path w="476250" h="476250">
                <a:moveTo>
                  <a:pt x="0" y="0"/>
                </a:moveTo>
                <a:lnTo>
                  <a:pt x="476250" y="0"/>
                </a:lnTo>
                <a:lnTo>
                  <a:pt x="476250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219" name="Group 39">
            <a:extLst>
              <a:ext uri="{FF2B5EF4-FFF2-40B4-BE49-F238E27FC236}">
                <a16:creationId xmlns:a16="http://schemas.microsoft.com/office/drawing/2014/main" id="{17461964-02B7-47F6-9E60-AE4F1664C308}"/>
              </a:ext>
            </a:extLst>
          </p:cNvPr>
          <p:cNvGrpSpPr/>
          <p:nvPr/>
        </p:nvGrpSpPr>
        <p:grpSpPr>
          <a:xfrm>
            <a:off x="12197570" y="3558416"/>
            <a:ext cx="4726277" cy="1880628"/>
            <a:chOff x="0" y="0"/>
            <a:chExt cx="1551920" cy="617523"/>
          </a:xfrm>
        </p:grpSpPr>
        <p:sp>
          <p:nvSpPr>
            <p:cNvPr id="220" name="Freeform 40">
              <a:extLst>
                <a:ext uri="{FF2B5EF4-FFF2-40B4-BE49-F238E27FC236}">
                  <a16:creationId xmlns:a16="http://schemas.microsoft.com/office/drawing/2014/main" id="{F7D08837-40D7-4401-9471-9F74E3C240BD}"/>
                </a:ext>
              </a:extLst>
            </p:cNvPr>
            <p:cNvSpPr/>
            <p:nvPr/>
          </p:nvSpPr>
          <p:spPr>
            <a:xfrm>
              <a:off x="0" y="0"/>
              <a:ext cx="1551920" cy="617523"/>
            </a:xfrm>
            <a:custGeom>
              <a:avLst/>
              <a:gdLst/>
              <a:ahLst/>
              <a:cxnLst/>
              <a:rect l="l" t="t" r="r" b="b"/>
              <a:pathLst>
                <a:path w="1551920" h="617523">
                  <a:moveTo>
                    <a:pt x="75351" y="0"/>
                  </a:moveTo>
                  <a:lnTo>
                    <a:pt x="1476569" y="0"/>
                  </a:lnTo>
                  <a:cubicBezTo>
                    <a:pt x="1518184" y="0"/>
                    <a:pt x="1551920" y="33736"/>
                    <a:pt x="1551920" y="75351"/>
                  </a:cubicBezTo>
                  <a:lnTo>
                    <a:pt x="1551920" y="542172"/>
                  </a:lnTo>
                  <a:cubicBezTo>
                    <a:pt x="1551920" y="583787"/>
                    <a:pt x="1518184" y="617523"/>
                    <a:pt x="1476569" y="617523"/>
                  </a:cubicBezTo>
                  <a:lnTo>
                    <a:pt x="75351" y="617523"/>
                  </a:lnTo>
                  <a:cubicBezTo>
                    <a:pt x="33736" y="617523"/>
                    <a:pt x="0" y="583787"/>
                    <a:pt x="0" y="542172"/>
                  </a:cubicBezTo>
                  <a:lnTo>
                    <a:pt x="0" y="75351"/>
                  </a:lnTo>
                  <a:cubicBezTo>
                    <a:pt x="0" y="33736"/>
                    <a:pt x="33736" y="0"/>
                    <a:pt x="75351" y="0"/>
                  </a:cubicBezTo>
                  <a:close/>
                </a:path>
              </a:pathLst>
            </a:custGeom>
            <a:solidFill>
              <a:srgbClr val="3D6C54"/>
            </a:solidFill>
          </p:spPr>
        </p:sp>
        <p:sp>
          <p:nvSpPr>
            <p:cNvPr id="221" name="TextBox 41">
              <a:extLst>
                <a:ext uri="{FF2B5EF4-FFF2-40B4-BE49-F238E27FC236}">
                  <a16:creationId xmlns:a16="http://schemas.microsoft.com/office/drawing/2014/main" id="{7150B502-0119-4ED6-9BEC-8E0FE40FA184}"/>
                </a:ext>
              </a:extLst>
            </p:cNvPr>
            <p:cNvSpPr txBox="1"/>
            <p:nvPr/>
          </p:nvSpPr>
          <p:spPr>
            <a:xfrm>
              <a:off x="0" y="-38100"/>
              <a:ext cx="1551920" cy="6556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222" name="Group 42">
            <a:extLst>
              <a:ext uri="{FF2B5EF4-FFF2-40B4-BE49-F238E27FC236}">
                <a16:creationId xmlns:a16="http://schemas.microsoft.com/office/drawing/2014/main" id="{BAD0141E-C09E-4F2A-964A-ED3D3BA5C7C1}"/>
              </a:ext>
            </a:extLst>
          </p:cNvPr>
          <p:cNvGrpSpPr/>
          <p:nvPr/>
        </p:nvGrpSpPr>
        <p:grpSpPr>
          <a:xfrm>
            <a:off x="12197570" y="6796916"/>
            <a:ext cx="4726277" cy="1880628"/>
            <a:chOff x="0" y="0"/>
            <a:chExt cx="1551920" cy="617523"/>
          </a:xfrm>
        </p:grpSpPr>
        <p:sp>
          <p:nvSpPr>
            <p:cNvPr id="223" name="Freeform 43">
              <a:extLst>
                <a:ext uri="{FF2B5EF4-FFF2-40B4-BE49-F238E27FC236}">
                  <a16:creationId xmlns:a16="http://schemas.microsoft.com/office/drawing/2014/main" id="{B6C19DF9-6156-4F55-AC6A-34E933F02EB5}"/>
                </a:ext>
              </a:extLst>
            </p:cNvPr>
            <p:cNvSpPr/>
            <p:nvPr/>
          </p:nvSpPr>
          <p:spPr>
            <a:xfrm>
              <a:off x="0" y="0"/>
              <a:ext cx="1551920" cy="617523"/>
            </a:xfrm>
            <a:custGeom>
              <a:avLst/>
              <a:gdLst/>
              <a:ahLst/>
              <a:cxnLst/>
              <a:rect l="l" t="t" r="r" b="b"/>
              <a:pathLst>
                <a:path w="1551920" h="617523">
                  <a:moveTo>
                    <a:pt x="75351" y="0"/>
                  </a:moveTo>
                  <a:lnTo>
                    <a:pt x="1476569" y="0"/>
                  </a:lnTo>
                  <a:cubicBezTo>
                    <a:pt x="1518184" y="0"/>
                    <a:pt x="1551920" y="33736"/>
                    <a:pt x="1551920" y="75351"/>
                  </a:cubicBezTo>
                  <a:lnTo>
                    <a:pt x="1551920" y="542172"/>
                  </a:lnTo>
                  <a:cubicBezTo>
                    <a:pt x="1551920" y="583787"/>
                    <a:pt x="1518184" y="617523"/>
                    <a:pt x="1476569" y="617523"/>
                  </a:cubicBezTo>
                  <a:lnTo>
                    <a:pt x="75351" y="617523"/>
                  </a:lnTo>
                  <a:cubicBezTo>
                    <a:pt x="33736" y="617523"/>
                    <a:pt x="0" y="583787"/>
                    <a:pt x="0" y="542172"/>
                  </a:cubicBezTo>
                  <a:lnTo>
                    <a:pt x="0" y="75351"/>
                  </a:lnTo>
                  <a:cubicBezTo>
                    <a:pt x="0" y="33736"/>
                    <a:pt x="33736" y="0"/>
                    <a:pt x="75351" y="0"/>
                  </a:cubicBezTo>
                  <a:close/>
                </a:path>
              </a:pathLst>
            </a:custGeom>
            <a:solidFill>
              <a:srgbClr val="F6CC91"/>
            </a:solidFill>
          </p:spPr>
        </p:sp>
        <p:sp>
          <p:nvSpPr>
            <p:cNvPr id="224" name="TextBox 44">
              <a:extLst>
                <a:ext uri="{FF2B5EF4-FFF2-40B4-BE49-F238E27FC236}">
                  <a16:creationId xmlns:a16="http://schemas.microsoft.com/office/drawing/2014/main" id="{F45613B5-ECE1-4FA6-ABDF-2392F818D52C}"/>
                </a:ext>
              </a:extLst>
            </p:cNvPr>
            <p:cNvSpPr txBox="1"/>
            <p:nvPr/>
          </p:nvSpPr>
          <p:spPr>
            <a:xfrm>
              <a:off x="0" y="-38100"/>
              <a:ext cx="1551920" cy="6556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225" name="Group 45">
            <a:extLst>
              <a:ext uri="{FF2B5EF4-FFF2-40B4-BE49-F238E27FC236}">
                <a16:creationId xmlns:a16="http://schemas.microsoft.com/office/drawing/2014/main" id="{9BDD9C2C-390C-4D3F-B5A9-CBF884BB19B5}"/>
              </a:ext>
            </a:extLst>
          </p:cNvPr>
          <p:cNvGrpSpPr/>
          <p:nvPr/>
        </p:nvGrpSpPr>
        <p:grpSpPr>
          <a:xfrm>
            <a:off x="13174967" y="3028149"/>
            <a:ext cx="3964463" cy="2263630"/>
            <a:chOff x="0" y="0"/>
            <a:chExt cx="1301771" cy="743285"/>
          </a:xfrm>
        </p:grpSpPr>
        <p:sp>
          <p:nvSpPr>
            <p:cNvPr id="226" name="Freeform 46">
              <a:extLst>
                <a:ext uri="{FF2B5EF4-FFF2-40B4-BE49-F238E27FC236}">
                  <a16:creationId xmlns:a16="http://schemas.microsoft.com/office/drawing/2014/main" id="{EB6A9E1B-8492-413C-8EE3-D78B3CD95AA1}"/>
                </a:ext>
              </a:extLst>
            </p:cNvPr>
            <p:cNvSpPr/>
            <p:nvPr/>
          </p:nvSpPr>
          <p:spPr>
            <a:xfrm>
              <a:off x="0" y="0"/>
              <a:ext cx="1301771" cy="743285"/>
            </a:xfrm>
            <a:custGeom>
              <a:avLst/>
              <a:gdLst/>
              <a:ahLst/>
              <a:cxnLst/>
              <a:rect l="l" t="t" r="r" b="b"/>
              <a:pathLst>
                <a:path w="1301771" h="743285">
                  <a:moveTo>
                    <a:pt x="95689" y="0"/>
                  </a:moveTo>
                  <a:lnTo>
                    <a:pt x="1206082" y="0"/>
                  </a:lnTo>
                  <a:cubicBezTo>
                    <a:pt x="1258930" y="0"/>
                    <a:pt x="1301771" y="42841"/>
                    <a:pt x="1301771" y="95689"/>
                  </a:cubicBezTo>
                  <a:lnTo>
                    <a:pt x="1301771" y="647597"/>
                  </a:lnTo>
                  <a:cubicBezTo>
                    <a:pt x="1301771" y="700444"/>
                    <a:pt x="1258930" y="743285"/>
                    <a:pt x="1206082" y="743285"/>
                  </a:cubicBezTo>
                  <a:lnTo>
                    <a:pt x="95689" y="743285"/>
                  </a:lnTo>
                  <a:cubicBezTo>
                    <a:pt x="42841" y="743285"/>
                    <a:pt x="0" y="700444"/>
                    <a:pt x="0" y="647597"/>
                  </a:cubicBezTo>
                  <a:lnTo>
                    <a:pt x="0" y="95689"/>
                  </a:lnTo>
                  <a:cubicBezTo>
                    <a:pt x="0" y="42841"/>
                    <a:pt x="42841" y="0"/>
                    <a:pt x="95689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3D6C54"/>
              </a:solidFill>
              <a:prstDash val="solid"/>
              <a:round/>
            </a:ln>
          </p:spPr>
        </p:sp>
        <p:sp>
          <p:nvSpPr>
            <p:cNvPr id="227" name="TextBox 47">
              <a:extLst>
                <a:ext uri="{FF2B5EF4-FFF2-40B4-BE49-F238E27FC236}">
                  <a16:creationId xmlns:a16="http://schemas.microsoft.com/office/drawing/2014/main" id="{354C229B-2AC7-42CE-91FF-0F9A5D873D08}"/>
                </a:ext>
              </a:extLst>
            </p:cNvPr>
            <p:cNvSpPr txBox="1"/>
            <p:nvPr/>
          </p:nvSpPr>
          <p:spPr>
            <a:xfrm>
              <a:off x="0" y="-38100"/>
              <a:ext cx="1301771" cy="7813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228" name="Group 48">
            <a:extLst>
              <a:ext uri="{FF2B5EF4-FFF2-40B4-BE49-F238E27FC236}">
                <a16:creationId xmlns:a16="http://schemas.microsoft.com/office/drawing/2014/main" id="{6FFF3692-D373-4952-943A-0EFFE36BD708}"/>
              </a:ext>
            </a:extLst>
          </p:cNvPr>
          <p:cNvGrpSpPr/>
          <p:nvPr/>
        </p:nvGrpSpPr>
        <p:grpSpPr>
          <a:xfrm>
            <a:off x="13174967" y="6266649"/>
            <a:ext cx="3964463" cy="2263630"/>
            <a:chOff x="0" y="0"/>
            <a:chExt cx="1301771" cy="743285"/>
          </a:xfrm>
        </p:grpSpPr>
        <p:sp>
          <p:nvSpPr>
            <p:cNvPr id="229" name="Freeform 49">
              <a:extLst>
                <a:ext uri="{FF2B5EF4-FFF2-40B4-BE49-F238E27FC236}">
                  <a16:creationId xmlns:a16="http://schemas.microsoft.com/office/drawing/2014/main" id="{5B2ED47E-0823-4BEB-B3BB-B3DD716154DB}"/>
                </a:ext>
              </a:extLst>
            </p:cNvPr>
            <p:cNvSpPr/>
            <p:nvPr/>
          </p:nvSpPr>
          <p:spPr>
            <a:xfrm>
              <a:off x="0" y="0"/>
              <a:ext cx="1301771" cy="743285"/>
            </a:xfrm>
            <a:custGeom>
              <a:avLst/>
              <a:gdLst/>
              <a:ahLst/>
              <a:cxnLst/>
              <a:rect l="l" t="t" r="r" b="b"/>
              <a:pathLst>
                <a:path w="1301771" h="743285">
                  <a:moveTo>
                    <a:pt x="95689" y="0"/>
                  </a:moveTo>
                  <a:lnTo>
                    <a:pt x="1206082" y="0"/>
                  </a:lnTo>
                  <a:cubicBezTo>
                    <a:pt x="1258930" y="0"/>
                    <a:pt x="1301771" y="42841"/>
                    <a:pt x="1301771" y="95689"/>
                  </a:cubicBezTo>
                  <a:lnTo>
                    <a:pt x="1301771" y="647597"/>
                  </a:lnTo>
                  <a:cubicBezTo>
                    <a:pt x="1301771" y="700444"/>
                    <a:pt x="1258930" y="743285"/>
                    <a:pt x="1206082" y="743285"/>
                  </a:cubicBezTo>
                  <a:lnTo>
                    <a:pt x="95689" y="743285"/>
                  </a:lnTo>
                  <a:cubicBezTo>
                    <a:pt x="42841" y="743285"/>
                    <a:pt x="0" y="700444"/>
                    <a:pt x="0" y="647597"/>
                  </a:cubicBezTo>
                  <a:lnTo>
                    <a:pt x="0" y="95689"/>
                  </a:lnTo>
                  <a:cubicBezTo>
                    <a:pt x="0" y="42841"/>
                    <a:pt x="42841" y="0"/>
                    <a:pt x="95689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F6CC91"/>
              </a:solidFill>
              <a:prstDash val="solid"/>
              <a:round/>
            </a:ln>
          </p:spPr>
        </p:sp>
        <p:sp>
          <p:nvSpPr>
            <p:cNvPr id="230" name="TextBox 50">
              <a:extLst>
                <a:ext uri="{FF2B5EF4-FFF2-40B4-BE49-F238E27FC236}">
                  <a16:creationId xmlns:a16="http://schemas.microsoft.com/office/drawing/2014/main" id="{2B464ABD-9890-4323-882F-27DE9F933DE4}"/>
                </a:ext>
              </a:extLst>
            </p:cNvPr>
            <p:cNvSpPr txBox="1"/>
            <p:nvPr/>
          </p:nvSpPr>
          <p:spPr>
            <a:xfrm>
              <a:off x="0" y="-38100"/>
              <a:ext cx="1301771" cy="7813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231" name="Group 51">
            <a:extLst>
              <a:ext uri="{FF2B5EF4-FFF2-40B4-BE49-F238E27FC236}">
                <a16:creationId xmlns:a16="http://schemas.microsoft.com/office/drawing/2014/main" id="{E589B847-1382-451A-A7B5-D7731306F061}"/>
              </a:ext>
            </a:extLst>
          </p:cNvPr>
          <p:cNvGrpSpPr/>
          <p:nvPr/>
        </p:nvGrpSpPr>
        <p:grpSpPr>
          <a:xfrm>
            <a:off x="12749721" y="2667000"/>
            <a:ext cx="1080961" cy="1080961"/>
            <a:chOff x="0" y="0"/>
            <a:chExt cx="812800" cy="812800"/>
          </a:xfrm>
        </p:grpSpPr>
        <p:sp>
          <p:nvSpPr>
            <p:cNvPr id="232" name="Freeform 52">
              <a:extLst>
                <a:ext uri="{FF2B5EF4-FFF2-40B4-BE49-F238E27FC236}">
                  <a16:creationId xmlns:a16="http://schemas.microsoft.com/office/drawing/2014/main" id="{13DE7D5F-50DB-48ED-8097-9DC2E14604E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D6C54"/>
            </a:solidFill>
            <a:ln cap="sq">
              <a:noFill/>
              <a:prstDash val="solid"/>
              <a:miter/>
            </a:ln>
          </p:spPr>
        </p:sp>
        <p:sp>
          <p:nvSpPr>
            <p:cNvPr id="233" name="TextBox 53">
              <a:extLst>
                <a:ext uri="{FF2B5EF4-FFF2-40B4-BE49-F238E27FC236}">
                  <a16:creationId xmlns:a16="http://schemas.microsoft.com/office/drawing/2014/main" id="{102EB022-A4C7-4003-8355-F12CE8BB3358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234" name="Group 54">
            <a:extLst>
              <a:ext uri="{FF2B5EF4-FFF2-40B4-BE49-F238E27FC236}">
                <a16:creationId xmlns:a16="http://schemas.microsoft.com/office/drawing/2014/main" id="{E4709D14-EAD8-4AD1-BDA6-405E9C43B464}"/>
              </a:ext>
            </a:extLst>
          </p:cNvPr>
          <p:cNvGrpSpPr/>
          <p:nvPr/>
        </p:nvGrpSpPr>
        <p:grpSpPr>
          <a:xfrm>
            <a:off x="12749721" y="5905500"/>
            <a:ext cx="1080961" cy="1080961"/>
            <a:chOff x="0" y="0"/>
            <a:chExt cx="812800" cy="812800"/>
          </a:xfrm>
        </p:grpSpPr>
        <p:sp>
          <p:nvSpPr>
            <p:cNvPr id="235" name="Freeform 55">
              <a:extLst>
                <a:ext uri="{FF2B5EF4-FFF2-40B4-BE49-F238E27FC236}">
                  <a16:creationId xmlns:a16="http://schemas.microsoft.com/office/drawing/2014/main" id="{77C4386C-72F1-4E5A-8E4C-2A0ED8A37E89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6CD91"/>
            </a:solidFill>
            <a:ln cap="sq">
              <a:noFill/>
              <a:prstDash val="solid"/>
              <a:miter/>
            </a:ln>
          </p:spPr>
        </p:sp>
        <p:sp>
          <p:nvSpPr>
            <p:cNvPr id="236" name="TextBox 56">
              <a:extLst>
                <a:ext uri="{FF2B5EF4-FFF2-40B4-BE49-F238E27FC236}">
                  <a16:creationId xmlns:a16="http://schemas.microsoft.com/office/drawing/2014/main" id="{0A2119E1-F2F7-4307-8A1D-E1280F99821E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237" name="Freeform 57">
            <a:extLst>
              <a:ext uri="{FF2B5EF4-FFF2-40B4-BE49-F238E27FC236}">
                <a16:creationId xmlns:a16="http://schemas.microsoft.com/office/drawing/2014/main" id="{1616254C-548A-4272-9CC2-3CF8507A3EC7}"/>
              </a:ext>
            </a:extLst>
          </p:cNvPr>
          <p:cNvSpPr/>
          <p:nvPr/>
        </p:nvSpPr>
        <p:spPr>
          <a:xfrm>
            <a:off x="7527576" y="2969356"/>
            <a:ext cx="476250" cy="476250"/>
          </a:xfrm>
          <a:custGeom>
            <a:avLst/>
            <a:gdLst/>
            <a:ahLst/>
            <a:cxnLst/>
            <a:rect l="l" t="t" r="r" b="b"/>
            <a:pathLst>
              <a:path w="476250" h="476250">
                <a:moveTo>
                  <a:pt x="0" y="0"/>
                </a:moveTo>
                <a:lnTo>
                  <a:pt x="476250" y="0"/>
                </a:lnTo>
                <a:lnTo>
                  <a:pt x="476250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38" name="Freeform 58">
            <a:extLst>
              <a:ext uri="{FF2B5EF4-FFF2-40B4-BE49-F238E27FC236}">
                <a16:creationId xmlns:a16="http://schemas.microsoft.com/office/drawing/2014/main" id="{C0FCB757-5C80-4CA6-8B6A-8632367E97C8}"/>
              </a:ext>
            </a:extLst>
          </p:cNvPr>
          <p:cNvSpPr/>
          <p:nvPr/>
        </p:nvSpPr>
        <p:spPr>
          <a:xfrm>
            <a:off x="7587107" y="6207856"/>
            <a:ext cx="357188" cy="476250"/>
          </a:xfrm>
          <a:custGeom>
            <a:avLst/>
            <a:gdLst/>
            <a:ahLst/>
            <a:cxnLst/>
            <a:rect l="l" t="t" r="r" b="b"/>
            <a:pathLst>
              <a:path w="357188" h="476250">
                <a:moveTo>
                  <a:pt x="0" y="0"/>
                </a:moveTo>
                <a:lnTo>
                  <a:pt x="357188" y="0"/>
                </a:lnTo>
                <a:lnTo>
                  <a:pt x="357188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39" name="Freeform 59">
            <a:extLst>
              <a:ext uri="{FF2B5EF4-FFF2-40B4-BE49-F238E27FC236}">
                <a16:creationId xmlns:a16="http://schemas.microsoft.com/office/drawing/2014/main" id="{3C2CAC53-22C0-4466-B562-974455564BC7}"/>
              </a:ext>
            </a:extLst>
          </p:cNvPr>
          <p:cNvSpPr/>
          <p:nvPr/>
        </p:nvSpPr>
        <p:spPr>
          <a:xfrm>
            <a:off x="2003076" y="6207856"/>
            <a:ext cx="476250" cy="476250"/>
          </a:xfrm>
          <a:custGeom>
            <a:avLst/>
            <a:gdLst/>
            <a:ahLst/>
            <a:cxnLst/>
            <a:rect l="l" t="t" r="r" b="b"/>
            <a:pathLst>
              <a:path w="476250" h="476250">
                <a:moveTo>
                  <a:pt x="0" y="0"/>
                </a:moveTo>
                <a:lnTo>
                  <a:pt x="476250" y="0"/>
                </a:lnTo>
                <a:lnTo>
                  <a:pt x="476250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40" name="Freeform 60">
            <a:extLst>
              <a:ext uri="{FF2B5EF4-FFF2-40B4-BE49-F238E27FC236}">
                <a16:creationId xmlns:a16="http://schemas.microsoft.com/office/drawing/2014/main" id="{24CCBCEC-686D-4F81-AEAD-DC1C77CE0ED5}"/>
              </a:ext>
            </a:extLst>
          </p:cNvPr>
          <p:cNvSpPr/>
          <p:nvPr/>
        </p:nvSpPr>
        <p:spPr>
          <a:xfrm>
            <a:off x="13052076" y="2969356"/>
            <a:ext cx="476250" cy="476250"/>
          </a:xfrm>
          <a:custGeom>
            <a:avLst/>
            <a:gdLst/>
            <a:ahLst/>
            <a:cxnLst/>
            <a:rect l="l" t="t" r="r" b="b"/>
            <a:pathLst>
              <a:path w="476250" h="476250">
                <a:moveTo>
                  <a:pt x="0" y="0"/>
                </a:moveTo>
                <a:lnTo>
                  <a:pt x="476250" y="0"/>
                </a:lnTo>
                <a:lnTo>
                  <a:pt x="476250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41" name="Freeform 61">
            <a:extLst>
              <a:ext uri="{FF2B5EF4-FFF2-40B4-BE49-F238E27FC236}">
                <a16:creationId xmlns:a16="http://schemas.microsoft.com/office/drawing/2014/main" id="{8D17F813-3645-4F35-ACC5-D13C77561B58}"/>
              </a:ext>
            </a:extLst>
          </p:cNvPr>
          <p:cNvSpPr/>
          <p:nvPr/>
        </p:nvSpPr>
        <p:spPr>
          <a:xfrm>
            <a:off x="13052771" y="6207856"/>
            <a:ext cx="474861" cy="476250"/>
          </a:xfrm>
          <a:custGeom>
            <a:avLst/>
            <a:gdLst/>
            <a:ahLst/>
            <a:cxnLst/>
            <a:rect l="l" t="t" r="r" b="b"/>
            <a:pathLst>
              <a:path w="474861" h="476250">
                <a:moveTo>
                  <a:pt x="0" y="0"/>
                </a:moveTo>
                <a:lnTo>
                  <a:pt x="474861" y="0"/>
                </a:lnTo>
                <a:lnTo>
                  <a:pt x="474861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42" name="TextBox 64">
            <a:extLst>
              <a:ext uri="{FF2B5EF4-FFF2-40B4-BE49-F238E27FC236}">
                <a16:creationId xmlns:a16="http://schemas.microsoft.com/office/drawing/2014/main" id="{65D764E6-2026-43C5-B0E7-6C7CE958FA98}"/>
              </a:ext>
            </a:extLst>
          </p:cNvPr>
          <p:cNvSpPr txBox="1"/>
          <p:nvPr/>
        </p:nvSpPr>
        <p:spPr>
          <a:xfrm>
            <a:off x="1262028" y="4163639"/>
            <a:ext cx="863939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 b="1" dirty="0">
                <a:solidFill>
                  <a:srgbClr val="FFFFFF"/>
                </a:solidFill>
                <a:latin typeface="Cerebri Bold"/>
                <a:ea typeface="Cerebri Bold"/>
                <a:cs typeface="Cerebri Bold"/>
                <a:sym typeface="Cerebri Bold"/>
              </a:rPr>
              <a:t>01</a:t>
            </a:r>
          </a:p>
        </p:txBody>
      </p:sp>
      <p:sp>
        <p:nvSpPr>
          <p:cNvPr id="243" name="TextBox 65">
            <a:extLst>
              <a:ext uri="{FF2B5EF4-FFF2-40B4-BE49-F238E27FC236}">
                <a16:creationId xmlns:a16="http://schemas.microsoft.com/office/drawing/2014/main" id="{8B317049-55B1-4418-B9FF-4727D17119BA}"/>
              </a:ext>
            </a:extLst>
          </p:cNvPr>
          <p:cNvSpPr txBox="1"/>
          <p:nvPr/>
        </p:nvSpPr>
        <p:spPr>
          <a:xfrm>
            <a:off x="1262028" y="7402139"/>
            <a:ext cx="863939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 b="1">
                <a:solidFill>
                  <a:srgbClr val="000000"/>
                </a:solidFill>
                <a:latin typeface="Cerebri Bold"/>
                <a:ea typeface="Cerebri Bold"/>
                <a:cs typeface="Cerebri Bold"/>
                <a:sym typeface="Cerebri Bold"/>
              </a:rPr>
              <a:t>04</a:t>
            </a:r>
          </a:p>
        </p:txBody>
      </p:sp>
      <p:sp>
        <p:nvSpPr>
          <p:cNvPr id="244" name="TextBox 66">
            <a:extLst>
              <a:ext uri="{FF2B5EF4-FFF2-40B4-BE49-F238E27FC236}">
                <a16:creationId xmlns:a16="http://schemas.microsoft.com/office/drawing/2014/main" id="{C66E2F24-6D47-4781-863E-FA7DF5772408}"/>
              </a:ext>
            </a:extLst>
          </p:cNvPr>
          <p:cNvSpPr txBox="1"/>
          <p:nvPr/>
        </p:nvSpPr>
        <p:spPr>
          <a:xfrm>
            <a:off x="6786528" y="4163639"/>
            <a:ext cx="863939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 b="1">
                <a:solidFill>
                  <a:srgbClr val="FFFFFF"/>
                </a:solidFill>
                <a:latin typeface="Cerebri Bold"/>
                <a:ea typeface="Cerebri Bold"/>
                <a:cs typeface="Cerebri Bold"/>
                <a:sym typeface="Cerebri Bold"/>
              </a:rPr>
              <a:t>02</a:t>
            </a:r>
          </a:p>
        </p:txBody>
      </p:sp>
      <p:sp>
        <p:nvSpPr>
          <p:cNvPr id="245" name="TextBox 67">
            <a:extLst>
              <a:ext uri="{FF2B5EF4-FFF2-40B4-BE49-F238E27FC236}">
                <a16:creationId xmlns:a16="http://schemas.microsoft.com/office/drawing/2014/main" id="{70BADE22-A13D-4D0B-B6C6-2461AA3B4717}"/>
              </a:ext>
            </a:extLst>
          </p:cNvPr>
          <p:cNvSpPr txBox="1"/>
          <p:nvPr/>
        </p:nvSpPr>
        <p:spPr>
          <a:xfrm>
            <a:off x="6786528" y="7402139"/>
            <a:ext cx="863939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 b="1">
                <a:solidFill>
                  <a:srgbClr val="000000"/>
                </a:solidFill>
                <a:latin typeface="Cerebri Bold"/>
                <a:ea typeface="Cerebri Bold"/>
                <a:cs typeface="Cerebri Bold"/>
                <a:sym typeface="Cerebri Bold"/>
              </a:rPr>
              <a:t>05</a:t>
            </a:r>
          </a:p>
        </p:txBody>
      </p:sp>
      <p:sp>
        <p:nvSpPr>
          <p:cNvPr id="246" name="TextBox 68">
            <a:extLst>
              <a:ext uri="{FF2B5EF4-FFF2-40B4-BE49-F238E27FC236}">
                <a16:creationId xmlns:a16="http://schemas.microsoft.com/office/drawing/2014/main" id="{9CCCDC8B-AC4C-4D10-B4A7-3D0384599BE3}"/>
              </a:ext>
            </a:extLst>
          </p:cNvPr>
          <p:cNvSpPr txBox="1"/>
          <p:nvPr/>
        </p:nvSpPr>
        <p:spPr>
          <a:xfrm>
            <a:off x="2858288" y="3938548"/>
            <a:ext cx="2812876" cy="819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39"/>
              </a:lnSpc>
              <a:spcBef>
                <a:spcPct val="0"/>
              </a:spcBef>
            </a:pPr>
            <a:r>
              <a:rPr lang="en-US" altLang="ko-KR" sz="1599" dirty="0">
                <a:solidFill>
                  <a:srgbClr val="000000"/>
                </a:solidFill>
                <a:latin typeface="JASO Sans" panose="020B0600000101010101" charset="-127"/>
                <a:ea typeface="JASO Sans" panose="020B0600000101010101" charset="-127"/>
                <a:cs typeface="Cerebri"/>
                <a:sym typeface="Cerebri"/>
              </a:rPr>
              <a:t>- </a:t>
            </a:r>
            <a:r>
              <a:rPr lang="ko-KR" altLang="en-US" sz="1599">
                <a:solidFill>
                  <a:srgbClr val="000000"/>
                </a:solidFill>
                <a:latin typeface="JASO Sans" panose="020B0600000101010101" charset="-127"/>
                <a:ea typeface="JASO Sans" panose="020B0600000101010101" charset="-127"/>
                <a:cs typeface="Cerebri"/>
                <a:sym typeface="Cerebri"/>
              </a:rPr>
              <a:t>조합 운영 </a:t>
            </a:r>
            <a:endParaRPr lang="en-US" altLang="ko-KR" sz="1599" dirty="0">
              <a:solidFill>
                <a:srgbClr val="000000"/>
              </a:solidFill>
              <a:latin typeface="JASO Sans" panose="020B0600000101010101" charset="-127"/>
              <a:ea typeface="JASO Sans" panose="020B0600000101010101" charset="-127"/>
              <a:cs typeface="Cerebri"/>
              <a:sym typeface="Cerebri"/>
            </a:endParaRPr>
          </a:p>
          <a:p>
            <a:pPr marL="0" lvl="0" indent="0" algn="l">
              <a:lnSpc>
                <a:spcPts val="2239"/>
              </a:lnSpc>
              <a:spcBef>
                <a:spcPct val="0"/>
              </a:spcBef>
            </a:pPr>
            <a:r>
              <a:rPr lang="en-US" sz="1599" u="none" strike="noStrike" dirty="0">
                <a:solidFill>
                  <a:srgbClr val="000000"/>
                </a:solidFill>
                <a:latin typeface="JASO Sans" panose="020B0600000101010101" charset="-127"/>
                <a:ea typeface="JASO Sans" panose="020B0600000101010101" charset="-127"/>
                <a:cs typeface="Cerebri"/>
                <a:sym typeface="Cerebri"/>
              </a:rPr>
              <a:t>- </a:t>
            </a:r>
            <a:r>
              <a:rPr lang="ko-KR" altLang="en-US" sz="1599" u="none" strike="noStrike">
                <a:solidFill>
                  <a:srgbClr val="000000"/>
                </a:solidFill>
                <a:latin typeface="JASO Sans" panose="020B0600000101010101" charset="-127"/>
                <a:ea typeface="JASO Sans" panose="020B0600000101010101" charset="-127"/>
                <a:cs typeface="Cerebri"/>
                <a:sym typeface="Cerebri"/>
              </a:rPr>
              <a:t>조합원 혜택</a:t>
            </a:r>
            <a:endParaRPr lang="en-US" altLang="ko-KR" sz="1599" u="none" strike="noStrike" dirty="0">
              <a:solidFill>
                <a:srgbClr val="000000"/>
              </a:solidFill>
              <a:latin typeface="JASO Sans" panose="020B0600000101010101" charset="-127"/>
              <a:ea typeface="JASO Sans" panose="020B0600000101010101" charset="-127"/>
              <a:cs typeface="Cerebri"/>
              <a:sym typeface="Cerebri"/>
            </a:endParaRPr>
          </a:p>
          <a:p>
            <a:pPr marL="0" lvl="0" indent="0" algn="l">
              <a:lnSpc>
                <a:spcPts val="2239"/>
              </a:lnSpc>
              <a:spcBef>
                <a:spcPct val="0"/>
              </a:spcBef>
            </a:pPr>
            <a:r>
              <a:rPr lang="en-US" sz="1599" dirty="0">
                <a:solidFill>
                  <a:srgbClr val="000000"/>
                </a:solidFill>
                <a:latin typeface="JASO Sans" panose="020B0600000101010101" charset="-127"/>
                <a:ea typeface="JASO Sans" panose="020B0600000101010101" charset="-127"/>
                <a:cs typeface="Cerebri"/>
                <a:sym typeface="Cerebri"/>
              </a:rPr>
              <a:t>- </a:t>
            </a:r>
            <a:r>
              <a:rPr lang="ko-KR" altLang="en-US" sz="1599">
                <a:solidFill>
                  <a:srgbClr val="000000"/>
                </a:solidFill>
                <a:latin typeface="JASO Sans" panose="020B0600000101010101" charset="-127"/>
                <a:ea typeface="JASO Sans" panose="020B0600000101010101" charset="-127"/>
                <a:cs typeface="Cerebri"/>
                <a:sym typeface="Cerebri"/>
              </a:rPr>
              <a:t>가입 절차 및 후속사항 </a:t>
            </a:r>
            <a:endParaRPr lang="en-US" sz="1599" u="none" strike="noStrike" dirty="0">
              <a:solidFill>
                <a:srgbClr val="000000"/>
              </a:solidFill>
              <a:latin typeface="JASO Sans" panose="020B0600000101010101" charset="-127"/>
              <a:ea typeface="JASO Sans" panose="020B0600000101010101" charset="-127"/>
              <a:cs typeface="Cerebri"/>
              <a:sym typeface="Cerebri"/>
            </a:endParaRPr>
          </a:p>
        </p:txBody>
      </p:sp>
      <p:sp>
        <p:nvSpPr>
          <p:cNvPr id="247" name="TextBox 69">
            <a:extLst>
              <a:ext uri="{FF2B5EF4-FFF2-40B4-BE49-F238E27FC236}">
                <a16:creationId xmlns:a16="http://schemas.microsoft.com/office/drawing/2014/main" id="{25793C27-F98B-498B-A5E8-8513573AA920}"/>
              </a:ext>
            </a:extLst>
          </p:cNvPr>
          <p:cNvSpPr txBox="1"/>
          <p:nvPr/>
        </p:nvSpPr>
        <p:spPr>
          <a:xfrm>
            <a:off x="2858287" y="7162659"/>
            <a:ext cx="3138755" cy="8195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239"/>
              </a:lnSpc>
              <a:spcBef>
                <a:spcPct val="0"/>
              </a:spcBef>
            </a:pPr>
            <a:r>
              <a:rPr lang="en-US" sz="1599" dirty="0">
                <a:solidFill>
                  <a:srgbClr val="000000"/>
                </a:solidFill>
                <a:latin typeface="JASO Sans" panose="020B0600000101010101" charset="-127"/>
                <a:ea typeface="JASO Sans" panose="020B0600000101010101" charset="-127"/>
                <a:cs typeface="Cerebri"/>
                <a:sym typeface="Cerebri"/>
              </a:rPr>
              <a:t>- </a:t>
            </a:r>
            <a:r>
              <a:rPr lang="ko-KR" altLang="en-US" sz="1599">
                <a:solidFill>
                  <a:srgbClr val="000000"/>
                </a:solidFill>
                <a:latin typeface="JASO Sans" panose="020B0600000101010101" charset="-127"/>
                <a:ea typeface="JASO Sans" panose="020B0600000101010101" charset="-127"/>
                <a:cs typeface="Cerebri"/>
                <a:sym typeface="Cerebri"/>
              </a:rPr>
              <a:t>이사회 결의로 우리사주 배정</a:t>
            </a:r>
            <a:endParaRPr lang="en-US" altLang="ko-KR" sz="1599" dirty="0">
              <a:solidFill>
                <a:srgbClr val="000000"/>
              </a:solidFill>
              <a:latin typeface="JASO Sans" panose="020B0600000101010101" charset="-127"/>
              <a:ea typeface="JASO Sans" panose="020B0600000101010101" charset="-127"/>
              <a:cs typeface="Cerebri"/>
              <a:sym typeface="Cerebri"/>
            </a:endParaRPr>
          </a:p>
          <a:p>
            <a:pPr marL="0" lvl="0" indent="0" algn="l">
              <a:lnSpc>
                <a:spcPts val="2239"/>
              </a:lnSpc>
              <a:spcBef>
                <a:spcPct val="0"/>
              </a:spcBef>
            </a:pPr>
            <a:r>
              <a:rPr lang="en-US" altLang="ko-KR" sz="1599" dirty="0">
                <a:solidFill>
                  <a:srgbClr val="000000"/>
                </a:solidFill>
                <a:latin typeface="JASO Sans" panose="020B0600000101010101" charset="-127"/>
                <a:ea typeface="JASO Sans" panose="020B0600000101010101" charset="-127"/>
                <a:cs typeface="Cerebri"/>
                <a:sym typeface="Cerebri"/>
              </a:rPr>
              <a:t>- </a:t>
            </a:r>
            <a:r>
              <a:rPr lang="ko-KR" altLang="en-US" sz="1599">
                <a:solidFill>
                  <a:srgbClr val="000000"/>
                </a:solidFill>
                <a:latin typeface="JASO Sans" panose="020B0600000101010101" charset="-127"/>
                <a:ea typeface="JASO Sans" panose="020B0600000101010101" charset="-127"/>
                <a:cs typeface="Cerebri"/>
                <a:sym typeface="Cerebri"/>
              </a:rPr>
              <a:t>일정 기준에 따른 배정</a:t>
            </a:r>
            <a:endParaRPr lang="en-US" altLang="ko-KR" sz="1599" dirty="0">
              <a:solidFill>
                <a:srgbClr val="000000"/>
              </a:solidFill>
              <a:latin typeface="JASO Sans" panose="020B0600000101010101" charset="-127"/>
              <a:ea typeface="JASO Sans" panose="020B0600000101010101" charset="-127"/>
              <a:cs typeface="Cerebri"/>
              <a:sym typeface="Cerebri"/>
            </a:endParaRPr>
          </a:p>
          <a:p>
            <a:pPr marL="0" lvl="0" indent="0" algn="l">
              <a:lnSpc>
                <a:spcPts val="2239"/>
              </a:lnSpc>
              <a:spcBef>
                <a:spcPct val="0"/>
              </a:spcBef>
            </a:pPr>
            <a:r>
              <a:rPr lang="en-US" altLang="ko-KR" sz="1599" dirty="0">
                <a:solidFill>
                  <a:srgbClr val="000000"/>
                </a:solidFill>
                <a:latin typeface="JASO Sans" panose="020B0600000101010101" charset="-127"/>
                <a:ea typeface="JASO Sans" panose="020B0600000101010101" charset="-127"/>
                <a:cs typeface="Cerebri"/>
                <a:sym typeface="Cerebri"/>
              </a:rPr>
              <a:t> : </a:t>
            </a:r>
            <a:r>
              <a:rPr lang="ko-KR" altLang="en-US" sz="1599">
                <a:solidFill>
                  <a:srgbClr val="000000"/>
                </a:solidFill>
                <a:latin typeface="JASO Sans" panose="020B0600000101010101" charset="-127"/>
                <a:ea typeface="JASO Sans" panose="020B0600000101010101" charset="-127"/>
                <a:cs typeface="Cerebri"/>
                <a:sym typeface="Cerebri"/>
              </a:rPr>
              <a:t>균등</a:t>
            </a:r>
            <a:r>
              <a:rPr lang="en-US" altLang="ko-KR" sz="1599" dirty="0">
                <a:solidFill>
                  <a:srgbClr val="000000"/>
                </a:solidFill>
                <a:latin typeface="JASO Sans" panose="020B0600000101010101" charset="-127"/>
                <a:ea typeface="JASO Sans" panose="020B0600000101010101" charset="-127"/>
                <a:cs typeface="Cerebri"/>
                <a:sym typeface="Cerebri"/>
              </a:rPr>
              <a:t>, </a:t>
            </a:r>
            <a:r>
              <a:rPr lang="ko-KR" altLang="en-US" sz="1599">
                <a:solidFill>
                  <a:srgbClr val="000000"/>
                </a:solidFill>
                <a:latin typeface="JASO Sans" panose="020B0600000101010101" charset="-127"/>
                <a:ea typeface="JASO Sans" panose="020B0600000101010101" charset="-127"/>
                <a:cs typeface="Cerebri"/>
                <a:sym typeface="Cerebri"/>
              </a:rPr>
              <a:t>저소득</a:t>
            </a:r>
            <a:r>
              <a:rPr lang="en-US" altLang="ko-KR" sz="1599">
                <a:solidFill>
                  <a:srgbClr val="000000"/>
                </a:solidFill>
                <a:latin typeface="JASO Sans" panose="020B0600000101010101" charset="-127"/>
                <a:ea typeface="JASO Sans" panose="020B0600000101010101" charset="-127"/>
                <a:cs typeface="Cerebri"/>
                <a:sym typeface="Cerebri"/>
              </a:rPr>
              <a:t>, </a:t>
            </a:r>
            <a:r>
              <a:rPr lang="ko-KR" altLang="en-US" sz="1599">
                <a:solidFill>
                  <a:srgbClr val="000000"/>
                </a:solidFill>
                <a:latin typeface="JASO Sans" panose="020B0600000101010101" charset="-127"/>
                <a:ea typeface="JASO Sans" panose="020B0600000101010101" charset="-127"/>
                <a:cs typeface="Cerebri"/>
                <a:sym typeface="Cerebri"/>
              </a:rPr>
              <a:t>근속연수 등  </a:t>
            </a:r>
            <a:endParaRPr lang="en-US" sz="1599" u="none" strike="noStrike" dirty="0">
              <a:solidFill>
                <a:srgbClr val="000000"/>
              </a:solidFill>
              <a:latin typeface="JASO Sans" panose="020B0600000101010101" charset="-127"/>
              <a:ea typeface="JASO Sans" panose="020B0600000101010101" charset="-127"/>
              <a:cs typeface="Cerebri"/>
              <a:sym typeface="Cerebri"/>
            </a:endParaRPr>
          </a:p>
        </p:txBody>
      </p:sp>
      <p:sp>
        <p:nvSpPr>
          <p:cNvPr id="248" name="TextBox 70">
            <a:extLst>
              <a:ext uri="{FF2B5EF4-FFF2-40B4-BE49-F238E27FC236}">
                <a16:creationId xmlns:a16="http://schemas.microsoft.com/office/drawing/2014/main" id="{2C972390-1151-4A51-A500-2963B88033B2}"/>
              </a:ext>
            </a:extLst>
          </p:cNvPr>
          <p:cNvSpPr txBox="1"/>
          <p:nvPr/>
        </p:nvSpPr>
        <p:spPr>
          <a:xfrm>
            <a:off x="8382788" y="3938548"/>
            <a:ext cx="2439338" cy="537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39"/>
              </a:lnSpc>
              <a:spcBef>
                <a:spcPct val="0"/>
              </a:spcBef>
            </a:pPr>
            <a:r>
              <a:rPr lang="en-US" sz="1599" dirty="0">
                <a:solidFill>
                  <a:srgbClr val="000000"/>
                </a:solidFill>
                <a:latin typeface="JASO Sans" panose="020B0600000101010101" charset="-127"/>
                <a:ea typeface="JASO Sans" panose="020B0600000101010101" charset="-127"/>
                <a:cs typeface="Cerebri"/>
                <a:sym typeface="Cerebri"/>
              </a:rPr>
              <a:t>- </a:t>
            </a:r>
            <a:r>
              <a:rPr lang="ko-KR" altLang="en-US" sz="1599" dirty="0">
                <a:solidFill>
                  <a:srgbClr val="000000"/>
                </a:solidFill>
                <a:latin typeface="JASO Sans" panose="020B0600000101010101" charset="-127"/>
                <a:ea typeface="JASO Sans" panose="020B0600000101010101" charset="-127"/>
                <a:cs typeface="Cerebri"/>
                <a:sym typeface="Cerebri"/>
              </a:rPr>
              <a:t>조합원 가입 절차</a:t>
            </a:r>
            <a:endParaRPr lang="en-US" altLang="ko-KR" sz="1599" dirty="0">
              <a:solidFill>
                <a:srgbClr val="000000"/>
              </a:solidFill>
              <a:latin typeface="JASO Sans" panose="020B0600000101010101" charset="-127"/>
              <a:ea typeface="JASO Sans" panose="020B0600000101010101" charset="-127"/>
              <a:cs typeface="Cerebri"/>
              <a:sym typeface="Cerebri"/>
            </a:endParaRPr>
          </a:p>
          <a:p>
            <a:pPr marL="0" lvl="0" indent="0" algn="l">
              <a:lnSpc>
                <a:spcPts val="2239"/>
              </a:lnSpc>
              <a:spcBef>
                <a:spcPct val="0"/>
              </a:spcBef>
            </a:pPr>
            <a:r>
              <a:rPr lang="en-US" sz="1599" u="none" strike="noStrike" dirty="0">
                <a:solidFill>
                  <a:srgbClr val="000000"/>
                </a:solidFill>
                <a:latin typeface="JASO Sans" panose="020B0600000101010101" charset="-127"/>
                <a:ea typeface="JASO Sans" panose="020B0600000101010101" charset="-127"/>
                <a:cs typeface="Cerebri"/>
                <a:sym typeface="Cerebri"/>
              </a:rPr>
              <a:t>- </a:t>
            </a:r>
            <a:r>
              <a:rPr lang="ko-KR" altLang="en-US" sz="1599" dirty="0">
                <a:solidFill>
                  <a:srgbClr val="000000"/>
                </a:solidFill>
                <a:latin typeface="JASO Sans" panose="020B0600000101010101" charset="-127"/>
                <a:ea typeface="JASO Sans" panose="020B0600000101010101" charset="-127"/>
                <a:cs typeface="Cerebri"/>
                <a:sym typeface="Cerebri"/>
              </a:rPr>
              <a:t>우리사주 수요도 조사</a:t>
            </a:r>
            <a:r>
              <a:rPr lang="en-US" altLang="ko-KR" sz="1599" dirty="0">
                <a:solidFill>
                  <a:srgbClr val="000000"/>
                </a:solidFill>
                <a:latin typeface="JASO Sans" panose="020B0600000101010101" charset="-127"/>
                <a:ea typeface="JASO Sans" panose="020B0600000101010101" charset="-127"/>
                <a:cs typeface="Cerebri"/>
                <a:sym typeface="Cerebri"/>
              </a:rPr>
              <a:t> </a:t>
            </a:r>
            <a:r>
              <a:rPr lang="ko-KR" altLang="en-US" sz="1599" dirty="0">
                <a:solidFill>
                  <a:srgbClr val="000000"/>
                </a:solidFill>
                <a:latin typeface="JASO Sans" panose="020B0600000101010101" charset="-127"/>
                <a:ea typeface="JASO Sans" panose="020B0600000101010101" charset="-127"/>
                <a:cs typeface="Cerebri"/>
                <a:sym typeface="Cerebri"/>
              </a:rPr>
              <a:t>절차</a:t>
            </a:r>
            <a:endParaRPr lang="en-US" altLang="ko-KR" sz="1599" dirty="0">
              <a:solidFill>
                <a:srgbClr val="000000"/>
              </a:solidFill>
              <a:latin typeface="JASO Sans" panose="020B0600000101010101" charset="-127"/>
              <a:ea typeface="JASO Sans" panose="020B0600000101010101" charset="-127"/>
              <a:cs typeface="Cerebri"/>
              <a:sym typeface="Cerebri"/>
            </a:endParaRPr>
          </a:p>
        </p:txBody>
      </p:sp>
      <p:sp>
        <p:nvSpPr>
          <p:cNvPr id="249" name="TextBox 71">
            <a:extLst>
              <a:ext uri="{FF2B5EF4-FFF2-40B4-BE49-F238E27FC236}">
                <a16:creationId xmlns:a16="http://schemas.microsoft.com/office/drawing/2014/main" id="{984EB7C8-8BF3-4A9F-8449-1A6BD29390CD}"/>
              </a:ext>
            </a:extLst>
          </p:cNvPr>
          <p:cNvSpPr txBox="1"/>
          <p:nvPr/>
        </p:nvSpPr>
        <p:spPr>
          <a:xfrm>
            <a:off x="8382788" y="7162659"/>
            <a:ext cx="3657388" cy="8195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239"/>
              </a:lnSpc>
              <a:spcBef>
                <a:spcPct val="0"/>
              </a:spcBef>
            </a:pPr>
            <a:r>
              <a:rPr lang="en-US" sz="1599" dirty="0">
                <a:solidFill>
                  <a:srgbClr val="000000"/>
                </a:solidFill>
                <a:latin typeface="JASO Sans" panose="020B0600000101010101" charset="-127"/>
                <a:ea typeface="JASO Sans" panose="020B0600000101010101" charset="-127"/>
                <a:cs typeface="Cerebri"/>
                <a:sym typeface="Cerebri"/>
              </a:rPr>
              <a:t>- </a:t>
            </a:r>
            <a:r>
              <a:rPr lang="ko-KR" altLang="en-US" sz="1599" dirty="0">
                <a:solidFill>
                  <a:srgbClr val="000000"/>
                </a:solidFill>
                <a:latin typeface="JASO Sans" panose="020B0600000101010101" charset="-127"/>
                <a:ea typeface="JASO Sans" panose="020B0600000101010101" charset="-127"/>
                <a:cs typeface="Cerebri"/>
                <a:sym typeface="Cerebri"/>
              </a:rPr>
              <a:t>조합원 배정 후 전량 예탁</a:t>
            </a:r>
            <a:br>
              <a:rPr lang="en-US" altLang="ko-KR" sz="1599" dirty="0">
                <a:solidFill>
                  <a:srgbClr val="000000"/>
                </a:solidFill>
                <a:latin typeface="JASO Sans" panose="020B0600000101010101" charset="-127"/>
                <a:ea typeface="JASO Sans" panose="020B0600000101010101" charset="-127"/>
                <a:cs typeface="Cerebri"/>
                <a:sym typeface="Cerebri"/>
              </a:rPr>
            </a:br>
            <a:r>
              <a:rPr lang="en-US" altLang="ko-KR" sz="1599" dirty="0">
                <a:solidFill>
                  <a:srgbClr val="000000"/>
                </a:solidFill>
                <a:latin typeface="JASO Sans" panose="020B0600000101010101" charset="-127"/>
                <a:ea typeface="JASO Sans" panose="020B0600000101010101" charset="-127"/>
                <a:cs typeface="Cerebri"/>
                <a:sym typeface="Cerebri"/>
              </a:rPr>
              <a:t> : </a:t>
            </a:r>
            <a:r>
              <a:rPr lang="ko-KR" altLang="en-US" sz="1599" dirty="0">
                <a:solidFill>
                  <a:srgbClr val="000000"/>
                </a:solidFill>
                <a:latin typeface="JASO Sans" panose="020B0600000101010101" charset="-127"/>
                <a:ea typeface="JASO Sans" panose="020B0600000101010101" charset="-127"/>
                <a:cs typeface="Cerebri"/>
                <a:sym typeface="Cerebri"/>
              </a:rPr>
              <a:t>일정 기간 의무보유 필수</a:t>
            </a:r>
            <a:br>
              <a:rPr lang="en-US" altLang="ko-KR" sz="1599" dirty="0">
                <a:solidFill>
                  <a:srgbClr val="000000"/>
                </a:solidFill>
                <a:latin typeface="JASO Sans" panose="020B0600000101010101" charset="-127"/>
                <a:ea typeface="JASO Sans" panose="020B0600000101010101" charset="-127"/>
                <a:cs typeface="Cerebri"/>
                <a:sym typeface="Cerebri"/>
              </a:rPr>
            </a:br>
            <a:r>
              <a:rPr lang="en-US" sz="1599" u="none" strike="noStrike" dirty="0">
                <a:solidFill>
                  <a:srgbClr val="000000"/>
                </a:solidFill>
                <a:latin typeface="JASO Sans" panose="020B0600000101010101" charset="-127"/>
                <a:ea typeface="JASO Sans" panose="020B0600000101010101" charset="-127"/>
                <a:cs typeface="Cerebri"/>
                <a:sym typeface="Cerebri"/>
              </a:rPr>
              <a:t>- </a:t>
            </a:r>
            <a:r>
              <a:rPr lang="ko-KR" altLang="en-US" sz="1599" dirty="0">
                <a:solidFill>
                  <a:srgbClr val="000000"/>
                </a:solidFill>
                <a:latin typeface="JASO Sans" panose="020B0600000101010101" charset="-127"/>
                <a:ea typeface="JASO Sans" panose="020B0600000101010101" charset="-127"/>
                <a:cs typeface="Cerebri"/>
                <a:sym typeface="Cerebri"/>
              </a:rPr>
              <a:t>한국증권금융 기관 예탁 진행</a:t>
            </a:r>
            <a:endParaRPr lang="en-US" sz="1599" u="none" strike="noStrike" dirty="0">
              <a:solidFill>
                <a:srgbClr val="000000"/>
              </a:solidFill>
              <a:latin typeface="JASO Sans" panose="020B0600000101010101" charset="-127"/>
              <a:ea typeface="JASO Sans" panose="020B0600000101010101" charset="-127"/>
              <a:cs typeface="Cerebri"/>
              <a:sym typeface="Cerebri"/>
            </a:endParaRPr>
          </a:p>
        </p:txBody>
      </p:sp>
      <p:sp>
        <p:nvSpPr>
          <p:cNvPr id="250" name="TextBox 72">
            <a:extLst>
              <a:ext uri="{FF2B5EF4-FFF2-40B4-BE49-F238E27FC236}">
                <a16:creationId xmlns:a16="http://schemas.microsoft.com/office/drawing/2014/main" id="{27136411-81B6-4FB0-90DF-292ED62E8C62}"/>
              </a:ext>
            </a:extLst>
          </p:cNvPr>
          <p:cNvSpPr txBox="1"/>
          <p:nvPr/>
        </p:nvSpPr>
        <p:spPr>
          <a:xfrm>
            <a:off x="2858288" y="3526670"/>
            <a:ext cx="2812876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0"/>
              </a:lnSpc>
              <a:spcBef>
                <a:spcPct val="0"/>
              </a:spcBef>
            </a:pPr>
            <a:r>
              <a:rPr lang="ko-KR" altLang="en-US" sz="2000" b="1" dirty="0">
                <a:solidFill>
                  <a:srgbClr val="000000"/>
                </a:solidFill>
                <a:latin typeface="JASO Sans" panose="020B0600000101010101" charset="-127"/>
                <a:ea typeface="JASO Sans" panose="020B0600000101010101" charset="-127"/>
                <a:cs typeface="Cerebri Bold"/>
                <a:sym typeface="Cerebri Bold"/>
              </a:rPr>
              <a:t>우리사주조합 설명회</a:t>
            </a:r>
            <a:endParaRPr lang="en-US" sz="2000" b="1" dirty="0">
              <a:solidFill>
                <a:srgbClr val="000000"/>
              </a:solidFill>
              <a:latin typeface="JASO Sans" panose="020B0600000101010101" charset="-127"/>
              <a:ea typeface="JASO Sans" panose="020B0600000101010101" charset="-127"/>
              <a:cs typeface="Cerebri Bold"/>
              <a:sym typeface="Cerebri Bold"/>
            </a:endParaRPr>
          </a:p>
        </p:txBody>
      </p:sp>
      <p:sp>
        <p:nvSpPr>
          <p:cNvPr id="251" name="TextBox 73">
            <a:extLst>
              <a:ext uri="{FF2B5EF4-FFF2-40B4-BE49-F238E27FC236}">
                <a16:creationId xmlns:a16="http://schemas.microsoft.com/office/drawing/2014/main" id="{CF04EA44-9FA4-40F3-BFB5-DA1161EFE8CD}"/>
              </a:ext>
            </a:extLst>
          </p:cNvPr>
          <p:cNvSpPr txBox="1"/>
          <p:nvPr/>
        </p:nvSpPr>
        <p:spPr>
          <a:xfrm>
            <a:off x="2858288" y="6750781"/>
            <a:ext cx="2812876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0"/>
              </a:lnSpc>
              <a:spcBef>
                <a:spcPct val="0"/>
              </a:spcBef>
            </a:pPr>
            <a:r>
              <a:rPr lang="ko-KR" altLang="en-US" sz="2000" b="1" dirty="0">
                <a:solidFill>
                  <a:srgbClr val="000000"/>
                </a:solidFill>
                <a:latin typeface="JASO Sans" panose="020B0600000101010101" charset="-127"/>
                <a:ea typeface="JASO Sans" panose="020B0600000101010101" charset="-127"/>
                <a:cs typeface="Cerebri Bold"/>
                <a:sym typeface="Cerebri Bold"/>
              </a:rPr>
              <a:t>조합원 배정</a:t>
            </a:r>
            <a:endParaRPr lang="en-US" sz="2000" b="1" dirty="0">
              <a:solidFill>
                <a:srgbClr val="000000"/>
              </a:solidFill>
              <a:latin typeface="JASO Sans" panose="020B0600000101010101" charset="-127"/>
              <a:ea typeface="JASO Sans" panose="020B0600000101010101" charset="-127"/>
              <a:cs typeface="Cerebri Bold"/>
              <a:sym typeface="Cerebri Bold"/>
            </a:endParaRPr>
          </a:p>
        </p:txBody>
      </p:sp>
      <p:sp>
        <p:nvSpPr>
          <p:cNvPr id="252" name="TextBox 74">
            <a:extLst>
              <a:ext uri="{FF2B5EF4-FFF2-40B4-BE49-F238E27FC236}">
                <a16:creationId xmlns:a16="http://schemas.microsoft.com/office/drawing/2014/main" id="{0AB02613-E0DE-456B-A2CC-95772BC28919}"/>
              </a:ext>
            </a:extLst>
          </p:cNvPr>
          <p:cNvSpPr txBox="1"/>
          <p:nvPr/>
        </p:nvSpPr>
        <p:spPr>
          <a:xfrm>
            <a:off x="8382788" y="3526670"/>
            <a:ext cx="2812876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0"/>
              </a:lnSpc>
              <a:spcBef>
                <a:spcPct val="0"/>
              </a:spcBef>
            </a:pPr>
            <a:r>
              <a:rPr lang="ko-KR" altLang="en-US" sz="2000" b="1" dirty="0">
                <a:solidFill>
                  <a:srgbClr val="000000"/>
                </a:solidFill>
                <a:latin typeface="JASO Sans" panose="020B0600000101010101" charset="-127"/>
                <a:ea typeface="JASO Sans" panose="020B0600000101010101" charset="-127"/>
                <a:cs typeface="Cerebri Bold"/>
                <a:sym typeface="Cerebri Bold"/>
              </a:rPr>
              <a:t>조합원 가입</a:t>
            </a:r>
            <a:r>
              <a:rPr lang="en-US" altLang="ko-KR" sz="2000" b="1" dirty="0">
                <a:solidFill>
                  <a:srgbClr val="000000"/>
                </a:solidFill>
                <a:latin typeface="JASO Sans" panose="020B0600000101010101" charset="-127"/>
                <a:ea typeface="JASO Sans" panose="020B0600000101010101" charset="-127"/>
                <a:cs typeface="Cerebri Bold"/>
                <a:sym typeface="Cerebri Bold"/>
              </a:rPr>
              <a:t> &amp; </a:t>
            </a:r>
            <a:r>
              <a:rPr lang="ko-KR" altLang="en-US" sz="2000" b="1" dirty="0">
                <a:solidFill>
                  <a:srgbClr val="000000"/>
                </a:solidFill>
                <a:latin typeface="JASO Sans" panose="020B0600000101010101" charset="-127"/>
                <a:ea typeface="JASO Sans" panose="020B0600000101010101" charset="-127"/>
                <a:cs typeface="Cerebri Bold"/>
                <a:sym typeface="Cerebri Bold"/>
              </a:rPr>
              <a:t>수요 조사</a:t>
            </a:r>
            <a:endParaRPr lang="en-US" sz="2000" b="1" dirty="0">
              <a:solidFill>
                <a:srgbClr val="000000"/>
              </a:solidFill>
              <a:latin typeface="JASO Sans" panose="020B0600000101010101" charset="-127"/>
              <a:ea typeface="JASO Sans" panose="020B0600000101010101" charset="-127"/>
              <a:cs typeface="Cerebri Bold"/>
              <a:sym typeface="Cerebri Bold"/>
            </a:endParaRPr>
          </a:p>
        </p:txBody>
      </p:sp>
      <p:sp>
        <p:nvSpPr>
          <p:cNvPr id="253" name="TextBox 75">
            <a:extLst>
              <a:ext uri="{FF2B5EF4-FFF2-40B4-BE49-F238E27FC236}">
                <a16:creationId xmlns:a16="http://schemas.microsoft.com/office/drawing/2014/main" id="{3302BE57-A173-45C5-8D71-4AB202A92DFF}"/>
              </a:ext>
            </a:extLst>
          </p:cNvPr>
          <p:cNvSpPr txBox="1"/>
          <p:nvPr/>
        </p:nvSpPr>
        <p:spPr>
          <a:xfrm>
            <a:off x="8382788" y="6750781"/>
            <a:ext cx="2812876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0"/>
              </a:lnSpc>
              <a:spcBef>
                <a:spcPct val="0"/>
              </a:spcBef>
            </a:pPr>
            <a:r>
              <a:rPr lang="ko-KR" altLang="en-US" sz="2000" b="1" dirty="0">
                <a:solidFill>
                  <a:srgbClr val="000000"/>
                </a:solidFill>
                <a:latin typeface="JASO Sans" panose="020B0600000101010101" charset="-127"/>
                <a:ea typeface="JASO Sans" panose="020B0600000101010101" charset="-127"/>
                <a:cs typeface="Cerebri Bold"/>
                <a:sym typeface="Cerebri Bold"/>
              </a:rPr>
              <a:t>우리사주 예탁</a:t>
            </a:r>
            <a:endParaRPr lang="en-US" sz="2000" b="1" dirty="0">
              <a:solidFill>
                <a:srgbClr val="000000"/>
              </a:solidFill>
              <a:latin typeface="JASO Sans" panose="020B0600000101010101" charset="-127"/>
              <a:ea typeface="JASO Sans" panose="020B0600000101010101" charset="-127"/>
              <a:cs typeface="Cerebri Bold"/>
              <a:sym typeface="Cerebri Bold"/>
            </a:endParaRPr>
          </a:p>
        </p:txBody>
      </p:sp>
      <p:sp>
        <p:nvSpPr>
          <p:cNvPr id="254" name="TextBox 76">
            <a:extLst>
              <a:ext uri="{FF2B5EF4-FFF2-40B4-BE49-F238E27FC236}">
                <a16:creationId xmlns:a16="http://schemas.microsoft.com/office/drawing/2014/main" id="{2177A819-BFA9-4D46-B255-D8F4DBAD3093}"/>
              </a:ext>
            </a:extLst>
          </p:cNvPr>
          <p:cNvSpPr txBox="1"/>
          <p:nvPr/>
        </p:nvSpPr>
        <p:spPr>
          <a:xfrm>
            <a:off x="12311028" y="4163639"/>
            <a:ext cx="863939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 b="1">
                <a:solidFill>
                  <a:srgbClr val="FFFFFF"/>
                </a:solidFill>
                <a:latin typeface="Cerebri Bold"/>
                <a:ea typeface="Cerebri Bold"/>
                <a:cs typeface="Cerebri Bold"/>
                <a:sym typeface="Cerebri Bold"/>
              </a:rPr>
              <a:t>03</a:t>
            </a:r>
          </a:p>
        </p:txBody>
      </p:sp>
      <p:sp>
        <p:nvSpPr>
          <p:cNvPr id="255" name="TextBox 77">
            <a:extLst>
              <a:ext uri="{FF2B5EF4-FFF2-40B4-BE49-F238E27FC236}">
                <a16:creationId xmlns:a16="http://schemas.microsoft.com/office/drawing/2014/main" id="{97EE0359-228C-4FDF-9B40-4C041FA62F3F}"/>
              </a:ext>
            </a:extLst>
          </p:cNvPr>
          <p:cNvSpPr txBox="1"/>
          <p:nvPr/>
        </p:nvSpPr>
        <p:spPr>
          <a:xfrm>
            <a:off x="12311028" y="7402139"/>
            <a:ext cx="863939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 b="1">
                <a:solidFill>
                  <a:srgbClr val="000000"/>
                </a:solidFill>
                <a:latin typeface="Cerebri Bold"/>
                <a:ea typeface="Cerebri Bold"/>
                <a:cs typeface="Cerebri Bold"/>
                <a:sym typeface="Cerebri Bold"/>
              </a:rPr>
              <a:t>06</a:t>
            </a:r>
          </a:p>
        </p:txBody>
      </p:sp>
      <p:sp>
        <p:nvSpPr>
          <p:cNvPr id="256" name="TextBox 78">
            <a:extLst>
              <a:ext uri="{FF2B5EF4-FFF2-40B4-BE49-F238E27FC236}">
                <a16:creationId xmlns:a16="http://schemas.microsoft.com/office/drawing/2014/main" id="{61639B98-2021-447C-804C-2F06719F3E15}"/>
              </a:ext>
            </a:extLst>
          </p:cNvPr>
          <p:cNvSpPr txBox="1"/>
          <p:nvPr/>
        </p:nvSpPr>
        <p:spPr>
          <a:xfrm>
            <a:off x="13907288" y="3938548"/>
            <a:ext cx="2505257" cy="11016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39"/>
              </a:lnSpc>
              <a:spcBef>
                <a:spcPct val="0"/>
              </a:spcBef>
            </a:pPr>
            <a:r>
              <a:rPr lang="en-US" sz="1599" dirty="0">
                <a:solidFill>
                  <a:srgbClr val="000000"/>
                </a:solidFill>
                <a:latin typeface="JASO Sans" panose="020B0600000101010101" charset="-127"/>
                <a:ea typeface="JASO Sans" panose="020B0600000101010101" charset="-127"/>
                <a:cs typeface="Cerebri"/>
                <a:sym typeface="Cerebri"/>
              </a:rPr>
              <a:t>- </a:t>
            </a:r>
            <a:r>
              <a:rPr lang="ko-KR" altLang="en-US" sz="1599">
                <a:solidFill>
                  <a:srgbClr val="000000"/>
                </a:solidFill>
                <a:latin typeface="JASO Sans" panose="020B0600000101010101" charset="-127"/>
                <a:ea typeface="JASO Sans" panose="020B0600000101010101" charset="-127"/>
                <a:cs typeface="Cerebri"/>
                <a:sym typeface="Cerebri"/>
              </a:rPr>
              <a:t>조합원 및 회사 협력 출연</a:t>
            </a:r>
            <a:endParaRPr lang="en-US" altLang="ko-KR" sz="1599" dirty="0">
              <a:solidFill>
                <a:srgbClr val="000000"/>
              </a:solidFill>
              <a:latin typeface="JASO Sans" panose="020B0600000101010101" charset="-127"/>
              <a:ea typeface="JASO Sans" panose="020B0600000101010101" charset="-127"/>
              <a:cs typeface="Cerebri"/>
              <a:sym typeface="Cerebri"/>
            </a:endParaRPr>
          </a:p>
          <a:p>
            <a:pPr marL="0" lvl="0" indent="0" algn="l">
              <a:lnSpc>
                <a:spcPts val="2239"/>
              </a:lnSpc>
              <a:spcBef>
                <a:spcPct val="0"/>
              </a:spcBef>
            </a:pPr>
            <a:r>
              <a:rPr lang="en-US" sz="1599" u="none" strike="noStrike" dirty="0">
                <a:solidFill>
                  <a:srgbClr val="000000"/>
                </a:solidFill>
                <a:latin typeface="JASO Sans" panose="020B0600000101010101" charset="-127"/>
                <a:ea typeface="JASO Sans" panose="020B0600000101010101" charset="-127"/>
                <a:cs typeface="Cerebri"/>
                <a:sym typeface="Cerebri"/>
              </a:rPr>
              <a:t> : </a:t>
            </a:r>
            <a:r>
              <a:rPr lang="ko-KR" altLang="en-US" sz="1599" u="none" strike="noStrike">
                <a:solidFill>
                  <a:srgbClr val="000000"/>
                </a:solidFill>
                <a:latin typeface="JASO Sans" panose="020B0600000101010101" charset="-127"/>
                <a:ea typeface="JASO Sans" panose="020B0600000101010101" charset="-127"/>
                <a:cs typeface="Cerebri"/>
                <a:sym typeface="Cerebri"/>
              </a:rPr>
              <a:t>조합원 </a:t>
            </a:r>
            <a:r>
              <a:rPr lang="en-US" altLang="ko-KR" sz="1599" u="none" strike="noStrike" dirty="0">
                <a:solidFill>
                  <a:srgbClr val="000000"/>
                </a:solidFill>
                <a:latin typeface="JASO Sans" panose="020B0600000101010101" charset="-127"/>
                <a:ea typeface="JASO Sans" panose="020B0600000101010101" charset="-127"/>
                <a:cs typeface="Cerebri"/>
                <a:sym typeface="Cerebri"/>
              </a:rPr>
              <a:t>80%, </a:t>
            </a:r>
            <a:r>
              <a:rPr lang="ko-KR" altLang="en-US" sz="1599" u="none" strike="noStrike">
                <a:solidFill>
                  <a:srgbClr val="000000"/>
                </a:solidFill>
                <a:latin typeface="JASO Sans" panose="020B0600000101010101" charset="-127"/>
                <a:ea typeface="JASO Sans" panose="020B0600000101010101" charset="-127"/>
                <a:cs typeface="Cerebri"/>
                <a:sym typeface="Cerebri"/>
              </a:rPr>
              <a:t>회사 </a:t>
            </a:r>
            <a:r>
              <a:rPr lang="en-US" altLang="ko-KR" sz="1599" u="none" strike="noStrike" dirty="0">
                <a:solidFill>
                  <a:srgbClr val="000000"/>
                </a:solidFill>
                <a:latin typeface="JASO Sans" panose="020B0600000101010101" charset="-127"/>
                <a:ea typeface="JASO Sans" panose="020B0600000101010101" charset="-127"/>
                <a:cs typeface="Cerebri"/>
                <a:sym typeface="Cerebri"/>
              </a:rPr>
              <a:t>20%</a:t>
            </a:r>
          </a:p>
          <a:p>
            <a:pPr marL="0" lvl="0" indent="0" algn="l">
              <a:lnSpc>
                <a:spcPts val="2239"/>
              </a:lnSpc>
              <a:spcBef>
                <a:spcPct val="0"/>
              </a:spcBef>
            </a:pPr>
            <a:r>
              <a:rPr lang="en-US" sz="1599" u="none" strike="noStrike" dirty="0">
                <a:solidFill>
                  <a:srgbClr val="000000"/>
                </a:solidFill>
                <a:latin typeface="JASO Sans" panose="020B0600000101010101" charset="-127"/>
                <a:ea typeface="JASO Sans" panose="020B0600000101010101" charset="-127"/>
                <a:cs typeface="Cerebri"/>
                <a:sym typeface="Cerebri"/>
              </a:rPr>
              <a:t>- </a:t>
            </a:r>
            <a:r>
              <a:rPr lang="ko-KR" altLang="en-US" sz="1599" u="none" strike="noStrike">
                <a:solidFill>
                  <a:srgbClr val="000000"/>
                </a:solidFill>
                <a:latin typeface="JASO Sans" panose="020B0600000101010101" charset="-127"/>
                <a:ea typeface="JASO Sans" panose="020B0600000101010101" charset="-127"/>
                <a:cs typeface="Cerebri"/>
                <a:sym typeface="Cerebri"/>
              </a:rPr>
              <a:t>수요조사 기반 조합 대출</a:t>
            </a:r>
            <a:endParaRPr lang="en-US" altLang="ko-KR" sz="1599" u="none" strike="noStrike">
              <a:solidFill>
                <a:srgbClr val="000000"/>
              </a:solidFill>
              <a:latin typeface="JASO Sans" panose="020B0600000101010101" charset="-127"/>
              <a:ea typeface="JASO Sans" panose="020B0600000101010101" charset="-127"/>
              <a:cs typeface="Cerebri"/>
              <a:sym typeface="Cerebri"/>
            </a:endParaRPr>
          </a:p>
          <a:p>
            <a:pPr marL="0" lvl="0" indent="0" algn="l">
              <a:lnSpc>
                <a:spcPts val="2239"/>
              </a:lnSpc>
              <a:spcBef>
                <a:spcPct val="0"/>
              </a:spcBef>
            </a:pPr>
            <a:r>
              <a:rPr lang="en-US" sz="1599" u="none" strike="noStrike" dirty="0">
                <a:solidFill>
                  <a:srgbClr val="000000"/>
                </a:solidFill>
                <a:latin typeface="JASO Sans" panose="020B0600000101010101" charset="-127"/>
                <a:ea typeface="JASO Sans" panose="020B0600000101010101" charset="-127"/>
                <a:cs typeface="Cerebri"/>
                <a:sym typeface="Cerebri"/>
              </a:rPr>
              <a:t>- </a:t>
            </a:r>
            <a:r>
              <a:rPr lang="ko-KR" altLang="en-US" sz="1599" u="none" strike="noStrike">
                <a:solidFill>
                  <a:srgbClr val="000000"/>
                </a:solidFill>
                <a:latin typeface="JASO Sans" panose="020B0600000101010101" charset="-127"/>
                <a:ea typeface="JASO Sans" panose="020B0600000101010101" charset="-127"/>
                <a:cs typeface="Cerebri"/>
                <a:sym typeface="Cerebri"/>
              </a:rPr>
              <a:t>주식 시장 통한 구주 취득</a:t>
            </a:r>
            <a:endParaRPr lang="en-US" sz="1599" u="none" strike="noStrike" dirty="0">
              <a:solidFill>
                <a:srgbClr val="000000"/>
              </a:solidFill>
              <a:latin typeface="JASO Sans" panose="020B0600000101010101" charset="-127"/>
              <a:ea typeface="JASO Sans" panose="020B0600000101010101" charset="-127"/>
              <a:cs typeface="Cerebri"/>
              <a:sym typeface="Cerebri"/>
            </a:endParaRPr>
          </a:p>
        </p:txBody>
      </p:sp>
      <p:sp>
        <p:nvSpPr>
          <p:cNvPr id="257" name="TextBox 79">
            <a:extLst>
              <a:ext uri="{FF2B5EF4-FFF2-40B4-BE49-F238E27FC236}">
                <a16:creationId xmlns:a16="http://schemas.microsoft.com/office/drawing/2014/main" id="{1FBA11E5-E9DF-4954-9CBB-31ADF15FEFCA}"/>
              </a:ext>
            </a:extLst>
          </p:cNvPr>
          <p:cNvSpPr txBox="1"/>
          <p:nvPr/>
        </p:nvSpPr>
        <p:spPr>
          <a:xfrm>
            <a:off x="13907288" y="7162659"/>
            <a:ext cx="2812876" cy="819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39"/>
              </a:lnSpc>
              <a:spcBef>
                <a:spcPct val="0"/>
              </a:spcBef>
            </a:pPr>
            <a:r>
              <a:rPr lang="en-US" sz="1599" dirty="0">
                <a:solidFill>
                  <a:srgbClr val="000000"/>
                </a:solidFill>
                <a:latin typeface="JASO Sans" panose="020B0600000101010101" charset="-127"/>
                <a:ea typeface="JASO Sans" panose="020B0600000101010101" charset="-127"/>
                <a:cs typeface="Cerebri"/>
                <a:sym typeface="Cerebri"/>
              </a:rPr>
              <a:t>- </a:t>
            </a:r>
            <a:r>
              <a:rPr lang="ko-KR" altLang="en-US" sz="1599">
                <a:solidFill>
                  <a:srgbClr val="000000"/>
                </a:solidFill>
                <a:latin typeface="JASO Sans" panose="020B0600000101010101" charset="-127"/>
                <a:ea typeface="JASO Sans" panose="020B0600000101010101" charset="-127"/>
                <a:cs typeface="Cerebri"/>
                <a:sym typeface="Cerebri"/>
              </a:rPr>
              <a:t>조합 대출 </a:t>
            </a:r>
            <a:r>
              <a:rPr lang="en-US" altLang="ko-KR" sz="1599" dirty="0">
                <a:solidFill>
                  <a:srgbClr val="000000"/>
                </a:solidFill>
                <a:latin typeface="JASO Sans" panose="020B0600000101010101" charset="-127"/>
                <a:ea typeface="JASO Sans" panose="020B0600000101010101" charset="-127"/>
                <a:cs typeface="Cerebri"/>
                <a:sym typeface="Cerebri"/>
              </a:rPr>
              <a:t>-&gt; </a:t>
            </a:r>
            <a:r>
              <a:rPr lang="ko-KR" altLang="en-US" sz="1599">
                <a:solidFill>
                  <a:srgbClr val="000000"/>
                </a:solidFill>
                <a:latin typeface="JASO Sans" panose="020B0600000101010101" charset="-127"/>
                <a:ea typeface="JASO Sans" panose="020B0600000101010101" charset="-127"/>
                <a:cs typeface="Cerebri"/>
                <a:sym typeface="Cerebri"/>
              </a:rPr>
              <a:t>조합원 대출 전환</a:t>
            </a:r>
            <a:endParaRPr lang="en-US" altLang="ko-KR" sz="1599" dirty="0">
              <a:solidFill>
                <a:srgbClr val="000000"/>
              </a:solidFill>
              <a:latin typeface="JASO Sans" panose="020B0600000101010101" charset="-127"/>
              <a:ea typeface="JASO Sans" panose="020B0600000101010101" charset="-127"/>
              <a:cs typeface="Cerebri"/>
              <a:sym typeface="Cerebri"/>
            </a:endParaRPr>
          </a:p>
          <a:p>
            <a:pPr marL="0" lvl="0" indent="0" algn="l">
              <a:lnSpc>
                <a:spcPts val="2239"/>
              </a:lnSpc>
              <a:spcBef>
                <a:spcPct val="0"/>
              </a:spcBef>
            </a:pPr>
            <a:r>
              <a:rPr lang="en-US" sz="1599" dirty="0">
                <a:solidFill>
                  <a:srgbClr val="000000"/>
                </a:solidFill>
                <a:latin typeface="JASO Sans" panose="020B0600000101010101" charset="-127"/>
                <a:ea typeface="JASO Sans" panose="020B0600000101010101" charset="-127"/>
                <a:cs typeface="Cerebri"/>
                <a:sym typeface="Cerebri"/>
              </a:rPr>
              <a:t> : </a:t>
            </a:r>
            <a:r>
              <a:rPr lang="ko-KR" altLang="en-US" sz="1599">
                <a:solidFill>
                  <a:srgbClr val="000000"/>
                </a:solidFill>
                <a:latin typeface="JASO Sans" panose="020B0600000101010101" charset="-127"/>
                <a:ea typeface="JASO Sans" panose="020B0600000101010101" charset="-127"/>
                <a:cs typeface="Cerebri"/>
                <a:sym typeface="Cerebri"/>
              </a:rPr>
              <a:t>우리사주 배정분에 한해 전환</a:t>
            </a:r>
            <a:endParaRPr lang="en-US" altLang="ko-KR" sz="1599" dirty="0">
              <a:solidFill>
                <a:srgbClr val="000000"/>
              </a:solidFill>
              <a:latin typeface="JASO Sans" panose="020B0600000101010101" charset="-127"/>
              <a:ea typeface="JASO Sans" panose="020B0600000101010101" charset="-127"/>
              <a:cs typeface="Cerebri"/>
              <a:sym typeface="Cerebri"/>
            </a:endParaRPr>
          </a:p>
          <a:p>
            <a:pPr marL="0" lvl="0" indent="0" algn="l">
              <a:lnSpc>
                <a:spcPts val="2239"/>
              </a:lnSpc>
              <a:spcBef>
                <a:spcPct val="0"/>
              </a:spcBef>
            </a:pPr>
            <a:r>
              <a:rPr lang="en-US" sz="1599" u="none" strike="noStrike" dirty="0">
                <a:solidFill>
                  <a:srgbClr val="000000"/>
                </a:solidFill>
                <a:latin typeface="JASO Sans" panose="020B0600000101010101" charset="-127"/>
                <a:ea typeface="JASO Sans" panose="020B0600000101010101" charset="-127"/>
                <a:cs typeface="Cerebri"/>
                <a:sym typeface="Cerebri"/>
              </a:rPr>
              <a:t>- </a:t>
            </a:r>
            <a:r>
              <a:rPr lang="ko-KR" altLang="en-US" sz="1599" u="none" strike="noStrike">
                <a:solidFill>
                  <a:srgbClr val="000000"/>
                </a:solidFill>
                <a:latin typeface="JASO Sans" panose="020B0600000101010101" charset="-127"/>
                <a:ea typeface="JASO Sans" panose="020B0600000101010101" charset="-127"/>
                <a:cs typeface="Cerebri"/>
                <a:sym typeface="Cerebri"/>
              </a:rPr>
              <a:t>전환 후 즉시 상환 </a:t>
            </a:r>
            <a:r>
              <a:rPr lang="en-US" altLang="ko-KR" sz="1599" u="none" strike="noStrike" dirty="0">
                <a:solidFill>
                  <a:srgbClr val="000000"/>
                </a:solidFill>
                <a:latin typeface="JASO Sans" panose="020B0600000101010101" charset="-127"/>
                <a:ea typeface="JASO Sans" panose="020B0600000101010101" charset="-127"/>
                <a:cs typeface="Cerebri"/>
                <a:sym typeface="Cerebri"/>
              </a:rPr>
              <a:t>or </a:t>
            </a:r>
            <a:r>
              <a:rPr lang="ko-KR" altLang="en-US" sz="1599" u="none" strike="noStrike">
                <a:solidFill>
                  <a:srgbClr val="000000"/>
                </a:solidFill>
                <a:latin typeface="JASO Sans" panose="020B0600000101010101" charset="-127"/>
                <a:ea typeface="JASO Sans" panose="020B0600000101010101" charset="-127"/>
                <a:cs typeface="Cerebri"/>
                <a:sym typeface="Cerebri"/>
              </a:rPr>
              <a:t>유지 가능</a:t>
            </a:r>
            <a:r>
              <a:rPr lang="en-US" sz="1599" u="none" strike="noStrike">
                <a:solidFill>
                  <a:srgbClr val="000000"/>
                </a:solidFill>
                <a:latin typeface="JASO Sans" panose="020B0600000101010101" charset="-127"/>
                <a:ea typeface="JASO Sans" panose="020B0600000101010101" charset="-127"/>
                <a:cs typeface="Cerebri"/>
                <a:sym typeface="Cerebri"/>
              </a:rPr>
              <a:t> </a:t>
            </a:r>
            <a:endParaRPr lang="en-US" sz="1599" u="none" strike="noStrike" dirty="0">
              <a:solidFill>
                <a:srgbClr val="000000"/>
              </a:solidFill>
              <a:latin typeface="JASO Sans" panose="020B0600000101010101" charset="-127"/>
              <a:ea typeface="JASO Sans" panose="020B0600000101010101" charset="-127"/>
              <a:cs typeface="Cerebri"/>
              <a:sym typeface="Cerebri"/>
            </a:endParaRPr>
          </a:p>
        </p:txBody>
      </p:sp>
      <p:sp>
        <p:nvSpPr>
          <p:cNvPr id="258" name="TextBox 80">
            <a:extLst>
              <a:ext uri="{FF2B5EF4-FFF2-40B4-BE49-F238E27FC236}">
                <a16:creationId xmlns:a16="http://schemas.microsoft.com/office/drawing/2014/main" id="{6DB95AFB-9623-4458-97A2-A5C6F70A42F7}"/>
              </a:ext>
            </a:extLst>
          </p:cNvPr>
          <p:cNvSpPr txBox="1"/>
          <p:nvPr/>
        </p:nvSpPr>
        <p:spPr>
          <a:xfrm>
            <a:off x="13907288" y="3526670"/>
            <a:ext cx="2812876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0"/>
              </a:lnSpc>
              <a:spcBef>
                <a:spcPct val="0"/>
              </a:spcBef>
            </a:pPr>
            <a:r>
              <a:rPr lang="ko-KR" altLang="en-US" sz="2000" b="1" dirty="0">
                <a:solidFill>
                  <a:srgbClr val="000000"/>
                </a:solidFill>
                <a:latin typeface="JASO Sans" panose="020B0600000101010101" charset="-127"/>
                <a:ea typeface="JASO Sans" panose="020B0600000101010101" charset="-127"/>
                <a:cs typeface="Cerebri Bold"/>
                <a:sym typeface="Cerebri Bold"/>
              </a:rPr>
              <a:t>조합 기금조성 </a:t>
            </a:r>
            <a:r>
              <a:rPr lang="en-US" altLang="ko-KR" sz="2000" b="1">
                <a:solidFill>
                  <a:srgbClr val="000000"/>
                </a:solidFill>
                <a:latin typeface="JASO Sans" panose="020B0600000101010101" charset="-127"/>
                <a:ea typeface="JASO Sans" panose="020B0600000101010101" charset="-127"/>
                <a:cs typeface="Cerebri Bold"/>
                <a:sym typeface="Cerebri Bold"/>
              </a:rPr>
              <a:t>&amp; </a:t>
            </a:r>
            <a:r>
              <a:rPr lang="ko-KR" altLang="en-US" sz="2000" b="1">
                <a:solidFill>
                  <a:srgbClr val="000000"/>
                </a:solidFill>
                <a:latin typeface="JASO Sans" panose="020B0600000101010101" charset="-127"/>
                <a:ea typeface="JASO Sans" panose="020B0600000101010101" charset="-127"/>
                <a:cs typeface="Cerebri Bold"/>
                <a:sym typeface="Cerebri Bold"/>
              </a:rPr>
              <a:t>취득</a:t>
            </a:r>
            <a:endParaRPr lang="en-US" sz="2000" b="1" dirty="0">
              <a:solidFill>
                <a:srgbClr val="000000"/>
              </a:solidFill>
              <a:latin typeface="JASO Sans" panose="020B0600000101010101" charset="-127"/>
              <a:ea typeface="JASO Sans" panose="020B0600000101010101" charset="-127"/>
              <a:cs typeface="Cerebri Bold"/>
              <a:sym typeface="Cerebri Bold"/>
            </a:endParaRPr>
          </a:p>
        </p:txBody>
      </p:sp>
      <p:sp>
        <p:nvSpPr>
          <p:cNvPr id="259" name="TextBox 81">
            <a:extLst>
              <a:ext uri="{FF2B5EF4-FFF2-40B4-BE49-F238E27FC236}">
                <a16:creationId xmlns:a16="http://schemas.microsoft.com/office/drawing/2014/main" id="{4EDBC90D-9BA1-4CAE-AD3C-64BDA54E818D}"/>
              </a:ext>
            </a:extLst>
          </p:cNvPr>
          <p:cNvSpPr txBox="1"/>
          <p:nvPr/>
        </p:nvSpPr>
        <p:spPr>
          <a:xfrm>
            <a:off x="13907288" y="6750781"/>
            <a:ext cx="2812876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0"/>
              </a:lnSpc>
              <a:spcBef>
                <a:spcPct val="0"/>
              </a:spcBef>
            </a:pPr>
            <a:r>
              <a:rPr lang="ko-KR" altLang="en-US" sz="2000" b="1" dirty="0">
                <a:solidFill>
                  <a:srgbClr val="000000"/>
                </a:solidFill>
                <a:latin typeface="JASO Sans" panose="020B0600000101010101" charset="-127"/>
                <a:ea typeface="JASO Sans" panose="020B0600000101010101" charset="-127"/>
                <a:cs typeface="Cerebri Bold"/>
                <a:sym typeface="Cerebri Bold"/>
              </a:rPr>
              <a:t>조합원 대출 전환</a:t>
            </a:r>
            <a:endParaRPr lang="en-US" sz="2000" b="1" dirty="0">
              <a:solidFill>
                <a:srgbClr val="000000"/>
              </a:solidFill>
              <a:latin typeface="JASO Sans" panose="020B0600000101010101" charset="-127"/>
              <a:ea typeface="JASO Sans" panose="020B0600000101010101" charset="-127"/>
              <a:cs typeface="Cerebri Bold"/>
              <a:sym typeface="Cerebri Bold"/>
            </a:endParaRPr>
          </a:p>
        </p:txBody>
      </p:sp>
    </p:spTree>
    <p:extLst>
      <p:ext uri="{BB962C8B-B14F-4D97-AF65-F5344CB8AC3E}">
        <p14:creationId xmlns:p14="http://schemas.microsoft.com/office/powerpoint/2010/main" val="33000574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14924" y="513776"/>
            <a:ext cx="17258151" cy="9391650"/>
            <a:chOff x="0" y="0"/>
            <a:chExt cx="23010868" cy="125222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77800"/>
              <a:ext cx="23010868" cy="12344400"/>
              <a:chOff x="0" y="0"/>
              <a:chExt cx="4545357" cy="24384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545357" cy="2438400"/>
              </a:xfrm>
              <a:custGeom>
                <a:avLst/>
                <a:gdLst/>
                <a:ahLst/>
                <a:cxnLst/>
                <a:rect l="l" t="t" r="r" b="b"/>
                <a:pathLst>
                  <a:path w="4545357" h="2438400">
                    <a:moveTo>
                      <a:pt x="17944" y="0"/>
                    </a:moveTo>
                    <a:lnTo>
                      <a:pt x="4527413" y="0"/>
                    </a:lnTo>
                    <a:cubicBezTo>
                      <a:pt x="4537323" y="0"/>
                      <a:pt x="4545357" y="8034"/>
                      <a:pt x="4545357" y="17944"/>
                    </a:cubicBezTo>
                    <a:lnTo>
                      <a:pt x="4545357" y="2420456"/>
                    </a:lnTo>
                    <a:cubicBezTo>
                      <a:pt x="4545357" y="2430366"/>
                      <a:pt x="4537323" y="2438400"/>
                      <a:pt x="4527413" y="2438400"/>
                    </a:cubicBezTo>
                    <a:lnTo>
                      <a:pt x="17944" y="2438400"/>
                    </a:lnTo>
                    <a:cubicBezTo>
                      <a:pt x="8034" y="2438400"/>
                      <a:pt x="0" y="2430366"/>
                      <a:pt x="0" y="2420456"/>
                    </a:cubicBezTo>
                    <a:lnTo>
                      <a:pt x="0" y="17944"/>
                    </a:lnTo>
                    <a:cubicBezTo>
                      <a:pt x="0" y="8034"/>
                      <a:pt x="8034" y="0"/>
                      <a:pt x="17944" y="0"/>
                    </a:cubicBezTo>
                    <a:close/>
                  </a:path>
                </a:pathLst>
              </a:custGeom>
              <a:solidFill>
                <a:srgbClr val="E5E5E5"/>
              </a:solidFill>
              <a:ln w="38100" cap="rnd">
                <a:solidFill>
                  <a:srgbClr val="333333"/>
                </a:solidFill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76200"/>
                <a:ext cx="4545357" cy="2514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8"/>
                  </a:lnSpc>
                </a:pPr>
                <a:r>
                  <a:rPr lang="en-US" sz="2200" spc="-90">
                    <a:solidFill>
                      <a:srgbClr val="FFFFFF"/>
                    </a:solidFill>
                    <a:latin typeface="JASO Sans"/>
                    <a:ea typeface="JASO Sans"/>
                    <a:cs typeface="JASO Sans"/>
                    <a:sym typeface="JASO Sans"/>
                  </a:rPr>
                  <a:t>ㄲㄲ</a:t>
                </a:r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23010868" cy="12344400"/>
              <a:chOff x="0" y="0"/>
              <a:chExt cx="4545357" cy="24384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545357" cy="2438400"/>
              </a:xfrm>
              <a:custGeom>
                <a:avLst/>
                <a:gdLst/>
                <a:ahLst/>
                <a:cxnLst/>
                <a:rect l="l" t="t" r="r" b="b"/>
                <a:pathLst>
                  <a:path w="4545357" h="2438400">
                    <a:moveTo>
                      <a:pt x="14804" y="0"/>
                    </a:moveTo>
                    <a:lnTo>
                      <a:pt x="4530553" y="0"/>
                    </a:lnTo>
                    <a:cubicBezTo>
                      <a:pt x="4534479" y="0"/>
                      <a:pt x="4538245" y="1560"/>
                      <a:pt x="4541021" y="4336"/>
                    </a:cubicBezTo>
                    <a:cubicBezTo>
                      <a:pt x="4543797" y="7112"/>
                      <a:pt x="4545357" y="10877"/>
                      <a:pt x="4545357" y="14804"/>
                    </a:cubicBezTo>
                    <a:lnTo>
                      <a:pt x="4545357" y="2423596"/>
                    </a:lnTo>
                    <a:cubicBezTo>
                      <a:pt x="4545357" y="2431772"/>
                      <a:pt x="4538729" y="2438400"/>
                      <a:pt x="4530553" y="2438400"/>
                    </a:cubicBezTo>
                    <a:lnTo>
                      <a:pt x="14804" y="2438400"/>
                    </a:lnTo>
                    <a:cubicBezTo>
                      <a:pt x="10877" y="2438400"/>
                      <a:pt x="7112" y="2436840"/>
                      <a:pt x="4336" y="2434064"/>
                    </a:cubicBezTo>
                    <a:cubicBezTo>
                      <a:pt x="1560" y="2431288"/>
                      <a:pt x="0" y="2427523"/>
                      <a:pt x="0" y="2423596"/>
                    </a:cubicBezTo>
                    <a:lnTo>
                      <a:pt x="0" y="14804"/>
                    </a:lnTo>
                    <a:cubicBezTo>
                      <a:pt x="0" y="10877"/>
                      <a:pt x="1560" y="7112"/>
                      <a:pt x="4336" y="4336"/>
                    </a:cubicBezTo>
                    <a:cubicBezTo>
                      <a:pt x="7112" y="1560"/>
                      <a:pt x="10877" y="0"/>
                      <a:pt x="1480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333333"/>
                </a:solidFill>
                <a:prstDash val="solid"/>
                <a:round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76200"/>
                <a:ext cx="4545357" cy="2514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8"/>
                  </a:lnSpc>
                </a:pPr>
                <a:r>
                  <a:rPr lang="en-US" sz="2200" spc="-90">
                    <a:solidFill>
                      <a:srgbClr val="FFFFFF"/>
                    </a:solidFill>
                    <a:latin typeface="JASO Sans"/>
                    <a:ea typeface="JASO Sans"/>
                    <a:cs typeface="JASO Sans"/>
                    <a:sym typeface="JASO Sans"/>
                  </a:rPr>
                  <a:t>ㄲㄲ</a:t>
                </a:r>
              </a:p>
            </p:txBody>
          </p:sp>
        </p:grpSp>
      </p:grpSp>
      <p:sp>
        <p:nvSpPr>
          <p:cNvPr id="9" name="Freeform 9"/>
          <p:cNvSpPr/>
          <p:nvPr/>
        </p:nvSpPr>
        <p:spPr>
          <a:xfrm rot="-5400000">
            <a:off x="17104554" y="827085"/>
            <a:ext cx="90727" cy="403229"/>
          </a:xfrm>
          <a:custGeom>
            <a:avLst/>
            <a:gdLst/>
            <a:ahLst/>
            <a:cxnLst/>
            <a:rect l="l" t="t" r="r" b="b"/>
            <a:pathLst>
              <a:path w="90727" h="403229">
                <a:moveTo>
                  <a:pt x="0" y="0"/>
                </a:moveTo>
                <a:lnTo>
                  <a:pt x="90726" y="0"/>
                </a:lnTo>
                <a:lnTo>
                  <a:pt x="90726" y="403230"/>
                </a:lnTo>
                <a:lnTo>
                  <a:pt x="0" y="4032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10" name="Group 10"/>
          <p:cNvGrpSpPr/>
          <p:nvPr/>
        </p:nvGrpSpPr>
        <p:grpSpPr>
          <a:xfrm>
            <a:off x="1339871" y="1267781"/>
            <a:ext cx="710270" cy="712421"/>
            <a:chOff x="0" y="0"/>
            <a:chExt cx="187067" cy="18763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87067" cy="187633"/>
            </a:xfrm>
            <a:custGeom>
              <a:avLst/>
              <a:gdLst/>
              <a:ahLst/>
              <a:cxnLst/>
              <a:rect l="l" t="t" r="r" b="b"/>
              <a:pathLst>
                <a:path w="187067" h="187633">
                  <a:moveTo>
                    <a:pt x="93533" y="0"/>
                  </a:moveTo>
                  <a:lnTo>
                    <a:pt x="93533" y="0"/>
                  </a:lnTo>
                  <a:cubicBezTo>
                    <a:pt x="145191" y="0"/>
                    <a:pt x="187067" y="41876"/>
                    <a:pt x="187067" y="93533"/>
                  </a:cubicBezTo>
                  <a:lnTo>
                    <a:pt x="187067" y="94100"/>
                  </a:lnTo>
                  <a:cubicBezTo>
                    <a:pt x="187067" y="118907"/>
                    <a:pt x="177213" y="142697"/>
                    <a:pt x="159672" y="160238"/>
                  </a:cubicBezTo>
                  <a:cubicBezTo>
                    <a:pt x="142131" y="177779"/>
                    <a:pt x="118340" y="187633"/>
                    <a:pt x="93533" y="187633"/>
                  </a:cubicBezTo>
                  <a:lnTo>
                    <a:pt x="93533" y="187633"/>
                  </a:lnTo>
                  <a:cubicBezTo>
                    <a:pt x="41876" y="187633"/>
                    <a:pt x="0" y="145757"/>
                    <a:pt x="0" y="94100"/>
                  </a:cubicBezTo>
                  <a:lnTo>
                    <a:pt x="0" y="93533"/>
                  </a:lnTo>
                  <a:cubicBezTo>
                    <a:pt x="0" y="68727"/>
                    <a:pt x="9854" y="44936"/>
                    <a:pt x="27395" y="27395"/>
                  </a:cubicBezTo>
                  <a:cubicBezTo>
                    <a:pt x="44936" y="9854"/>
                    <a:pt x="68727" y="0"/>
                    <a:pt x="93533" y="0"/>
                  </a:cubicBezTo>
                  <a:close/>
                </a:path>
              </a:pathLst>
            </a:custGeom>
            <a:solidFill>
              <a:srgbClr val="8DDAC8"/>
            </a:solidFill>
            <a:ln w="28575" cap="sq">
              <a:solidFill>
                <a:srgbClr val="333333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187067" cy="2447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66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 rot="-18144">
            <a:off x="2289392" y="1191940"/>
            <a:ext cx="9827735" cy="8315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6414"/>
              </a:lnSpc>
              <a:spcBef>
                <a:spcPct val="0"/>
              </a:spcBef>
            </a:pPr>
            <a:r>
              <a:rPr lang="ko-KR" altLang="en-US" sz="5676" spc="-283" dirty="0">
                <a:solidFill>
                  <a:srgbClr val="33333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우리사주조합 가입 </a:t>
            </a:r>
            <a:r>
              <a:rPr lang="en-US" altLang="ko-KR" sz="5676" spc="-283" dirty="0">
                <a:solidFill>
                  <a:srgbClr val="33333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&amp; </a:t>
            </a:r>
            <a:r>
              <a:rPr lang="ko-KR" altLang="en-US" sz="5676" spc="-283" dirty="0">
                <a:solidFill>
                  <a:srgbClr val="33333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수요 조사</a:t>
            </a:r>
            <a:endParaRPr lang="en-US" sz="5676" spc="-283" dirty="0">
              <a:solidFill>
                <a:srgbClr val="333333"/>
              </a:solidFill>
              <a:latin typeface="210 국민체조"/>
              <a:ea typeface="210 국민체조"/>
              <a:cs typeface="210 국민체조"/>
              <a:sym typeface="210 국민체조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173591" y="1414452"/>
            <a:ext cx="1042830" cy="3656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00"/>
              </a:lnSpc>
            </a:pPr>
            <a:r>
              <a:rPr lang="en-US" sz="2416" b="1" spc="-62" dirty="0">
                <a:solidFill>
                  <a:srgbClr val="33333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5-1</a:t>
            </a:r>
          </a:p>
        </p:txBody>
      </p:sp>
      <p:sp>
        <p:nvSpPr>
          <p:cNvPr id="80" name="AutoShape 13">
            <a:extLst>
              <a:ext uri="{FF2B5EF4-FFF2-40B4-BE49-F238E27FC236}">
                <a16:creationId xmlns:a16="http://schemas.microsoft.com/office/drawing/2014/main" id="{196E38CD-463A-4AB5-8A62-7B8D28205BBF}"/>
              </a:ext>
            </a:extLst>
          </p:cNvPr>
          <p:cNvSpPr/>
          <p:nvPr/>
        </p:nvSpPr>
        <p:spPr>
          <a:xfrm flipV="1">
            <a:off x="1339698" y="2443184"/>
            <a:ext cx="15608605" cy="0"/>
          </a:xfrm>
          <a:prstGeom prst="line">
            <a:avLst/>
          </a:prstGeom>
          <a:ln w="19050" cap="flat">
            <a:solidFill>
              <a:srgbClr val="33333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1" name="AutoShape 13">
            <a:extLst>
              <a:ext uri="{FF2B5EF4-FFF2-40B4-BE49-F238E27FC236}">
                <a16:creationId xmlns:a16="http://schemas.microsoft.com/office/drawing/2014/main" id="{BCECE857-B6E3-438A-9F87-F539F47F9FC0}"/>
              </a:ext>
            </a:extLst>
          </p:cNvPr>
          <p:cNvSpPr/>
          <p:nvPr/>
        </p:nvSpPr>
        <p:spPr>
          <a:xfrm flipV="1">
            <a:off x="1339698" y="2443184"/>
            <a:ext cx="15608605" cy="0"/>
          </a:xfrm>
          <a:prstGeom prst="line">
            <a:avLst/>
          </a:prstGeom>
          <a:ln w="19050" cap="flat">
            <a:solidFill>
              <a:srgbClr val="333333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BE17895C-39E6-4C8A-BD1A-75CF12004FD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43257"/>
          <a:stretch/>
        </p:blipFill>
        <p:spPr>
          <a:xfrm>
            <a:off x="6907344" y="2635665"/>
            <a:ext cx="5271228" cy="6927435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D3A83DE2-4555-4A69-9881-52F398EB00FF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707" b="3374"/>
          <a:stretch/>
        </p:blipFill>
        <p:spPr>
          <a:xfrm>
            <a:off x="12330972" y="2624459"/>
            <a:ext cx="5271228" cy="6927438"/>
          </a:xfrm>
          <a:prstGeom prst="rect">
            <a:avLst/>
          </a:prstGeom>
        </p:spPr>
      </p:pic>
      <p:sp>
        <p:nvSpPr>
          <p:cNvPr id="30" name="Freeform 18">
            <a:extLst>
              <a:ext uri="{FF2B5EF4-FFF2-40B4-BE49-F238E27FC236}">
                <a16:creationId xmlns:a16="http://schemas.microsoft.com/office/drawing/2014/main" id="{9CC20AAF-542C-4B1A-9A9F-7F6645755338}"/>
              </a:ext>
            </a:extLst>
          </p:cNvPr>
          <p:cNvSpPr/>
          <p:nvPr/>
        </p:nvSpPr>
        <p:spPr>
          <a:xfrm>
            <a:off x="891173" y="3776259"/>
            <a:ext cx="5640959" cy="5751101"/>
          </a:xfrm>
          <a:custGeom>
            <a:avLst/>
            <a:gdLst/>
            <a:ahLst/>
            <a:cxnLst/>
            <a:rect l="l" t="t" r="r" b="b"/>
            <a:pathLst>
              <a:path w="1924217" h="1424430">
                <a:moveTo>
                  <a:pt x="11518" y="0"/>
                </a:moveTo>
                <a:lnTo>
                  <a:pt x="1912699" y="0"/>
                </a:lnTo>
                <a:cubicBezTo>
                  <a:pt x="1915753" y="0"/>
                  <a:pt x="1918683" y="1214"/>
                  <a:pt x="1920843" y="3374"/>
                </a:cubicBezTo>
                <a:cubicBezTo>
                  <a:pt x="1923003" y="5534"/>
                  <a:pt x="1924217" y="8463"/>
                  <a:pt x="1924217" y="11518"/>
                </a:cubicBezTo>
                <a:lnTo>
                  <a:pt x="1924217" y="1412912"/>
                </a:lnTo>
                <a:cubicBezTo>
                  <a:pt x="1924217" y="1419273"/>
                  <a:pt x="1919060" y="1424430"/>
                  <a:pt x="1912699" y="1424430"/>
                </a:cubicBezTo>
                <a:lnTo>
                  <a:pt x="11518" y="1424430"/>
                </a:lnTo>
                <a:cubicBezTo>
                  <a:pt x="8463" y="1424430"/>
                  <a:pt x="5534" y="1423217"/>
                  <a:pt x="3374" y="1421056"/>
                </a:cubicBezTo>
                <a:cubicBezTo>
                  <a:pt x="1214" y="1418896"/>
                  <a:pt x="0" y="1415967"/>
                  <a:pt x="0" y="1412912"/>
                </a:cubicBezTo>
                <a:lnTo>
                  <a:pt x="0" y="11518"/>
                </a:lnTo>
                <a:cubicBezTo>
                  <a:pt x="0" y="8463"/>
                  <a:pt x="1214" y="5534"/>
                  <a:pt x="3374" y="3374"/>
                </a:cubicBezTo>
                <a:cubicBezTo>
                  <a:pt x="5534" y="1214"/>
                  <a:pt x="8463" y="0"/>
                  <a:pt x="11518" y="0"/>
                </a:cubicBezTo>
                <a:close/>
              </a:path>
            </a:pathLst>
          </a:custGeom>
          <a:solidFill>
            <a:srgbClr val="F3F3F3"/>
          </a:solidFill>
          <a:ln w="28575" cap="sq">
            <a:solidFill>
              <a:srgbClr val="333333"/>
            </a:solidFill>
            <a:prstDash val="solid"/>
            <a:miter/>
          </a:ln>
        </p:spPr>
      </p:sp>
      <p:sp>
        <p:nvSpPr>
          <p:cNvPr id="31" name="TextBox 19">
            <a:extLst>
              <a:ext uri="{FF2B5EF4-FFF2-40B4-BE49-F238E27FC236}">
                <a16:creationId xmlns:a16="http://schemas.microsoft.com/office/drawing/2014/main" id="{9D22BFFB-1DE6-4748-83DE-DFC5452AEC00}"/>
              </a:ext>
            </a:extLst>
          </p:cNvPr>
          <p:cNvSpPr txBox="1"/>
          <p:nvPr/>
        </p:nvSpPr>
        <p:spPr>
          <a:xfrm>
            <a:off x="914400" y="876300"/>
            <a:ext cx="5640959" cy="8675597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marL="0" lvl="0" indent="0" algn="ctr">
              <a:lnSpc>
                <a:spcPts val="3466"/>
              </a:lnSpc>
              <a:spcBef>
                <a:spcPct val="0"/>
              </a:spcBef>
            </a:pPr>
            <a:endParaRPr/>
          </a:p>
        </p:txBody>
      </p:sp>
      <p:sp>
        <p:nvSpPr>
          <p:cNvPr id="32" name="TextBox 25">
            <a:extLst>
              <a:ext uri="{FF2B5EF4-FFF2-40B4-BE49-F238E27FC236}">
                <a16:creationId xmlns:a16="http://schemas.microsoft.com/office/drawing/2014/main" id="{916D7290-3937-4A17-900E-8E9ACE5D0519}"/>
              </a:ext>
            </a:extLst>
          </p:cNvPr>
          <p:cNvSpPr txBox="1"/>
          <p:nvPr/>
        </p:nvSpPr>
        <p:spPr>
          <a:xfrm>
            <a:off x="1064250" y="4037768"/>
            <a:ext cx="5341258" cy="52205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lvl="0" indent="-342900" algn="l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ko-KR" altLang="en-US" b="1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참여 목적</a:t>
            </a:r>
            <a:br>
              <a:rPr lang="en-US" altLang="ko-KR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</a:br>
            <a:r>
              <a:rPr lang="en-US" altLang="ko-KR" sz="1600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- </a:t>
            </a:r>
            <a:r>
              <a:rPr lang="ko-KR" altLang="en-US" sz="1600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우리사주조합 가입 의사 확인</a:t>
            </a:r>
            <a:br>
              <a:rPr lang="en-US" altLang="ko-KR" sz="1600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</a:br>
            <a:r>
              <a:rPr lang="en-US" altLang="ko-KR" sz="1600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- </a:t>
            </a:r>
            <a:r>
              <a:rPr lang="ko-KR" altLang="en-US" sz="1600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향후 주식 배정 규모 산정을 위한 수요조사</a:t>
            </a:r>
            <a:br>
              <a:rPr lang="en-US" altLang="ko-KR" sz="1600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</a:br>
            <a:r>
              <a:rPr lang="en-US" altLang="ko-KR" sz="1600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(</a:t>
            </a:r>
            <a:r>
              <a:rPr lang="ko-KR" altLang="en-US" sz="1600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본 조사는 참고이며</a:t>
            </a:r>
            <a:r>
              <a:rPr lang="en-US" altLang="ko-KR" sz="1600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, </a:t>
            </a:r>
            <a:r>
              <a:rPr lang="ko-KR" altLang="en-US" sz="1600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주식 배정 수량이 확정되는 것은 아님</a:t>
            </a:r>
            <a:r>
              <a:rPr lang="en-US" altLang="ko-KR" sz="1600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)</a:t>
            </a:r>
            <a:br>
              <a:rPr lang="en-US" altLang="ko-KR" sz="1600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</a:br>
            <a:endParaRPr lang="en-US" altLang="ko-KR" sz="1600" spc="-76" dirty="0">
              <a:solidFill>
                <a:srgbClr val="333333">
                  <a:alpha val="80000"/>
                </a:srgbClr>
              </a:solidFill>
              <a:latin typeface="JASO Sans"/>
              <a:ea typeface="JASO Sans"/>
              <a:sym typeface="JASO Sans"/>
            </a:endParaRPr>
          </a:p>
          <a:p>
            <a:pPr marL="342900" lvl="0" indent="-342900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ko-KR" altLang="en-US" b="1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참여 방법</a:t>
            </a:r>
            <a:br>
              <a:rPr lang="en-US" altLang="ko-KR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</a:br>
            <a:r>
              <a:rPr lang="en-US" altLang="ko-KR" sz="1600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- </a:t>
            </a:r>
            <a:r>
              <a:rPr lang="ko-KR" altLang="en-US" sz="1600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네이버폼을 통한 온라인 신청</a:t>
            </a:r>
            <a:br>
              <a:rPr lang="en-US" altLang="ko-KR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</a:br>
            <a:r>
              <a:rPr lang="en-US" altLang="ko-KR" sz="1500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(https://form.naver.com/response/bljSxigYqOufbn3uqaSu0g)</a:t>
            </a:r>
            <a:br>
              <a:rPr lang="en-US" altLang="ko-KR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</a:br>
            <a:r>
              <a:rPr lang="en-US" altLang="ko-KR" sz="1600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- </a:t>
            </a:r>
            <a:r>
              <a:rPr lang="ko-KR" altLang="en-US" sz="1600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별도 서면 제출 불필요</a:t>
            </a:r>
            <a:br>
              <a:rPr lang="en-US" altLang="ko-KR" sz="1600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</a:br>
            <a:endParaRPr lang="en-US" altLang="ko-KR" sz="1600" spc="-76" dirty="0">
              <a:solidFill>
                <a:srgbClr val="333333">
                  <a:alpha val="80000"/>
                </a:srgbClr>
              </a:solidFill>
              <a:latin typeface="JASO Sans"/>
              <a:ea typeface="JASO Sans"/>
              <a:sym typeface="JASO Sans"/>
            </a:endParaRPr>
          </a:p>
          <a:p>
            <a:pPr marL="342900" lvl="0" indent="-342900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ko-KR" altLang="en-US" b="1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참여 유의사항</a:t>
            </a:r>
            <a:br>
              <a:rPr lang="en-US" altLang="ko-KR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</a:br>
            <a:r>
              <a:rPr lang="en-US" altLang="ko-KR" sz="1600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- </a:t>
            </a:r>
            <a:r>
              <a:rPr lang="ko-KR" altLang="en-US" sz="1600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조합 가입 및 수요조사 참여는 자율이며</a:t>
            </a:r>
            <a:r>
              <a:rPr lang="en-US" altLang="ko-KR" sz="1600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, </a:t>
            </a:r>
            <a:r>
              <a:rPr lang="ko-KR" altLang="en-US" sz="1600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미참여에 따른</a:t>
            </a:r>
            <a:br>
              <a:rPr lang="en-US" altLang="ko-KR" sz="1600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</a:br>
            <a:r>
              <a:rPr lang="en-US" altLang="ko-KR" sz="1600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  </a:t>
            </a:r>
            <a:r>
              <a:rPr lang="ko-KR" altLang="en-US" sz="1600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불이익 없으며</a:t>
            </a:r>
            <a:r>
              <a:rPr lang="en-US" altLang="ko-KR" sz="1600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, </a:t>
            </a:r>
            <a:r>
              <a:rPr lang="ko-KR" altLang="en-US" sz="1600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설문 기간 내 응답 수정 가능</a:t>
            </a:r>
            <a:br>
              <a:rPr lang="en-US" altLang="ko-KR" sz="1600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</a:br>
            <a:r>
              <a:rPr lang="en-US" altLang="ko-KR" sz="1600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- </a:t>
            </a:r>
            <a:r>
              <a:rPr lang="ko-KR" altLang="en-US" sz="1600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수집된 개인정보는 우리사주조합 가입 및 제도 운영 목적 사용</a:t>
            </a:r>
            <a:br>
              <a:rPr lang="en-US" altLang="ko-KR" sz="1600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</a:br>
            <a:endParaRPr lang="en-US" altLang="ko-KR" sz="1600" spc="-76" dirty="0">
              <a:solidFill>
                <a:srgbClr val="333333">
                  <a:alpha val="80000"/>
                </a:srgbClr>
              </a:solidFill>
              <a:latin typeface="JASO Sans"/>
              <a:ea typeface="JASO Sans"/>
              <a:sym typeface="JASO Sans"/>
            </a:endParaRPr>
          </a:p>
          <a:p>
            <a:pPr marL="342900" lvl="0" indent="-342900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ko-KR" altLang="en-US" b="1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조사 일정 </a:t>
            </a:r>
            <a:r>
              <a:rPr lang="en-US" altLang="ko-KR" b="1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: 2026</a:t>
            </a:r>
            <a:r>
              <a:rPr lang="ko-KR" altLang="en-US" b="1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년 </a:t>
            </a:r>
            <a:r>
              <a:rPr lang="en-US" altLang="ko-KR" b="1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2</a:t>
            </a:r>
            <a:r>
              <a:rPr lang="ko-KR" altLang="en-US" b="1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월 </a:t>
            </a:r>
            <a:r>
              <a:rPr lang="en-US" altLang="ko-KR" b="1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6</a:t>
            </a:r>
            <a:r>
              <a:rPr lang="ko-KR" altLang="en-US" b="1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일 </a:t>
            </a:r>
            <a:r>
              <a:rPr lang="en-US" altLang="ko-KR" b="1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~ 2</a:t>
            </a:r>
            <a:r>
              <a:rPr lang="ko-KR" altLang="en-US" b="1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월 </a:t>
            </a:r>
            <a:r>
              <a:rPr lang="en-US" altLang="ko-KR" b="1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20</a:t>
            </a:r>
            <a:r>
              <a:rPr lang="ko-KR" altLang="en-US" b="1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일</a:t>
            </a:r>
            <a:endParaRPr lang="en-US" altLang="ko-KR" b="1" spc="-76" dirty="0">
              <a:solidFill>
                <a:srgbClr val="333333">
                  <a:alpha val="80000"/>
                </a:srgbClr>
              </a:solidFill>
              <a:latin typeface="JASO Sans"/>
              <a:ea typeface="JASO Sans"/>
              <a:sym typeface="JASO Sans"/>
            </a:endParaRPr>
          </a:p>
        </p:txBody>
      </p:sp>
      <p:grpSp>
        <p:nvGrpSpPr>
          <p:cNvPr id="33" name="Group 27">
            <a:extLst>
              <a:ext uri="{FF2B5EF4-FFF2-40B4-BE49-F238E27FC236}">
                <a16:creationId xmlns:a16="http://schemas.microsoft.com/office/drawing/2014/main" id="{BD1AE25C-D94D-4AB9-B441-1C643D7D7071}"/>
              </a:ext>
            </a:extLst>
          </p:cNvPr>
          <p:cNvGrpSpPr/>
          <p:nvPr/>
        </p:nvGrpSpPr>
        <p:grpSpPr>
          <a:xfrm>
            <a:off x="891173" y="2762176"/>
            <a:ext cx="5664186" cy="674696"/>
            <a:chOff x="0" y="0"/>
            <a:chExt cx="346873" cy="168092"/>
          </a:xfrm>
        </p:grpSpPr>
        <p:sp>
          <p:nvSpPr>
            <p:cNvPr id="34" name="Freeform 28">
              <a:extLst>
                <a:ext uri="{FF2B5EF4-FFF2-40B4-BE49-F238E27FC236}">
                  <a16:creationId xmlns:a16="http://schemas.microsoft.com/office/drawing/2014/main" id="{ED118E54-9B06-45E7-871F-79F06B9FE266}"/>
                </a:ext>
              </a:extLst>
            </p:cNvPr>
            <p:cNvSpPr/>
            <p:nvPr/>
          </p:nvSpPr>
          <p:spPr>
            <a:xfrm>
              <a:off x="0" y="0"/>
              <a:ext cx="346873" cy="168092"/>
            </a:xfrm>
            <a:custGeom>
              <a:avLst/>
              <a:gdLst/>
              <a:ahLst/>
              <a:cxnLst/>
              <a:rect l="l" t="t" r="r" b="b"/>
              <a:pathLst>
                <a:path w="346873" h="168092">
                  <a:moveTo>
                    <a:pt x="61166" y="0"/>
                  </a:moveTo>
                  <a:lnTo>
                    <a:pt x="285707" y="0"/>
                  </a:lnTo>
                  <a:cubicBezTo>
                    <a:pt x="319488" y="0"/>
                    <a:pt x="346873" y="27385"/>
                    <a:pt x="346873" y="61166"/>
                  </a:cubicBezTo>
                  <a:lnTo>
                    <a:pt x="346873" y="106926"/>
                  </a:lnTo>
                  <a:cubicBezTo>
                    <a:pt x="346873" y="140707"/>
                    <a:pt x="319488" y="168092"/>
                    <a:pt x="285707" y="168092"/>
                  </a:cubicBezTo>
                  <a:lnTo>
                    <a:pt x="61166" y="168092"/>
                  </a:lnTo>
                  <a:cubicBezTo>
                    <a:pt x="27385" y="168092"/>
                    <a:pt x="0" y="140707"/>
                    <a:pt x="0" y="106926"/>
                  </a:cubicBezTo>
                  <a:lnTo>
                    <a:pt x="0" y="61166"/>
                  </a:lnTo>
                  <a:cubicBezTo>
                    <a:pt x="0" y="27385"/>
                    <a:pt x="27385" y="0"/>
                    <a:pt x="61166" y="0"/>
                  </a:cubicBezTo>
                  <a:close/>
                </a:path>
              </a:pathLst>
            </a:custGeom>
            <a:solidFill>
              <a:srgbClr val="8DDAC8"/>
            </a:solidFill>
            <a:ln w="28575" cap="sq">
              <a:solidFill>
                <a:srgbClr val="333333"/>
              </a:solidFill>
              <a:prstDash val="solid"/>
              <a:miter/>
            </a:ln>
          </p:spPr>
        </p:sp>
        <p:sp>
          <p:nvSpPr>
            <p:cNvPr id="35" name="TextBox 29">
              <a:extLst>
                <a:ext uri="{FF2B5EF4-FFF2-40B4-BE49-F238E27FC236}">
                  <a16:creationId xmlns:a16="http://schemas.microsoft.com/office/drawing/2014/main" id="{186D55B3-A569-4F8B-8332-C78165DB79B6}"/>
                </a:ext>
              </a:extLst>
            </p:cNvPr>
            <p:cNvSpPr txBox="1"/>
            <p:nvPr/>
          </p:nvSpPr>
          <p:spPr>
            <a:xfrm>
              <a:off x="0" y="-57150"/>
              <a:ext cx="346873" cy="2252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66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6" name="TextBox 39">
            <a:extLst>
              <a:ext uri="{FF2B5EF4-FFF2-40B4-BE49-F238E27FC236}">
                <a16:creationId xmlns:a16="http://schemas.microsoft.com/office/drawing/2014/main" id="{22AA8EC2-1F55-4B92-A45B-777A8F364F97}"/>
              </a:ext>
            </a:extLst>
          </p:cNvPr>
          <p:cNvSpPr txBox="1"/>
          <p:nvPr/>
        </p:nvSpPr>
        <p:spPr>
          <a:xfrm rot="-18144">
            <a:off x="1423062" y="2974486"/>
            <a:ext cx="4577177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448"/>
              </a:lnSpc>
              <a:spcBef>
                <a:spcPct val="0"/>
              </a:spcBef>
            </a:pPr>
            <a:r>
              <a:rPr lang="ko-KR" altLang="en-US" sz="2400" u="none" strike="noStrike" spc="-120" dirty="0">
                <a:solidFill>
                  <a:srgbClr val="222222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우리사주조합 가입 및 수요 조사</a:t>
            </a:r>
            <a:endParaRPr lang="en-US" sz="2400" u="none" strike="noStrike" spc="-120" dirty="0">
              <a:solidFill>
                <a:srgbClr val="222222"/>
              </a:solidFill>
              <a:latin typeface="210 국민체조"/>
              <a:ea typeface="210 국민체조"/>
              <a:cs typeface="210 국민체조"/>
              <a:sym typeface="210 국민체조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FB00D9B-C766-4C74-BDBE-D62FD36F7DB1}"/>
              </a:ext>
            </a:extLst>
          </p:cNvPr>
          <p:cNvSpPr/>
          <p:nvPr/>
        </p:nvSpPr>
        <p:spPr>
          <a:xfrm>
            <a:off x="13182600" y="1267781"/>
            <a:ext cx="3765529" cy="9552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본</a:t>
            </a:r>
            <a:r>
              <a:rPr lang="en-US" altLang="ko-KR" dirty="0"/>
              <a:t> </a:t>
            </a:r>
            <a:r>
              <a:rPr lang="ko-KR" altLang="en-US" dirty="0"/>
              <a:t>이미지는 예시로</a:t>
            </a:r>
            <a:endParaRPr lang="en-US" altLang="ko-KR" dirty="0"/>
          </a:p>
          <a:p>
            <a:pPr algn="ctr"/>
            <a:r>
              <a:rPr lang="ko-KR" altLang="en-US" dirty="0"/>
              <a:t>설문조사</a:t>
            </a:r>
            <a:r>
              <a:rPr lang="en-US" altLang="ko-KR" dirty="0"/>
              <a:t>(</a:t>
            </a:r>
            <a:r>
              <a:rPr lang="ko-KR" altLang="en-US" dirty="0"/>
              <a:t>네이버폼</a:t>
            </a:r>
            <a:r>
              <a:rPr lang="en-US" altLang="ko-KR" dirty="0"/>
              <a:t>) </a:t>
            </a:r>
            <a:r>
              <a:rPr lang="en-US" altLang="ko-KR" dirty="0" err="1"/>
              <a:t>url</a:t>
            </a:r>
            <a:r>
              <a:rPr lang="ko-KR" altLang="en-US" dirty="0"/>
              <a:t> 통해</a:t>
            </a:r>
            <a:endParaRPr lang="en-US" altLang="ko-KR" dirty="0"/>
          </a:p>
          <a:p>
            <a:pPr algn="ctr"/>
            <a:r>
              <a:rPr lang="ko-KR" altLang="en-US" dirty="0"/>
              <a:t>이미지 반영 요망</a:t>
            </a:r>
            <a:endParaRPr lang="en-US" altLang="ko-KR" dirty="0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5FDF671C-B7EE-4A25-AD90-46E84F7B7E86}"/>
              </a:ext>
            </a:extLst>
          </p:cNvPr>
          <p:cNvSpPr/>
          <p:nvPr/>
        </p:nvSpPr>
        <p:spPr>
          <a:xfrm>
            <a:off x="6954835" y="2642323"/>
            <a:ext cx="10647365" cy="692077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770ACC1C-79F8-4C44-B295-F05A744F7562}"/>
              </a:ext>
            </a:extLst>
          </p:cNvPr>
          <p:cNvCxnSpPr>
            <a:cxnSpLocks/>
            <a:stCxn id="21" idx="1"/>
          </p:cNvCxnSpPr>
          <p:nvPr/>
        </p:nvCxnSpPr>
        <p:spPr>
          <a:xfrm flipH="1">
            <a:off x="12330972" y="1745386"/>
            <a:ext cx="851628" cy="8790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27321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14924" y="513776"/>
            <a:ext cx="17258151" cy="9391650"/>
            <a:chOff x="0" y="0"/>
            <a:chExt cx="23010868" cy="125222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77800"/>
              <a:ext cx="23010868" cy="12344400"/>
              <a:chOff x="0" y="0"/>
              <a:chExt cx="4545357" cy="24384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545357" cy="2438400"/>
              </a:xfrm>
              <a:custGeom>
                <a:avLst/>
                <a:gdLst/>
                <a:ahLst/>
                <a:cxnLst/>
                <a:rect l="l" t="t" r="r" b="b"/>
                <a:pathLst>
                  <a:path w="4545357" h="2438400">
                    <a:moveTo>
                      <a:pt x="17944" y="0"/>
                    </a:moveTo>
                    <a:lnTo>
                      <a:pt x="4527413" y="0"/>
                    </a:lnTo>
                    <a:cubicBezTo>
                      <a:pt x="4537323" y="0"/>
                      <a:pt x="4545357" y="8034"/>
                      <a:pt x="4545357" y="17944"/>
                    </a:cubicBezTo>
                    <a:lnTo>
                      <a:pt x="4545357" y="2420456"/>
                    </a:lnTo>
                    <a:cubicBezTo>
                      <a:pt x="4545357" y="2430366"/>
                      <a:pt x="4537323" y="2438400"/>
                      <a:pt x="4527413" y="2438400"/>
                    </a:cubicBezTo>
                    <a:lnTo>
                      <a:pt x="17944" y="2438400"/>
                    </a:lnTo>
                    <a:cubicBezTo>
                      <a:pt x="8034" y="2438400"/>
                      <a:pt x="0" y="2430366"/>
                      <a:pt x="0" y="2420456"/>
                    </a:cubicBezTo>
                    <a:lnTo>
                      <a:pt x="0" y="17944"/>
                    </a:lnTo>
                    <a:cubicBezTo>
                      <a:pt x="0" y="8034"/>
                      <a:pt x="8034" y="0"/>
                      <a:pt x="17944" y="0"/>
                    </a:cubicBezTo>
                    <a:close/>
                  </a:path>
                </a:pathLst>
              </a:custGeom>
              <a:solidFill>
                <a:srgbClr val="E5E5E5"/>
              </a:solidFill>
              <a:ln w="38100" cap="rnd">
                <a:solidFill>
                  <a:srgbClr val="333333"/>
                </a:solidFill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76200"/>
                <a:ext cx="4545357" cy="2514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8"/>
                  </a:lnSpc>
                </a:pPr>
                <a:r>
                  <a:rPr lang="en-US" sz="2200" spc="-90">
                    <a:solidFill>
                      <a:srgbClr val="FFFFFF"/>
                    </a:solidFill>
                    <a:latin typeface="JASO Sans"/>
                    <a:ea typeface="JASO Sans"/>
                    <a:cs typeface="JASO Sans"/>
                    <a:sym typeface="JASO Sans"/>
                  </a:rPr>
                  <a:t>ㄲㄲ</a:t>
                </a:r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23010868" cy="12344400"/>
              <a:chOff x="0" y="0"/>
              <a:chExt cx="4545357" cy="24384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545357" cy="2438400"/>
              </a:xfrm>
              <a:custGeom>
                <a:avLst/>
                <a:gdLst/>
                <a:ahLst/>
                <a:cxnLst/>
                <a:rect l="l" t="t" r="r" b="b"/>
                <a:pathLst>
                  <a:path w="4545357" h="2438400">
                    <a:moveTo>
                      <a:pt x="14804" y="0"/>
                    </a:moveTo>
                    <a:lnTo>
                      <a:pt x="4530553" y="0"/>
                    </a:lnTo>
                    <a:cubicBezTo>
                      <a:pt x="4534479" y="0"/>
                      <a:pt x="4538245" y="1560"/>
                      <a:pt x="4541021" y="4336"/>
                    </a:cubicBezTo>
                    <a:cubicBezTo>
                      <a:pt x="4543797" y="7112"/>
                      <a:pt x="4545357" y="10877"/>
                      <a:pt x="4545357" y="14804"/>
                    </a:cubicBezTo>
                    <a:lnTo>
                      <a:pt x="4545357" y="2423596"/>
                    </a:lnTo>
                    <a:cubicBezTo>
                      <a:pt x="4545357" y="2431772"/>
                      <a:pt x="4538729" y="2438400"/>
                      <a:pt x="4530553" y="2438400"/>
                    </a:cubicBezTo>
                    <a:lnTo>
                      <a:pt x="14804" y="2438400"/>
                    </a:lnTo>
                    <a:cubicBezTo>
                      <a:pt x="10877" y="2438400"/>
                      <a:pt x="7112" y="2436840"/>
                      <a:pt x="4336" y="2434064"/>
                    </a:cubicBezTo>
                    <a:cubicBezTo>
                      <a:pt x="1560" y="2431288"/>
                      <a:pt x="0" y="2427523"/>
                      <a:pt x="0" y="2423596"/>
                    </a:cubicBezTo>
                    <a:lnTo>
                      <a:pt x="0" y="14804"/>
                    </a:lnTo>
                    <a:cubicBezTo>
                      <a:pt x="0" y="10877"/>
                      <a:pt x="1560" y="7112"/>
                      <a:pt x="4336" y="4336"/>
                    </a:cubicBezTo>
                    <a:cubicBezTo>
                      <a:pt x="7112" y="1560"/>
                      <a:pt x="10877" y="0"/>
                      <a:pt x="1480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333333"/>
                </a:solidFill>
                <a:prstDash val="solid"/>
                <a:round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76200"/>
                <a:ext cx="4545357" cy="2514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8"/>
                  </a:lnSpc>
                </a:pPr>
                <a:r>
                  <a:rPr lang="en-US" sz="2200" spc="-90">
                    <a:solidFill>
                      <a:srgbClr val="FFFFFF"/>
                    </a:solidFill>
                    <a:latin typeface="JASO Sans"/>
                    <a:ea typeface="JASO Sans"/>
                    <a:cs typeface="JASO Sans"/>
                    <a:sym typeface="JASO Sans"/>
                  </a:rPr>
                  <a:t>ㄲㄲ</a:t>
                </a:r>
              </a:p>
            </p:txBody>
          </p:sp>
        </p:grpSp>
      </p:grpSp>
      <p:sp>
        <p:nvSpPr>
          <p:cNvPr id="9" name="Freeform 9"/>
          <p:cNvSpPr/>
          <p:nvPr/>
        </p:nvSpPr>
        <p:spPr>
          <a:xfrm rot="-5400000">
            <a:off x="17104554" y="827085"/>
            <a:ext cx="90727" cy="403229"/>
          </a:xfrm>
          <a:custGeom>
            <a:avLst/>
            <a:gdLst/>
            <a:ahLst/>
            <a:cxnLst/>
            <a:rect l="l" t="t" r="r" b="b"/>
            <a:pathLst>
              <a:path w="90727" h="403229">
                <a:moveTo>
                  <a:pt x="0" y="0"/>
                </a:moveTo>
                <a:lnTo>
                  <a:pt x="90726" y="0"/>
                </a:lnTo>
                <a:lnTo>
                  <a:pt x="90726" y="403230"/>
                </a:lnTo>
                <a:lnTo>
                  <a:pt x="0" y="4032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10" name="Group 10"/>
          <p:cNvGrpSpPr/>
          <p:nvPr/>
        </p:nvGrpSpPr>
        <p:grpSpPr>
          <a:xfrm>
            <a:off x="1339871" y="1267781"/>
            <a:ext cx="710270" cy="712421"/>
            <a:chOff x="0" y="0"/>
            <a:chExt cx="187067" cy="18763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87067" cy="187633"/>
            </a:xfrm>
            <a:custGeom>
              <a:avLst/>
              <a:gdLst/>
              <a:ahLst/>
              <a:cxnLst/>
              <a:rect l="l" t="t" r="r" b="b"/>
              <a:pathLst>
                <a:path w="187067" h="187633">
                  <a:moveTo>
                    <a:pt x="93533" y="0"/>
                  </a:moveTo>
                  <a:lnTo>
                    <a:pt x="93533" y="0"/>
                  </a:lnTo>
                  <a:cubicBezTo>
                    <a:pt x="145191" y="0"/>
                    <a:pt x="187067" y="41876"/>
                    <a:pt x="187067" y="93533"/>
                  </a:cubicBezTo>
                  <a:lnTo>
                    <a:pt x="187067" y="94100"/>
                  </a:lnTo>
                  <a:cubicBezTo>
                    <a:pt x="187067" y="118907"/>
                    <a:pt x="177213" y="142697"/>
                    <a:pt x="159672" y="160238"/>
                  </a:cubicBezTo>
                  <a:cubicBezTo>
                    <a:pt x="142131" y="177779"/>
                    <a:pt x="118340" y="187633"/>
                    <a:pt x="93533" y="187633"/>
                  </a:cubicBezTo>
                  <a:lnTo>
                    <a:pt x="93533" y="187633"/>
                  </a:lnTo>
                  <a:cubicBezTo>
                    <a:pt x="41876" y="187633"/>
                    <a:pt x="0" y="145757"/>
                    <a:pt x="0" y="94100"/>
                  </a:cubicBezTo>
                  <a:lnTo>
                    <a:pt x="0" y="93533"/>
                  </a:lnTo>
                  <a:cubicBezTo>
                    <a:pt x="0" y="68727"/>
                    <a:pt x="9854" y="44936"/>
                    <a:pt x="27395" y="27395"/>
                  </a:cubicBezTo>
                  <a:cubicBezTo>
                    <a:pt x="44936" y="9854"/>
                    <a:pt x="68727" y="0"/>
                    <a:pt x="93533" y="0"/>
                  </a:cubicBezTo>
                  <a:close/>
                </a:path>
              </a:pathLst>
            </a:custGeom>
            <a:solidFill>
              <a:srgbClr val="8DDAC8"/>
            </a:solidFill>
            <a:ln w="28575" cap="sq">
              <a:solidFill>
                <a:srgbClr val="333333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187067" cy="2447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66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 rot="-18144">
            <a:off x="2289392" y="1191940"/>
            <a:ext cx="9827735" cy="8315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6414"/>
              </a:lnSpc>
              <a:spcBef>
                <a:spcPct val="0"/>
              </a:spcBef>
            </a:pPr>
            <a:r>
              <a:rPr lang="ko-KR" altLang="en-US" sz="5676" spc="-283" dirty="0">
                <a:solidFill>
                  <a:srgbClr val="33333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조합 기금조성 </a:t>
            </a:r>
            <a:r>
              <a:rPr lang="en-US" altLang="ko-KR" sz="5676" spc="-283" dirty="0">
                <a:solidFill>
                  <a:srgbClr val="33333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&amp; </a:t>
            </a:r>
            <a:r>
              <a:rPr lang="ko-KR" altLang="en-US" sz="5676" spc="-283" dirty="0">
                <a:solidFill>
                  <a:srgbClr val="33333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우리사주 취득</a:t>
            </a:r>
            <a:endParaRPr lang="en-US" sz="5676" spc="-283" dirty="0">
              <a:solidFill>
                <a:srgbClr val="333333"/>
              </a:solidFill>
              <a:latin typeface="210 국민체조"/>
              <a:ea typeface="210 국민체조"/>
              <a:cs typeface="210 국민체조"/>
              <a:sym typeface="210 국민체조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173591" y="1414452"/>
            <a:ext cx="1042830" cy="3656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00"/>
              </a:lnSpc>
            </a:pPr>
            <a:r>
              <a:rPr lang="en-US" sz="2416" b="1" spc="-62" dirty="0">
                <a:solidFill>
                  <a:srgbClr val="33333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5-2</a:t>
            </a:r>
          </a:p>
        </p:txBody>
      </p:sp>
      <p:sp>
        <p:nvSpPr>
          <p:cNvPr id="80" name="AutoShape 13">
            <a:extLst>
              <a:ext uri="{FF2B5EF4-FFF2-40B4-BE49-F238E27FC236}">
                <a16:creationId xmlns:a16="http://schemas.microsoft.com/office/drawing/2014/main" id="{196E38CD-463A-4AB5-8A62-7B8D28205BBF}"/>
              </a:ext>
            </a:extLst>
          </p:cNvPr>
          <p:cNvSpPr/>
          <p:nvPr/>
        </p:nvSpPr>
        <p:spPr>
          <a:xfrm flipV="1">
            <a:off x="1339698" y="2443184"/>
            <a:ext cx="15608605" cy="0"/>
          </a:xfrm>
          <a:prstGeom prst="line">
            <a:avLst/>
          </a:prstGeom>
          <a:ln w="19050" cap="flat">
            <a:solidFill>
              <a:srgbClr val="33333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1" name="AutoShape 13">
            <a:extLst>
              <a:ext uri="{FF2B5EF4-FFF2-40B4-BE49-F238E27FC236}">
                <a16:creationId xmlns:a16="http://schemas.microsoft.com/office/drawing/2014/main" id="{BCECE857-B6E3-438A-9F87-F539F47F9FC0}"/>
              </a:ext>
            </a:extLst>
          </p:cNvPr>
          <p:cNvSpPr/>
          <p:nvPr/>
        </p:nvSpPr>
        <p:spPr>
          <a:xfrm flipV="1">
            <a:off x="1339698" y="2443184"/>
            <a:ext cx="15608605" cy="0"/>
          </a:xfrm>
          <a:prstGeom prst="line">
            <a:avLst/>
          </a:prstGeom>
          <a:ln w="19050" cap="flat">
            <a:solidFill>
              <a:srgbClr val="333333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53" name="Group 17">
            <a:extLst>
              <a:ext uri="{FF2B5EF4-FFF2-40B4-BE49-F238E27FC236}">
                <a16:creationId xmlns:a16="http://schemas.microsoft.com/office/drawing/2014/main" id="{9409766C-6AC8-4E62-A3A0-C7C8E5BB4CEB}"/>
              </a:ext>
            </a:extLst>
          </p:cNvPr>
          <p:cNvGrpSpPr/>
          <p:nvPr/>
        </p:nvGrpSpPr>
        <p:grpSpPr>
          <a:xfrm>
            <a:off x="1750441" y="2476499"/>
            <a:ext cx="7393559" cy="6248395"/>
            <a:chOff x="0" y="-57150"/>
            <a:chExt cx="1924217" cy="1481580"/>
          </a:xfrm>
        </p:grpSpPr>
        <p:sp>
          <p:nvSpPr>
            <p:cNvPr id="54" name="Freeform 18">
              <a:extLst>
                <a:ext uri="{FF2B5EF4-FFF2-40B4-BE49-F238E27FC236}">
                  <a16:creationId xmlns:a16="http://schemas.microsoft.com/office/drawing/2014/main" id="{C939D355-359C-433D-A93B-194623877201}"/>
                </a:ext>
              </a:extLst>
            </p:cNvPr>
            <p:cNvSpPr/>
            <p:nvPr/>
          </p:nvSpPr>
          <p:spPr>
            <a:xfrm>
              <a:off x="0" y="374955"/>
              <a:ext cx="1924217" cy="1049475"/>
            </a:xfrm>
            <a:custGeom>
              <a:avLst/>
              <a:gdLst/>
              <a:ahLst/>
              <a:cxnLst/>
              <a:rect l="l" t="t" r="r" b="b"/>
              <a:pathLst>
                <a:path w="1924217" h="1424430">
                  <a:moveTo>
                    <a:pt x="11518" y="0"/>
                  </a:moveTo>
                  <a:lnTo>
                    <a:pt x="1912699" y="0"/>
                  </a:lnTo>
                  <a:cubicBezTo>
                    <a:pt x="1915753" y="0"/>
                    <a:pt x="1918683" y="1214"/>
                    <a:pt x="1920843" y="3374"/>
                  </a:cubicBezTo>
                  <a:cubicBezTo>
                    <a:pt x="1923003" y="5534"/>
                    <a:pt x="1924217" y="8463"/>
                    <a:pt x="1924217" y="11518"/>
                  </a:cubicBezTo>
                  <a:lnTo>
                    <a:pt x="1924217" y="1412912"/>
                  </a:lnTo>
                  <a:cubicBezTo>
                    <a:pt x="1924217" y="1419273"/>
                    <a:pt x="1919060" y="1424430"/>
                    <a:pt x="1912699" y="1424430"/>
                  </a:cubicBezTo>
                  <a:lnTo>
                    <a:pt x="11518" y="1424430"/>
                  </a:lnTo>
                  <a:cubicBezTo>
                    <a:pt x="8463" y="1424430"/>
                    <a:pt x="5534" y="1423217"/>
                    <a:pt x="3374" y="1421056"/>
                  </a:cubicBezTo>
                  <a:cubicBezTo>
                    <a:pt x="1214" y="1418896"/>
                    <a:pt x="0" y="1415967"/>
                    <a:pt x="0" y="1412912"/>
                  </a:cubicBezTo>
                  <a:lnTo>
                    <a:pt x="0" y="11518"/>
                  </a:lnTo>
                  <a:cubicBezTo>
                    <a:pt x="0" y="8463"/>
                    <a:pt x="1214" y="5534"/>
                    <a:pt x="3374" y="3374"/>
                  </a:cubicBezTo>
                  <a:cubicBezTo>
                    <a:pt x="5534" y="1214"/>
                    <a:pt x="8463" y="0"/>
                    <a:pt x="11518" y="0"/>
                  </a:cubicBezTo>
                  <a:close/>
                </a:path>
              </a:pathLst>
            </a:custGeom>
            <a:solidFill>
              <a:srgbClr val="F3F3F3"/>
            </a:solidFill>
            <a:ln w="28575" cap="sq">
              <a:solidFill>
                <a:srgbClr val="333333"/>
              </a:solidFill>
              <a:prstDash val="solid"/>
              <a:miter/>
            </a:ln>
          </p:spPr>
        </p:sp>
        <p:sp>
          <p:nvSpPr>
            <p:cNvPr id="55" name="TextBox 19">
              <a:extLst>
                <a:ext uri="{FF2B5EF4-FFF2-40B4-BE49-F238E27FC236}">
                  <a16:creationId xmlns:a16="http://schemas.microsoft.com/office/drawing/2014/main" id="{1A2E6AAA-B2E7-4788-B32C-85077583F48F}"/>
                </a:ext>
              </a:extLst>
            </p:cNvPr>
            <p:cNvSpPr txBox="1"/>
            <p:nvPr/>
          </p:nvSpPr>
          <p:spPr>
            <a:xfrm>
              <a:off x="0" y="-57150"/>
              <a:ext cx="1924217" cy="14815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66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6" name="TextBox 24">
            <a:extLst>
              <a:ext uri="{FF2B5EF4-FFF2-40B4-BE49-F238E27FC236}">
                <a16:creationId xmlns:a16="http://schemas.microsoft.com/office/drawing/2014/main" id="{891F6602-AEC8-44FF-90A9-D3648668534C}"/>
              </a:ext>
            </a:extLst>
          </p:cNvPr>
          <p:cNvSpPr txBox="1"/>
          <p:nvPr/>
        </p:nvSpPr>
        <p:spPr>
          <a:xfrm>
            <a:off x="4070421" y="2998796"/>
            <a:ext cx="5291338" cy="4407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l">
              <a:lnSpc>
                <a:spcPct val="150000"/>
              </a:lnSpc>
              <a:spcBef>
                <a:spcPct val="0"/>
              </a:spcBef>
            </a:pPr>
            <a:r>
              <a:rPr lang="ko-KR" altLang="en-US" sz="2199" b="1" u="none" strike="noStrike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조합원 출연 </a:t>
            </a:r>
            <a:r>
              <a:rPr lang="en-US" altLang="ko-KR" sz="2199" b="1" u="none" strike="noStrike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80%, </a:t>
            </a:r>
            <a:r>
              <a:rPr lang="ko-KR" altLang="en-US" sz="2199" b="1" u="none" strike="noStrike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회사 대응출연 </a:t>
            </a:r>
            <a:r>
              <a:rPr lang="en-US" altLang="ko-KR" sz="2199" b="1" u="none" strike="noStrike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20%</a:t>
            </a:r>
            <a:endParaRPr lang="ko-KR" altLang="en-US" sz="2199" b="1" u="none" strike="noStrike" spc="-76" dirty="0">
              <a:solidFill>
                <a:srgbClr val="333333">
                  <a:alpha val="80000"/>
                </a:srgbClr>
              </a:solidFill>
              <a:latin typeface="JASO Sans"/>
              <a:ea typeface="JASO Sans"/>
              <a:cs typeface="JASO Sans"/>
              <a:sym typeface="JASO Sans"/>
            </a:endParaRPr>
          </a:p>
        </p:txBody>
      </p:sp>
      <p:sp>
        <p:nvSpPr>
          <p:cNvPr id="57" name="TextBox 25">
            <a:extLst>
              <a:ext uri="{FF2B5EF4-FFF2-40B4-BE49-F238E27FC236}">
                <a16:creationId xmlns:a16="http://schemas.microsoft.com/office/drawing/2014/main" id="{FF622B8D-EF39-4B11-B89E-19B65CAB81E2}"/>
              </a:ext>
            </a:extLst>
          </p:cNvPr>
          <p:cNvSpPr txBox="1"/>
          <p:nvPr/>
        </p:nvSpPr>
        <p:spPr>
          <a:xfrm>
            <a:off x="2050142" y="4370396"/>
            <a:ext cx="7093858" cy="39519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lvl="0" indent="-342900" algn="l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조합원 출연금은 전액 조합 명의 대출을 통해 조성</a:t>
            </a:r>
            <a:br>
              <a:rPr lang="en-US" altLang="ko-KR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</a:br>
            <a:r>
              <a:rPr lang="en-US" altLang="ko-KR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- </a:t>
            </a: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조합원이 직접 대출 받는 구조 아님</a:t>
            </a:r>
            <a:br>
              <a:rPr lang="en-US" altLang="ko-KR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</a:br>
            <a:r>
              <a:rPr lang="en-US" altLang="ko-KR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- </a:t>
            </a: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조합원 배정 시 조합 명의 대출을 조합원 명의 대출로 전환 </a:t>
            </a:r>
            <a:br>
              <a:rPr lang="en-US" altLang="ko-KR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</a:br>
            <a:r>
              <a:rPr lang="en-US" altLang="ko-KR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- </a:t>
            </a: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대출기간</a:t>
            </a:r>
            <a:r>
              <a:rPr lang="en-US" altLang="ko-KR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(</a:t>
            </a: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조합원</a:t>
            </a:r>
            <a:r>
              <a:rPr lang="en-US" altLang="ko-KR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) : 1</a:t>
            </a: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일</a:t>
            </a:r>
            <a:r>
              <a:rPr lang="en-US" altLang="ko-KR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~2</a:t>
            </a: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년</a:t>
            </a:r>
            <a:r>
              <a:rPr lang="en-US" altLang="ko-KR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, </a:t>
            </a: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이자율</a:t>
            </a:r>
            <a:r>
              <a:rPr lang="en-US" altLang="ko-KR" sz="2199" spc="-76" baseline="30000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(※)</a:t>
            </a: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 </a:t>
            </a:r>
            <a:r>
              <a:rPr lang="en-US" altLang="ko-KR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: 4%~5%</a:t>
            </a: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로 협의 중</a:t>
            </a:r>
            <a:endParaRPr lang="en-US" altLang="ko-KR" sz="2199" spc="-76" dirty="0">
              <a:solidFill>
                <a:srgbClr val="333333">
                  <a:alpha val="80000"/>
                </a:srgbClr>
              </a:solidFill>
              <a:latin typeface="JASO Sans"/>
              <a:ea typeface="JASO Sans"/>
              <a:sym typeface="JASO Sans"/>
            </a:endParaRPr>
          </a:p>
          <a:p>
            <a:pPr marL="342900" lvl="0" indent="-342900" algn="l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수요조사 결과로 조합원 출연</a:t>
            </a:r>
            <a:r>
              <a:rPr lang="en-US" altLang="ko-KR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(</a:t>
            </a: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대출</a:t>
            </a:r>
            <a:r>
              <a:rPr lang="en-US" altLang="ko-KR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) </a:t>
            </a: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규모 확정</a:t>
            </a:r>
            <a:r>
              <a:rPr lang="en-US" altLang="ko-KR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 : 80%</a:t>
            </a:r>
          </a:p>
          <a:p>
            <a:pPr marL="342900" lvl="0" indent="-342900" algn="l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조합원 출연에 대응하여 회사 출연 규모 확정 </a:t>
            </a:r>
            <a:r>
              <a:rPr lang="en-US" altLang="ko-KR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: 20%</a:t>
            </a:r>
          </a:p>
        </p:txBody>
      </p:sp>
      <p:grpSp>
        <p:nvGrpSpPr>
          <p:cNvPr id="68" name="Group 27">
            <a:extLst>
              <a:ext uri="{FF2B5EF4-FFF2-40B4-BE49-F238E27FC236}">
                <a16:creationId xmlns:a16="http://schemas.microsoft.com/office/drawing/2014/main" id="{7120F883-FE2A-4328-95BB-901296324E9F}"/>
              </a:ext>
            </a:extLst>
          </p:cNvPr>
          <p:cNvGrpSpPr/>
          <p:nvPr/>
        </p:nvGrpSpPr>
        <p:grpSpPr>
          <a:xfrm>
            <a:off x="2264046" y="2933700"/>
            <a:ext cx="1392300" cy="674696"/>
            <a:chOff x="0" y="0"/>
            <a:chExt cx="346873" cy="168092"/>
          </a:xfrm>
        </p:grpSpPr>
        <p:sp>
          <p:nvSpPr>
            <p:cNvPr id="69" name="Freeform 28">
              <a:extLst>
                <a:ext uri="{FF2B5EF4-FFF2-40B4-BE49-F238E27FC236}">
                  <a16:creationId xmlns:a16="http://schemas.microsoft.com/office/drawing/2014/main" id="{6ECDA43E-2DAB-4B63-ACF6-CBE440EB81C9}"/>
                </a:ext>
              </a:extLst>
            </p:cNvPr>
            <p:cNvSpPr/>
            <p:nvPr/>
          </p:nvSpPr>
          <p:spPr>
            <a:xfrm>
              <a:off x="0" y="0"/>
              <a:ext cx="346873" cy="168092"/>
            </a:xfrm>
            <a:custGeom>
              <a:avLst/>
              <a:gdLst/>
              <a:ahLst/>
              <a:cxnLst/>
              <a:rect l="l" t="t" r="r" b="b"/>
              <a:pathLst>
                <a:path w="346873" h="168092">
                  <a:moveTo>
                    <a:pt x="61166" y="0"/>
                  </a:moveTo>
                  <a:lnTo>
                    <a:pt x="285707" y="0"/>
                  </a:lnTo>
                  <a:cubicBezTo>
                    <a:pt x="319488" y="0"/>
                    <a:pt x="346873" y="27385"/>
                    <a:pt x="346873" y="61166"/>
                  </a:cubicBezTo>
                  <a:lnTo>
                    <a:pt x="346873" y="106926"/>
                  </a:lnTo>
                  <a:cubicBezTo>
                    <a:pt x="346873" y="140707"/>
                    <a:pt x="319488" y="168092"/>
                    <a:pt x="285707" y="168092"/>
                  </a:cubicBezTo>
                  <a:lnTo>
                    <a:pt x="61166" y="168092"/>
                  </a:lnTo>
                  <a:cubicBezTo>
                    <a:pt x="27385" y="168092"/>
                    <a:pt x="0" y="140707"/>
                    <a:pt x="0" y="106926"/>
                  </a:cubicBezTo>
                  <a:lnTo>
                    <a:pt x="0" y="61166"/>
                  </a:lnTo>
                  <a:cubicBezTo>
                    <a:pt x="0" y="27385"/>
                    <a:pt x="27385" y="0"/>
                    <a:pt x="61166" y="0"/>
                  </a:cubicBezTo>
                  <a:close/>
                </a:path>
              </a:pathLst>
            </a:custGeom>
            <a:solidFill>
              <a:srgbClr val="8DDAC8"/>
            </a:solidFill>
            <a:ln w="28575" cap="sq">
              <a:solidFill>
                <a:srgbClr val="333333"/>
              </a:solidFill>
              <a:prstDash val="solid"/>
              <a:miter/>
            </a:ln>
          </p:spPr>
        </p:sp>
        <p:sp>
          <p:nvSpPr>
            <p:cNvPr id="70" name="TextBox 29">
              <a:extLst>
                <a:ext uri="{FF2B5EF4-FFF2-40B4-BE49-F238E27FC236}">
                  <a16:creationId xmlns:a16="http://schemas.microsoft.com/office/drawing/2014/main" id="{710BF0C6-3636-4772-8436-F9CA0E584576}"/>
                </a:ext>
              </a:extLst>
            </p:cNvPr>
            <p:cNvSpPr txBox="1"/>
            <p:nvPr/>
          </p:nvSpPr>
          <p:spPr>
            <a:xfrm>
              <a:off x="0" y="-57150"/>
              <a:ext cx="346873" cy="2252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66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1" name="TextBox 39">
            <a:extLst>
              <a:ext uri="{FF2B5EF4-FFF2-40B4-BE49-F238E27FC236}">
                <a16:creationId xmlns:a16="http://schemas.microsoft.com/office/drawing/2014/main" id="{D9DB228A-6C4B-41F9-97F6-5BD3E5044A5E}"/>
              </a:ext>
            </a:extLst>
          </p:cNvPr>
          <p:cNvSpPr txBox="1"/>
          <p:nvPr/>
        </p:nvSpPr>
        <p:spPr>
          <a:xfrm rot="-18144">
            <a:off x="2397718" y="3121922"/>
            <a:ext cx="1125105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48"/>
              </a:lnSpc>
              <a:spcBef>
                <a:spcPct val="0"/>
              </a:spcBef>
            </a:pPr>
            <a:r>
              <a:rPr lang="ko-KR" altLang="en-US" sz="2400" u="none" strike="noStrike" spc="-120" dirty="0">
                <a:solidFill>
                  <a:srgbClr val="222222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기금조성</a:t>
            </a:r>
            <a:endParaRPr lang="en-US" sz="2400" u="none" strike="noStrike" spc="-120" dirty="0">
              <a:solidFill>
                <a:srgbClr val="222222"/>
              </a:solidFill>
              <a:latin typeface="210 국민체조"/>
              <a:ea typeface="210 국민체조"/>
              <a:cs typeface="210 국민체조"/>
              <a:sym typeface="210 국민체조"/>
            </a:endParaRPr>
          </a:p>
        </p:txBody>
      </p:sp>
      <p:grpSp>
        <p:nvGrpSpPr>
          <p:cNvPr id="72" name="Group 17">
            <a:extLst>
              <a:ext uri="{FF2B5EF4-FFF2-40B4-BE49-F238E27FC236}">
                <a16:creationId xmlns:a16="http://schemas.microsoft.com/office/drawing/2014/main" id="{CAAA85B8-CFBA-4D82-94E9-6F3A7A8E346F}"/>
              </a:ext>
            </a:extLst>
          </p:cNvPr>
          <p:cNvGrpSpPr/>
          <p:nvPr/>
        </p:nvGrpSpPr>
        <p:grpSpPr>
          <a:xfrm>
            <a:off x="9652878" y="2476499"/>
            <a:ext cx="7393559" cy="6248381"/>
            <a:chOff x="0" y="-57150"/>
            <a:chExt cx="1924217" cy="1481580"/>
          </a:xfrm>
        </p:grpSpPr>
        <p:sp>
          <p:nvSpPr>
            <p:cNvPr id="73" name="Freeform 18">
              <a:extLst>
                <a:ext uri="{FF2B5EF4-FFF2-40B4-BE49-F238E27FC236}">
                  <a16:creationId xmlns:a16="http://schemas.microsoft.com/office/drawing/2014/main" id="{B978E673-B18C-4717-B569-BCE6EF9B9C1A}"/>
                </a:ext>
              </a:extLst>
            </p:cNvPr>
            <p:cNvSpPr/>
            <p:nvPr/>
          </p:nvSpPr>
          <p:spPr>
            <a:xfrm>
              <a:off x="0" y="374955"/>
              <a:ext cx="1924217" cy="1049475"/>
            </a:xfrm>
            <a:custGeom>
              <a:avLst/>
              <a:gdLst/>
              <a:ahLst/>
              <a:cxnLst/>
              <a:rect l="l" t="t" r="r" b="b"/>
              <a:pathLst>
                <a:path w="1924217" h="1424430">
                  <a:moveTo>
                    <a:pt x="11518" y="0"/>
                  </a:moveTo>
                  <a:lnTo>
                    <a:pt x="1912699" y="0"/>
                  </a:lnTo>
                  <a:cubicBezTo>
                    <a:pt x="1915753" y="0"/>
                    <a:pt x="1918683" y="1214"/>
                    <a:pt x="1920843" y="3374"/>
                  </a:cubicBezTo>
                  <a:cubicBezTo>
                    <a:pt x="1923003" y="5534"/>
                    <a:pt x="1924217" y="8463"/>
                    <a:pt x="1924217" y="11518"/>
                  </a:cubicBezTo>
                  <a:lnTo>
                    <a:pt x="1924217" y="1412912"/>
                  </a:lnTo>
                  <a:cubicBezTo>
                    <a:pt x="1924217" y="1419273"/>
                    <a:pt x="1919060" y="1424430"/>
                    <a:pt x="1912699" y="1424430"/>
                  </a:cubicBezTo>
                  <a:lnTo>
                    <a:pt x="11518" y="1424430"/>
                  </a:lnTo>
                  <a:cubicBezTo>
                    <a:pt x="8463" y="1424430"/>
                    <a:pt x="5534" y="1423217"/>
                    <a:pt x="3374" y="1421056"/>
                  </a:cubicBezTo>
                  <a:cubicBezTo>
                    <a:pt x="1214" y="1418896"/>
                    <a:pt x="0" y="1415967"/>
                    <a:pt x="0" y="1412912"/>
                  </a:cubicBezTo>
                  <a:lnTo>
                    <a:pt x="0" y="11518"/>
                  </a:lnTo>
                  <a:cubicBezTo>
                    <a:pt x="0" y="8463"/>
                    <a:pt x="1214" y="5534"/>
                    <a:pt x="3374" y="3374"/>
                  </a:cubicBezTo>
                  <a:cubicBezTo>
                    <a:pt x="5534" y="1214"/>
                    <a:pt x="8463" y="0"/>
                    <a:pt x="11518" y="0"/>
                  </a:cubicBezTo>
                  <a:close/>
                </a:path>
              </a:pathLst>
            </a:custGeom>
            <a:solidFill>
              <a:srgbClr val="F3F3F3"/>
            </a:solidFill>
            <a:ln w="28575" cap="sq">
              <a:solidFill>
                <a:srgbClr val="333333"/>
              </a:solidFill>
              <a:prstDash val="solid"/>
              <a:miter/>
            </a:ln>
          </p:spPr>
        </p:sp>
        <p:sp>
          <p:nvSpPr>
            <p:cNvPr id="74" name="TextBox 19">
              <a:extLst>
                <a:ext uri="{FF2B5EF4-FFF2-40B4-BE49-F238E27FC236}">
                  <a16:creationId xmlns:a16="http://schemas.microsoft.com/office/drawing/2014/main" id="{732C229B-D68A-4F08-B853-74A3FAB1FC0F}"/>
                </a:ext>
              </a:extLst>
            </p:cNvPr>
            <p:cNvSpPr txBox="1"/>
            <p:nvPr/>
          </p:nvSpPr>
          <p:spPr>
            <a:xfrm>
              <a:off x="0" y="-57150"/>
              <a:ext cx="1924217" cy="14815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66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9" name="Group 27">
            <a:extLst>
              <a:ext uri="{FF2B5EF4-FFF2-40B4-BE49-F238E27FC236}">
                <a16:creationId xmlns:a16="http://schemas.microsoft.com/office/drawing/2014/main" id="{3F513C4D-AAE9-4E74-A2D9-2AC9968E7B6E}"/>
              </a:ext>
            </a:extLst>
          </p:cNvPr>
          <p:cNvGrpSpPr/>
          <p:nvPr/>
        </p:nvGrpSpPr>
        <p:grpSpPr>
          <a:xfrm>
            <a:off x="10166483" y="2933700"/>
            <a:ext cx="1392300" cy="674696"/>
            <a:chOff x="0" y="0"/>
            <a:chExt cx="346873" cy="168092"/>
          </a:xfrm>
        </p:grpSpPr>
        <p:sp>
          <p:nvSpPr>
            <p:cNvPr id="90" name="Freeform 28">
              <a:extLst>
                <a:ext uri="{FF2B5EF4-FFF2-40B4-BE49-F238E27FC236}">
                  <a16:creationId xmlns:a16="http://schemas.microsoft.com/office/drawing/2014/main" id="{16F934C2-F2D8-4D45-8009-9F7922A3BEA2}"/>
                </a:ext>
              </a:extLst>
            </p:cNvPr>
            <p:cNvSpPr/>
            <p:nvPr/>
          </p:nvSpPr>
          <p:spPr>
            <a:xfrm>
              <a:off x="0" y="0"/>
              <a:ext cx="346873" cy="168092"/>
            </a:xfrm>
            <a:custGeom>
              <a:avLst/>
              <a:gdLst/>
              <a:ahLst/>
              <a:cxnLst/>
              <a:rect l="l" t="t" r="r" b="b"/>
              <a:pathLst>
                <a:path w="346873" h="168092">
                  <a:moveTo>
                    <a:pt x="61166" y="0"/>
                  </a:moveTo>
                  <a:lnTo>
                    <a:pt x="285707" y="0"/>
                  </a:lnTo>
                  <a:cubicBezTo>
                    <a:pt x="319488" y="0"/>
                    <a:pt x="346873" y="27385"/>
                    <a:pt x="346873" y="61166"/>
                  </a:cubicBezTo>
                  <a:lnTo>
                    <a:pt x="346873" y="106926"/>
                  </a:lnTo>
                  <a:cubicBezTo>
                    <a:pt x="346873" y="140707"/>
                    <a:pt x="319488" y="168092"/>
                    <a:pt x="285707" y="168092"/>
                  </a:cubicBezTo>
                  <a:lnTo>
                    <a:pt x="61166" y="168092"/>
                  </a:lnTo>
                  <a:cubicBezTo>
                    <a:pt x="27385" y="168092"/>
                    <a:pt x="0" y="140707"/>
                    <a:pt x="0" y="106926"/>
                  </a:cubicBezTo>
                  <a:lnTo>
                    <a:pt x="0" y="61166"/>
                  </a:lnTo>
                  <a:cubicBezTo>
                    <a:pt x="0" y="27385"/>
                    <a:pt x="27385" y="0"/>
                    <a:pt x="61166" y="0"/>
                  </a:cubicBezTo>
                  <a:close/>
                </a:path>
              </a:pathLst>
            </a:custGeom>
            <a:solidFill>
              <a:srgbClr val="8DDAC8"/>
            </a:solidFill>
            <a:ln w="28575" cap="sq">
              <a:solidFill>
                <a:srgbClr val="333333"/>
              </a:solidFill>
              <a:prstDash val="solid"/>
              <a:miter/>
            </a:ln>
          </p:spPr>
        </p:sp>
        <p:sp>
          <p:nvSpPr>
            <p:cNvPr id="91" name="TextBox 29">
              <a:extLst>
                <a:ext uri="{FF2B5EF4-FFF2-40B4-BE49-F238E27FC236}">
                  <a16:creationId xmlns:a16="http://schemas.microsoft.com/office/drawing/2014/main" id="{F46388B8-C283-40E9-A3B1-86FAC65546B8}"/>
                </a:ext>
              </a:extLst>
            </p:cNvPr>
            <p:cNvSpPr txBox="1"/>
            <p:nvPr/>
          </p:nvSpPr>
          <p:spPr>
            <a:xfrm>
              <a:off x="0" y="-57150"/>
              <a:ext cx="346873" cy="2252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66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2" name="TextBox 39">
            <a:extLst>
              <a:ext uri="{FF2B5EF4-FFF2-40B4-BE49-F238E27FC236}">
                <a16:creationId xmlns:a16="http://schemas.microsoft.com/office/drawing/2014/main" id="{3FFA5853-9F0F-4415-B512-553476210566}"/>
              </a:ext>
            </a:extLst>
          </p:cNvPr>
          <p:cNvSpPr txBox="1"/>
          <p:nvPr/>
        </p:nvSpPr>
        <p:spPr>
          <a:xfrm rot="-18144">
            <a:off x="10226118" y="3121570"/>
            <a:ext cx="1258472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448"/>
              </a:lnSpc>
              <a:spcBef>
                <a:spcPct val="0"/>
              </a:spcBef>
            </a:pPr>
            <a:r>
              <a:rPr lang="ko-KR" altLang="en-US" sz="2400" u="none" strike="noStrike" spc="-120" dirty="0">
                <a:solidFill>
                  <a:srgbClr val="222222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주식취득</a:t>
            </a:r>
            <a:endParaRPr lang="en-US" sz="2400" u="none" strike="noStrike" spc="-120" dirty="0">
              <a:solidFill>
                <a:srgbClr val="222222"/>
              </a:solidFill>
              <a:latin typeface="210 국민체조"/>
              <a:ea typeface="210 국민체조"/>
              <a:cs typeface="210 국민체조"/>
              <a:sym typeface="210 국민체조"/>
            </a:endParaRPr>
          </a:p>
        </p:txBody>
      </p:sp>
      <p:sp>
        <p:nvSpPr>
          <p:cNvPr id="94" name="TextBox 24">
            <a:extLst>
              <a:ext uri="{FF2B5EF4-FFF2-40B4-BE49-F238E27FC236}">
                <a16:creationId xmlns:a16="http://schemas.microsoft.com/office/drawing/2014/main" id="{434EBA68-4420-48DD-A2DF-E291A3A8EB52}"/>
              </a:ext>
            </a:extLst>
          </p:cNvPr>
          <p:cNvSpPr txBox="1"/>
          <p:nvPr/>
        </p:nvSpPr>
        <p:spPr>
          <a:xfrm>
            <a:off x="12072388" y="2976182"/>
            <a:ext cx="5291338" cy="4407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l">
              <a:lnSpc>
                <a:spcPct val="150000"/>
              </a:lnSpc>
              <a:spcBef>
                <a:spcPct val="0"/>
              </a:spcBef>
            </a:pPr>
            <a:r>
              <a:rPr lang="ko-KR" altLang="en-US" sz="2199" b="1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수요 조사 결과를 고려한 시장 매입</a:t>
            </a:r>
            <a:endParaRPr lang="ko-KR" altLang="en-US" sz="2199" b="1" u="none" strike="noStrike" spc="-76" dirty="0">
              <a:solidFill>
                <a:srgbClr val="333333">
                  <a:alpha val="80000"/>
                </a:srgbClr>
              </a:solidFill>
              <a:latin typeface="JASO Sans"/>
              <a:ea typeface="JASO Sans"/>
              <a:cs typeface="JASO Sans"/>
              <a:sym typeface="JASO Sans"/>
            </a:endParaRPr>
          </a:p>
        </p:txBody>
      </p:sp>
      <p:sp>
        <p:nvSpPr>
          <p:cNvPr id="95" name="TextBox 25">
            <a:extLst>
              <a:ext uri="{FF2B5EF4-FFF2-40B4-BE49-F238E27FC236}">
                <a16:creationId xmlns:a16="http://schemas.microsoft.com/office/drawing/2014/main" id="{580E5F7C-BE8A-4A4D-8B57-D57C9DF49D46}"/>
              </a:ext>
            </a:extLst>
          </p:cNvPr>
          <p:cNvSpPr txBox="1"/>
          <p:nvPr/>
        </p:nvSpPr>
        <p:spPr>
          <a:xfrm>
            <a:off x="9952579" y="4370396"/>
            <a:ext cx="7093858" cy="39942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lvl="0" indent="-342900" algn="l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조합 기금은 전액 우리사주 취득 재원으로 사용</a:t>
            </a:r>
            <a:endParaRPr lang="en-US" altLang="ko-KR" sz="2199" spc="-76" dirty="0">
              <a:solidFill>
                <a:srgbClr val="333333">
                  <a:alpha val="80000"/>
                </a:srgbClr>
              </a:solidFill>
              <a:latin typeface="JASO Sans"/>
              <a:ea typeface="JASO Sans"/>
              <a:sym typeface="JASO Sans"/>
            </a:endParaRPr>
          </a:p>
          <a:p>
            <a:pPr marL="342900" lvl="0" indent="-342900" algn="l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우리사주 취득은 주식시장 상황을 고려하여 단계적 진행</a:t>
            </a:r>
            <a:endParaRPr lang="en-US" altLang="ko-KR" sz="2199" spc="-76" dirty="0">
              <a:solidFill>
                <a:srgbClr val="333333">
                  <a:alpha val="80000"/>
                </a:srgbClr>
              </a:solidFill>
              <a:latin typeface="JASO Sans"/>
              <a:ea typeface="JASO Sans"/>
              <a:sym typeface="JASO Sans"/>
            </a:endParaRPr>
          </a:p>
          <a:p>
            <a:pPr marL="342900" lvl="0" indent="-342900" algn="l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최초 취득은 우리사주조합 명의로 보유</a:t>
            </a:r>
            <a:endParaRPr lang="en-US" altLang="ko-KR" sz="2199" spc="-76" dirty="0">
              <a:solidFill>
                <a:srgbClr val="333333">
                  <a:alpha val="80000"/>
                </a:srgbClr>
              </a:solidFill>
              <a:latin typeface="JASO Sans"/>
              <a:ea typeface="JASO Sans"/>
              <a:sym typeface="JASO Sans"/>
            </a:endParaRPr>
          </a:p>
          <a:p>
            <a:pPr marL="342900" lvl="0" indent="-342900" algn="l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이후 조합 이사회 결의에 따라 조합원에게 우리사주 배정</a:t>
            </a:r>
            <a:br>
              <a:rPr lang="en-US" altLang="ko-KR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</a:br>
            <a:r>
              <a:rPr lang="en-US" altLang="ko-KR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- </a:t>
            </a: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조합원 배정 시 조합 명의 대출</a:t>
            </a:r>
            <a:r>
              <a:rPr lang="en-US" altLang="ko-KR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, </a:t>
            </a: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조합원 명의 대출로 변경</a:t>
            </a:r>
            <a:endParaRPr lang="en-US" altLang="ko-KR" sz="2199" spc="-76" dirty="0">
              <a:solidFill>
                <a:srgbClr val="333333">
                  <a:alpha val="80000"/>
                </a:srgbClr>
              </a:solidFill>
              <a:latin typeface="JASO Sans"/>
              <a:ea typeface="JASO Sans"/>
              <a:sym typeface="JASO Sans"/>
            </a:endParaRPr>
          </a:p>
          <a:p>
            <a:pPr marL="342900" lvl="0" indent="-342900" algn="l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회사출연 </a:t>
            </a:r>
            <a:r>
              <a:rPr lang="en-US" altLang="ko-KR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20%</a:t>
            </a: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만큼 낮은 금액에 우리사주를 취득하는 효과</a:t>
            </a:r>
            <a:br>
              <a:rPr lang="en-US" altLang="ko-KR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</a:br>
            <a:r>
              <a:rPr lang="en-US" altLang="ko-KR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- (</a:t>
            </a: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예시</a:t>
            </a:r>
            <a:r>
              <a:rPr lang="en-US" altLang="ko-KR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) </a:t>
            </a: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매입가액 </a:t>
            </a:r>
            <a:r>
              <a:rPr lang="en-US" altLang="ko-KR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16,000</a:t>
            </a: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원인 경우</a:t>
            </a:r>
            <a:r>
              <a:rPr lang="en-US" altLang="ko-KR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,</a:t>
            </a:r>
            <a:br>
              <a:rPr lang="en-US" altLang="ko-KR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</a:br>
            <a:r>
              <a:rPr lang="en-US" altLang="ko-KR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   </a:t>
            </a: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회사 </a:t>
            </a:r>
            <a:r>
              <a:rPr lang="en-US" altLang="ko-KR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20%(3,200</a:t>
            </a: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원</a:t>
            </a:r>
            <a:r>
              <a:rPr lang="en-US" altLang="ko-KR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) &amp; </a:t>
            </a: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조합원 </a:t>
            </a:r>
            <a:r>
              <a:rPr lang="en-US" altLang="ko-KR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80%(12,800</a:t>
            </a: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원</a:t>
            </a:r>
            <a:r>
              <a:rPr lang="en-US" altLang="ko-KR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) </a:t>
            </a: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부담하게 됨</a:t>
            </a:r>
            <a:r>
              <a:rPr lang="en-US" altLang="ko-KR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 </a:t>
            </a:r>
          </a:p>
        </p:txBody>
      </p:sp>
      <p:sp>
        <p:nvSpPr>
          <p:cNvPr id="35" name="TextBox 32">
            <a:extLst>
              <a:ext uri="{FF2B5EF4-FFF2-40B4-BE49-F238E27FC236}">
                <a16:creationId xmlns:a16="http://schemas.microsoft.com/office/drawing/2014/main" id="{44B14E50-6ED3-4A35-8049-506FA19EA455}"/>
              </a:ext>
            </a:extLst>
          </p:cNvPr>
          <p:cNvSpPr txBox="1"/>
          <p:nvPr/>
        </p:nvSpPr>
        <p:spPr>
          <a:xfrm>
            <a:off x="1681558" y="8751794"/>
            <a:ext cx="6395641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37489" lvl="1" algn="l"/>
            <a:r>
              <a:rPr lang="en-US" altLang="ko-KR" sz="1600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※ ‘</a:t>
            </a:r>
            <a:r>
              <a:rPr lang="ko-KR" altLang="en-US" sz="1600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한국증권금융</a:t>
            </a:r>
            <a:r>
              <a:rPr lang="en-US" altLang="ko-KR" sz="1600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(</a:t>
            </a:r>
            <a:r>
              <a:rPr lang="ko-KR" altLang="en-US" sz="1600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대출기관</a:t>
            </a:r>
            <a:r>
              <a:rPr lang="en-US" altLang="ko-KR" sz="1600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)’</a:t>
            </a:r>
            <a:r>
              <a:rPr lang="ko-KR" altLang="en-US" sz="1600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조건에 따라 변동될 수 있으며</a:t>
            </a:r>
            <a:r>
              <a:rPr lang="en-US" altLang="ko-KR" sz="1600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,</a:t>
            </a:r>
            <a:br>
              <a:rPr lang="en-US" altLang="ko-KR" sz="1600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</a:br>
            <a:r>
              <a:rPr lang="en-US" altLang="ko-KR" sz="1600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    </a:t>
            </a:r>
            <a:r>
              <a:rPr lang="ko-KR" altLang="en-US" sz="1600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확정된 대출조건 후 추후 조합원 대상 별도 안내 예정</a:t>
            </a:r>
            <a:endParaRPr lang="en-US" altLang="ko-KR" sz="1600" spc="-76" dirty="0">
              <a:solidFill>
                <a:srgbClr val="333333">
                  <a:alpha val="80000"/>
                </a:srgbClr>
              </a:solidFill>
              <a:latin typeface="JASO Sans"/>
              <a:ea typeface="JASO Sans"/>
              <a:cs typeface="JASO Sans"/>
              <a:sym typeface="JASO Sans"/>
            </a:endParaRPr>
          </a:p>
        </p:txBody>
      </p:sp>
    </p:spTree>
    <p:extLst>
      <p:ext uri="{BB962C8B-B14F-4D97-AF65-F5344CB8AC3E}">
        <p14:creationId xmlns:p14="http://schemas.microsoft.com/office/powerpoint/2010/main" val="31195938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14924" y="513776"/>
            <a:ext cx="17258151" cy="9391650"/>
            <a:chOff x="0" y="0"/>
            <a:chExt cx="23010868" cy="125222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77800"/>
              <a:ext cx="23010868" cy="12344400"/>
              <a:chOff x="0" y="0"/>
              <a:chExt cx="4545357" cy="24384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545357" cy="2438400"/>
              </a:xfrm>
              <a:custGeom>
                <a:avLst/>
                <a:gdLst/>
                <a:ahLst/>
                <a:cxnLst/>
                <a:rect l="l" t="t" r="r" b="b"/>
                <a:pathLst>
                  <a:path w="4545357" h="2438400">
                    <a:moveTo>
                      <a:pt x="17944" y="0"/>
                    </a:moveTo>
                    <a:lnTo>
                      <a:pt x="4527413" y="0"/>
                    </a:lnTo>
                    <a:cubicBezTo>
                      <a:pt x="4537323" y="0"/>
                      <a:pt x="4545357" y="8034"/>
                      <a:pt x="4545357" y="17944"/>
                    </a:cubicBezTo>
                    <a:lnTo>
                      <a:pt x="4545357" y="2420456"/>
                    </a:lnTo>
                    <a:cubicBezTo>
                      <a:pt x="4545357" y="2430366"/>
                      <a:pt x="4537323" y="2438400"/>
                      <a:pt x="4527413" y="2438400"/>
                    </a:cubicBezTo>
                    <a:lnTo>
                      <a:pt x="17944" y="2438400"/>
                    </a:lnTo>
                    <a:cubicBezTo>
                      <a:pt x="8034" y="2438400"/>
                      <a:pt x="0" y="2430366"/>
                      <a:pt x="0" y="2420456"/>
                    </a:cubicBezTo>
                    <a:lnTo>
                      <a:pt x="0" y="17944"/>
                    </a:lnTo>
                    <a:cubicBezTo>
                      <a:pt x="0" y="8034"/>
                      <a:pt x="8034" y="0"/>
                      <a:pt x="17944" y="0"/>
                    </a:cubicBezTo>
                    <a:close/>
                  </a:path>
                </a:pathLst>
              </a:custGeom>
              <a:solidFill>
                <a:srgbClr val="E5E5E5"/>
              </a:solidFill>
              <a:ln w="38100" cap="rnd">
                <a:solidFill>
                  <a:srgbClr val="333333"/>
                </a:solidFill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76200"/>
                <a:ext cx="4545357" cy="2514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8"/>
                  </a:lnSpc>
                </a:pPr>
                <a:r>
                  <a:rPr lang="en-US" sz="2200" spc="-90">
                    <a:solidFill>
                      <a:srgbClr val="FFFFFF"/>
                    </a:solidFill>
                    <a:latin typeface="JASO Sans"/>
                    <a:ea typeface="JASO Sans"/>
                    <a:cs typeface="JASO Sans"/>
                    <a:sym typeface="JASO Sans"/>
                  </a:rPr>
                  <a:t>ㄲㄲ</a:t>
                </a:r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23010868" cy="12344400"/>
              <a:chOff x="0" y="0"/>
              <a:chExt cx="4545357" cy="24384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545357" cy="2438400"/>
              </a:xfrm>
              <a:custGeom>
                <a:avLst/>
                <a:gdLst/>
                <a:ahLst/>
                <a:cxnLst/>
                <a:rect l="l" t="t" r="r" b="b"/>
                <a:pathLst>
                  <a:path w="4545357" h="2438400">
                    <a:moveTo>
                      <a:pt x="14804" y="0"/>
                    </a:moveTo>
                    <a:lnTo>
                      <a:pt x="4530553" y="0"/>
                    </a:lnTo>
                    <a:cubicBezTo>
                      <a:pt x="4534479" y="0"/>
                      <a:pt x="4538245" y="1560"/>
                      <a:pt x="4541021" y="4336"/>
                    </a:cubicBezTo>
                    <a:cubicBezTo>
                      <a:pt x="4543797" y="7112"/>
                      <a:pt x="4545357" y="10877"/>
                      <a:pt x="4545357" y="14804"/>
                    </a:cubicBezTo>
                    <a:lnTo>
                      <a:pt x="4545357" y="2423596"/>
                    </a:lnTo>
                    <a:cubicBezTo>
                      <a:pt x="4545357" y="2431772"/>
                      <a:pt x="4538729" y="2438400"/>
                      <a:pt x="4530553" y="2438400"/>
                    </a:cubicBezTo>
                    <a:lnTo>
                      <a:pt x="14804" y="2438400"/>
                    </a:lnTo>
                    <a:cubicBezTo>
                      <a:pt x="10877" y="2438400"/>
                      <a:pt x="7112" y="2436840"/>
                      <a:pt x="4336" y="2434064"/>
                    </a:cubicBezTo>
                    <a:cubicBezTo>
                      <a:pt x="1560" y="2431288"/>
                      <a:pt x="0" y="2427523"/>
                      <a:pt x="0" y="2423596"/>
                    </a:cubicBezTo>
                    <a:lnTo>
                      <a:pt x="0" y="14804"/>
                    </a:lnTo>
                    <a:cubicBezTo>
                      <a:pt x="0" y="10877"/>
                      <a:pt x="1560" y="7112"/>
                      <a:pt x="4336" y="4336"/>
                    </a:cubicBezTo>
                    <a:cubicBezTo>
                      <a:pt x="7112" y="1560"/>
                      <a:pt x="10877" y="0"/>
                      <a:pt x="1480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333333"/>
                </a:solidFill>
                <a:prstDash val="solid"/>
                <a:round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76200"/>
                <a:ext cx="4545357" cy="2514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8"/>
                  </a:lnSpc>
                </a:pPr>
                <a:r>
                  <a:rPr lang="en-US" sz="2200" spc="-90">
                    <a:solidFill>
                      <a:srgbClr val="FFFFFF"/>
                    </a:solidFill>
                    <a:latin typeface="JASO Sans"/>
                    <a:ea typeface="JASO Sans"/>
                    <a:cs typeface="JASO Sans"/>
                    <a:sym typeface="JASO Sans"/>
                  </a:rPr>
                  <a:t>ㄲㄲ</a:t>
                </a:r>
              </a:p>
            </p:txBody>
          </p:sp>
        </p:grpSp>
      </p:grpSp>
      <p:sp>
        <p:nvSpPr>
          <p:cNvPr id="9" name="Freeform 9"/>
          <p:cNvSpPr/>
          <p:nvPr/>
        </p:nvSpPr>
        <p:spPr>
          <a:xfrm rot="-5400000">
            <a:off x="17104554" y="827085"/>
            <a:ext cx="90727" cy="403229"/>
          </a:xfrm>
          <a:custGeom>
            <a:avLst/>
            <a:gdLst/>
            <a:ahLst/>
            <a:cxnLst/>
            <a:rect l="l" t="t" r="r" b="b"/>
            <a:pathLst>
              <a:path w="90727" h="403229">
                <a:moveTo>
                  <a:pt x="0" y="0"/>
                </a:moveTo>
                <a:lnTo>
                  <a:pt x="90726" y="0"/>
                </a:lnTo>
                <a:lnTo>
                  <a:pt x="90726" y="403230"/>
                </a:lnTo>
                <a:lnTo>
                  <a:pt x="0" y="4032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10" name="Group 10"/>
          <p:cNvGrpSpPr/>
          <p:nvPr/>
        </p:nvGrpSpPr>
        <p:grpSpPr>
          <a:xfrm>
            <a:off x="1339871" y="1267781"/>
            <a:ext cx="710270" cy="712421"/>
            <a:chOff x="0" y="0"/>
            <a:chExt cx="187067" cy="18763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87067" cy="187633"/>
            </a:xfrm>
            <a:custGeom>
              <a:avLst/>
              <a:gdLst/>
              <a:ahLst/>
              <a:cxnLst/>
              <a:rect l="l" t="t" r="r" b="b"/>
              <a:pathLst>
                <a:path w="187067" h="187633">
                  <a:moveTo>
                    <a:pt x="93533" y="0"/>
                  </a:moveTo>
                  <a:lnTo>
                    <a:pt x="93533" y="0"/>
                  </a:lnTo>
                  <a:cubicBezTo>
                    <a:pt x="145191" y="0"/>
                    <a:pt x="187067" y="41876"/>
                    <a:pt x="187067" y="93533"/>
                  </a:cubicBezTo>
                  <a:lnTo>
                    <a:pt x="187067" y="94100"/>
                  </a:lnTo>
                  <a:cubicBezTo>
                    <a:pt x="187067" y="118907"/>
                    <a:pt x="177213" y="142697"/>
                    <a:pt x="159672" y="160238"/>
                  </a:cubicBezTo>
                  <a:cubicBezTo>
                    <a:pt x="142131" y="177779"/>
                    <a:pt x="118340" y="187633"/>
                    <a:pt x="93533" y="187633"/>
                  </a:cubicBezTo>
                  <a:lnTo>
                    <a:pt x="93533" y="187633"/>
                  </a:lnTo>
                  <a:cubicBezTo>
                    <a:pt x="41876" y="187633"/>
                    <a:pt x="0" y="145757"/>
                    <a:pt x="0" y="94100"/>
                  </a:cubicBezTo>
                  <a:lnTo>
                    <a:pt x="0" y="93533"/>
                  </a:lnTo>
                  <a:cubicBezTo>
                    <a:pt x="0" y="68727"/>
                    <a:pt x="9854" y="44936"/>
                    <a:pt x="27395" y="27395"/>
                  </a:cubicBezTo>
                  <a:cubicBezTo>
                    <a:pt x="44936" y="9854"/>
                    <a:pt x="68727" y="0"/>
                    <a:pt x="93533" y="0"/>
                  </a:cubicBezTo>
                  <a:close/>
                </a:path>
              </a:pathLst>
            </a:custGeom>
            <a:solidFill>
              <a:srgbClr val="8DDAC8"/>
            </a:solidFill>
            <a:ln w="28575" cap="sq">
              <a:solidFill>
                <a:srgbClr val="333333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187067" cy="2447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66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 rot="-18144">
            <a:off x="2289392" y="1197329"/>
            <a:ext cx="9827735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6414"/>
              </a:lnSpc>
              <a:spcBef>
                <a:spcPct val="0"/>
              </a:spcBef>
            </a:pPr>
            <a:r>
              <a:rPr lang="ko-KR" altLang="en-US" sz="5676" spc="-283" dirty="0">
                <a:solidFill>
                  <a:srgbClr val="33333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우리사주 배정</a:t>
            </a:r>
            <a:r>
              <a:rPr lang="en-US" altLang="ko-KR" sz="5676" spc="-283" dirty="0">
                <a:solidFill>
                  <a:srgbClr val="33333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/</a:t>
            </a:r>
            <a:r>
              <a:rPr lang="ko-KR" altLang="en-US" sz="5676" spc="-283" dirty="0">
                <a:solidFill>
                  <a:srgbClr val="33333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예탁 </a:t>
            </a:r>
            <a:r>
              <a:rPr lang="en-US" altLang="ko-KR" sz="5676" spc="-283" dirty="0">
                <a:solidFill>
                  <a:srgbClr val="33333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&amp;</a:t>
            </a:r>
            <a:r>
              <a:rPr lang="ko-KR" altLang="en-US" sz="5676" spc="-283" dirty="0">
                <a:solidFill>
                  <a:srgbClr val="33333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 대출 전환 </a:t>
            </a:r>
            <a:endParaRPr lang="en-US" sz="5676" spc="-283" dirty="0">
              <a:solidFill>
                <a:srgbClr val="333333"/>
              </a:solidFill>
              <a:latin typeface="210 국민체조"/>
              <a:ea typeface="210 국민체조"/>
              <a:cs typeface="210 국민체조"/>
              <a:sym typeface="210 국민체조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173591" y="1414452"/>
            <a:ext cx="1042830" cy="3656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00"/>
              </a:lnSpc>
            </a:pPr>
            <a:r>
              <a:rPr lang="en-US" sz="2416" b="1" spc="-62" dirty="0">
                <a:solidFill>
                  <a:srgbClr val="33333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5-3</a:t>
            </a:r>
          </a:p>
        </p:txBody>
      </p:sp>
      <p:sp>
        <p:nvSpPr>
          <p:cNvPr id="80" name="AutoShape 13">
            <a:extLst>
              <a:ext uri="{FF2B5EF4-FFF2-40B4-BE49-F238E27FC236}">
                <a16:creationId xmlns:a16="http://schemas.microsoft.com/office/drawing/2014/main" id="{196E38CD-463A-4AB5-8A62-7B8D28205BBF}"/>
              </a:ext>
            </a:extLst>
          </p:cNvPr>
          <p:cNvSpPr/>
          <p:nvPr/>
        </p:nvSpPr>
        <p:spPr>
          <a:xfrm flipV="1">
            <a:off x="1339698" y="2443184"/>
            <a:ext cx="15608605" cy="0"/>
          </a:xfrm>
          <a:prstGeom prst="line">
            <a:avLst/>
          </a:prstGeom>
          <a:ln w="19050" cap="flat">
            <a:solidFill>
              <a:srgbClr val="33333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1" name="AutoShape 13">
            <a:extLst>
              <a:ext uri="{FF2B5EF4-FFF2-40B4-BE49-F238E27FC236}">
                <a16:creationId xmlns:a16="http://schemas.microsoft.com/office/drawing/2014/main" id="{BCECE857-B6E3-438A-9F87-F539F47F9FC0}"/>
              </a:ext>
            </a:extLst>
          </p:cNvPr>
          <p:cNvSpPr/>
          <p:nvPr/>
        </p:nvSpPr>
        <p:spPr>
          <a:xfrm flipV="1">
            <a:off x="1339698" y="2443184"/>
            <a:ext cx="15608605" cy="0"/>
          </a:xfrm>
          <a:prstGeom prst="line">
            <a:avLst/>
          </a:prstGeom>
          <a:ln w="19050" cap="flat">
            <a:solidFill>
              <a:srgbClr val="333333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9" name="Group 17">
            <a:extLst>
              <a:ext uri="{FF2B5EF4-FFF2-40B4-BE49-F238E27FC236}">
                <a16:creationId xmlns:a16="http://schemas.microsoft.com/office/drawing/2014/main" id="{FEBA5720-1EA2-425E-A018-72B4A77F1A8A}"/>
              </a:ext>
            </a:extLst>
          </p:cNvPr>
          <p:cNvGrpSpPr/>
          <p:nvPr/>
        </p:nvGrpSpPr>
        <p:grpSpPr>
          <a:xfrm>
            <a:off x="1750441" y="2476499"/>
            <a:ext cx="7393559" cy="6248395"/>
            <a:chOff x="0" y="-57150"/>
            <a:chExt cx="1924217" cy="1481580"/>
          </a:xfrm>
        </p:grpSpPr>
        <p:sp>
          <p:nvSpPr>
            <p:cNvPr id="20" name="Freeform 18">
              <a:extLst>
                <a:ext uri="{FF2B5EF4-FFF2-40B4-BE49-F238E27FC236}">
                  <a16:creationId xmlns:a16="http://schemas.microsoft.com/office/drawing/2014/main" id="{8AD80C13-86FB-4839-B75F-1B1B947F4E86}"/>
                </a:ext>
              </a:extLst>
            </p:cNvPr>
            <p:cNvSpPr/>
            <p:nvPr/>
          </p:nvSpPr>
          <p:spPr>
            <a:xfrm>
              <a:off x="0" y="374955"/>
              <a:ext cx="1924217" cy="1049475"/>
            </a:xfrm>
            <a:custGeom>
              <a:avLst/>
              <a:gdLst/>
              <a:ahLst/>
              <a:cxnLst/>
              <a:rect l="l" t="t" r="r" b="b"/>
              <a:pathLst>
                <a:path w="1924217" h="1424430">
                  <a:moveTo>
                    <a:pt x="11518" y="0"/>
                  </a:moveTo>
                  <a:lnTo>
                    <a:pt x="1912699" y="0"/>
                  </a:lnTo>
                  <a:cubicBezTo>
                    <a:pt x="1915753" y="0"/>
                    <a:pt x="1918683" y="1214"/>
                    <a:pt x="1920843" y="3374"/>
                  </a:cubicBezTo>
                  <a:cubicBezTo>
                    <a:pt x="1923003" y="5534"/>
                    <a:pt x="1924217" y="8463"/>
                    <a:pt x="1924217" y="11518"/>
                  </a:cubicBezTo>
                  <a:lnTo>
                    <a:pt x="1924217" y="1412912"/>
                  </a:lnTo>
                  <a:cubicBezTo>
                    <a:pt x="1924217" y="1419273"/>
                    <a:pt x="1919060" y="1424430"/>
                    <a:pt x="1912699" y="1424430"/>
                  </a:cubicBezTo>
                  <a:lnTo>
                    <a:pt x="11518" y="1424430"/>
                  </a:lnTo>
                  <a:cubicBezTo>
                    <a:pt x="8463" y="1424430"/>
                    <a:pt x="5534" y="1423217"/>
                    <a:pt x="3374" y="1421056"/>
                  </a:cubicBezTo>
                  <a:cubicBezTo>
                    <a:pt x="1214" y="1418896"/>
                    <a:pt x="0" y="1415967"/>
                    <a:pt x="0" y="1412912"/>
                  </a:cubicBezTo>
                  <a:lnTo>
                    <a:pt x="0" y="11518"/>
                  </a:lnTo>
                  <a:cubicBezTo>
                    <a:pt x="0" y="8463"/>
                    <a:pt x="1214" y="5534"/>
                    <a:pt x="3374" y="3374"/>
                  </a:cubicBezTo>
                  <a:cubicBezTo>
                    <a:pt x="5534" y="1214"/>
                    <a:pt x="8463" y="0"/>
                    <a:pt x="11518" y="0"/>
                  </a:cubicBezTo>
                  <a:close/>
                </a:path>
              </a:pathLst>
            </a:custGeom>
            <a:solidFill>
              <a:srgbClr val="F3F3F3"/>
            </a:solidFill>
            <a:ln w="28575" cap="sq">
              <a:solidFill>
                <a:srgbClr val="333333"/>
              </a:solidFill>
              <a:prstDash val="solid"/>
              <a:miter/>
            </a:ln>
          </p:spPr>
        </p:sp>
        <p:sp>
          <p:nvSpPr>
            <p:cNvPr id="21" name="TextBox 19">
              <a:extLst>
                <a:ext uri="{FF2B5EF4-FFF2-40B4-BE49-F238E27FC236}">
                  <a16:creationId xmlns:a16="http://schemas.microsoft.com/office/drawing/2014/main" id="{CA376C2B-9450-4DCF-8D7A-8CE045D3C438}"/>
                </a:ext>
              </a:extLst>
            </p:cNvPr>
            <p:cNvSpPr txBox="1"/>
            <p:nvPr/>
          </p:nvSpPr>
          <p:spPr>
            <a:xfrm>
              <a:off x="0" y="-57150"/>
              <a:ext cx="1924217" cy="14815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66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2" name="TextBox 24">
            <a:extLst>
              <a:ext uri="{FF2B5EF4-FFF2-40B4-BE49-F238E27FC236}">
                <a16:creationId xmlns:a16="http://schemas.microsoft.com/office/drawing/2014/main" id="{403F1094-9192-48AA-9CBC-0771051FC8FE}"/>
              </a:ext>
            </a:extLst>
          </p:cNvPr>
          <p:cNvSpPr txBox="1"/>
          <p:nvPr/>
        </p:nvSpPr>
        <p:spPr>
          <a:xfrm>
            <a:off x="4070421" y="2998796"/>
            <a:ext cx="5291338" cy="4407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l">
              <a:lnSpc>
                <a:spcPct val="150000"/>
              </a:lnSpc>
              <a:spcBef>
                <a:spcPct val="0"/>
              </a:spcBef>
            </a:pPr>
            <a:r>
              <a:rPr lang="ko-KR" altLang="en-US" sz="2199" b="1" u="none" strike="noStrike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우리사주 배정 및 일정기간 의무보유 예탁</a:t>
            </a:r>
          </a:p>
        </p:txBody>
      </p:sp>
      <p:sp>
        <p:nvSpPr>
          <p:cNvPr id="23" name="TextBox 25">
            <a:extLst>
              <a:ext uri="{FF2B5EF4-FFF2-40B4-BE49-F238E27FC236}">
                <a16:creationId xmlns:a16="http://schemas.microsoft.com/office/drawing/2014/main" id="{F8AB21AD-063B-4C32-81A4-D9A63EC62544}"/>
              </a:ext>
            </a:extLst>
          </p:cNvPr>
          <p:cNvSpPr txBox="1"/>
          <p:nvPr/>
        </p:nvSpPr>
        <p:spPr>
          <a:xfrm>
            <a:off x="2050142" y="4370396"/>
            <a:ext cx="7703458" cy="39519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lvl="0" indent="-342900" algn="l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조합 이사회 결의에 따라 우리사주 조합원 배정</a:t>
            </a:r>
            <a:br>
              <a:rPr lang="en-US" altLang="ko-KR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</a:br>
            <a:r>
              <a:rPr lang="en-US" altLang="ko-KR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- </a:t>
            </a: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배정 기준은 균등</a:t>
            </a:r>
            <a:r>
              <a:rPr lang="en-US" altLang="ko-KR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, </a:t>
            </a: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근속연수</a:t>
            </a:r>
            <a:r>
              <a:rPr lang="en-US" altLang="ko-KR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 </a:t>
            </a: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등으로 조합 내부 기준 적용</a:t>
            </a:r>
            <a:endParaRPr lang="en-US" altLang="ko-KR" sz="2199" spc="-76" dirty="0">
              <a:solidFill>
                <a:srgbClr val="333333">
                  <a:alpha val="80000"/>
                </a:srgbClr>
              </a:solidFill>
              <a:latin typeface="JASO Sans"/>
              <a:ea typeface="JASO Sans"/>
              <a:sym typeface="JASO Sans"/>
            </a:endParaRPr>
          </a:p>
          <a:p>
            <a:pPr marL="342900" lvl="0" indent="-342900" algn="l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배정된 우리사주는 조합원 명의로 예탁</a:t>
            </a:r>
            <a:r>
              <a:rPr lang="en-US" altLang="ko-KR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(</a:t>
            </a: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한국증권금융</a:t>
            </a:r>
            <a:r>
              <a:rPr lang="en-US" altLang="ko-KR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)</a:t>
            </a:r>
            <a:br>
              <a:rPr lang="en-US" altLang="ko-KR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</a:br>
            <a:r>
              <a:rPr lang="en-US" altLang="ko-KR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- </a:t>
            </a: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의무예탁기간 동안 수탁기관을 통해 우리사주 예탁</a:t>
            </a:r>
            <a:endParaRPr lang="en-US" altLang="ko-KR" sz="2199" spc="-76" dirty="0">
              <a:solidFill>
                <a:srgbClr val="333333">
                  <a:alpha val="80000"/>
                </a:srgbClr>
              </a:solidFill>
              <a:latin typeface="JASO Sans"/>
              <a:ea typeface="JASO Sans"/>
              <a:sym typeface="JASO Sans"/>
            </a:endParaRPr>
          </a:p>
          <a:p>
            <a:pPr marL="342900" lvl="0" indent="-342900" algn="l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예탁 후 의무예탁기간 동안 인출 제한</a:t>
            </a:r>
            <a:br>
              <a:rPr lang="en-US" altLang="ko-KR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</a:br>
            <a:r>
              <a:rPr lang="en-US" altLang="ko-KR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- </a:t>
            </a: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단</a:t>
            </a:r>
            <a:r>
              <a:rPr lang="en-US" altLang="ko-KR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, </a:t>
            </a: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기간 중 특정 사유 발생 시 조합 규약에 따라 인출 가능</a:t>
            </a:r>
            <a:r>
              <a:rPr lang="en-US" altLang="ko-KR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(</a:t>
            </a: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퇴직 등</a:t>
            </a:r>
            <a:r>
              <a:rPr lang="en-US" altLang="ko-KR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)</a:t>
            </a:r>
          </a:p>
        </p:txBody>
      </p:sp>
      <p:grpSp>
        <p:nvGrpSpPr>
          <p:cNvPr id="24" name="Group 27">
            <a:extLst>
              <a:ext uri="{FF2B5EF4-FFF2-40B4-BE49-F238E27FC236}">
                <a16:creationId xmlns:a16="http://schemas.microsoft.com/office/drawing/2014/main" id="{48F4B7DC-1AE5-40F4-BDB4-3107B928E611}"/>
              </a:ext>
            </a:extLst>
          </p:cNvPr>
          <p:cNvGrpSpPr/>
          <p:nvPr/>
        </p:nvGrpSpPr>
        <p:grpSpPr>
          <a:xfrm>
            <a:off x="2264046" y="2933700"/>
            <a:ext cx="1392300" cy="674696"/>
            <a:chOff x="0" y="0"/>
            <a:chExt cx="346873" cy="168092"/>
          </a:xfrm>
        </p:grpSpPr>
        <p:sp>
          <p:nvSpPr>
            <p:cNvPr id="25" name="Freeform 28">
              <a:extLst>
                <a:ext uri="{FF2B5EF4-FFF2-40B4-BE49-F238E27FC236}">
                  <a16:creationId xmlns:a16="http://schemas.microsoft.com/office/drawing/2014/main" id="{8CC7F25E-A3B5-4D29-A0FA-E6077DA079AA}"/>
                </a:ext>
              </a:extLst>
            </p:cNvPr>
            <p:cNvSpPr/>
            <p:nvPr/>
          </p:nvSpPr>
          <p:spPr>
            <a:xfrm>
              <a:off x="0" y="0"/>
              <a:ext cx="346873" cy="168092"/>
            </a:xfrm>
            <a:custGeom>
              <a:avLst/>
              <a:gdLst/>
              <a:ahLst/>
              <a:cxnLst/>
              <a:rect l="l" t="t" r="r" b="b"/>
              <a:pathLst>
                <a:path w="346873" h="168092">
                  <a:moveTo>
                    <a:pt x="61166" y="0"/>
                  </a:moveTo>
                  <a:lnTo>
                    <a:pt x="285707" y="0"/>
                  </a:lnTo>
                  <a:cubicBezTo>
                    <a:pt x="319488" y="0"/>
                    <a:pt x="346873" y="27385"/>
                    <a:pt x="346873" y="61166"/>
                  </a:cubicBezTo>
                  <a:lnTo>
                    <a:pt x="346873" y="106926"/>
                  </a:lnTo>
                  <a:cubicBezTo>
                    <a:pt x="346873" y="140707"/>
                    <a:pt x="319488" y="168092"/>
                    <a:pt x="285707" y="168092"/>
                  </a:cubicBezTo>
                  <a:lnTo>
                    <a:pt x="61166" y="168092"/>
                  </a:lnTo>
                  <a:cubicBezTo>
                    <a:pt x="27385" y="168092"/>
                    <a:pt x="0" y="140707"/>
                    <a:pt x="0" y="106926"/>
                  </a:cubicBezTo>
                  <a:lnTo>
                    <a:pt x="0" y="61166"/>
                  </a:lnTo>
                  <a:cubicBezTo>
                    <a:pt x="0" y="27385"/>
                    <a:pt x="27385" y="0"/>
                    <a:pt x="61166" y="0"/>
                  </a:cubicBezTo>
                  <a:close/>
                </a:path>
              </a:pathLst>
            </a:custGeom>
            <a:solidFill>
              <a:srgbClr val="8DDAC8"/>
            </a:solidFill>
            <a:ln w="28575" cap="sq">
              <a:solidFill>
                <a:srgbClr val="333333"/>
              </a:solidFill>
              <a:prstDash val="solid"/>
              <a:miter/>
            </a:ln>
          </p:spPr>
        </p:sp>
        <p:sp>
          <p:nvSpPr>
            <p:cNvPr id="26" name="TextBox 29">
              <a:extLst>
                <a:ext uri="{FF2B5EF4-FFF2-40B4-BE49-F238E27FC236}">
                  <a16:creationId xmlns:a16="http://schemas.microsoft.com/office/drawing/2014/main" id="{D0B8BB02-0E6F-4844-AFC8-06AAA8EB0CED}"/>
                </a:ext>
              </a:extLst>
            </p:cNvPr>
            <p:cNvSpPr txBox="1"/>
            <p:nvPr/>
          </p:nvSpPr>
          <p:spPr>
            <a:xfrm>
              <a:off x="0" y="-57150"/>
              <a:ext cx="346873" cy="2252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66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7" name="TextBox 39">
            <a:extLst>
              <a:ext uri="{FF2B5EF4-FFF2-40B4-BE49-F238E27FC236}">
                <a16:creationId xmlns:a16="http://schemas.microsoft.com/office/drawing/2014/main" id="{0CAAD6A0-0C22-4848-807C-1265373033B1}"/>
              </a:ext>
            </a:extLst>
          </p:cNvPr>
          <p:cNvSpPr txBox="1"/>
          <p:nvPr/>
        </p:nvSpPr>
        <p:spPr>
          <a:xfrm rot="-18144">
            <a:off x="2344871" y="3135661"/>
            <a:ext cx="1235725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448"/>
              </a:lnSpc>
              <a:spcBef>
                <a:spcPct val="0"/>
              </a:spcBef>
            </a:pPr>
            <a:r>
              <a:rPr lang="ko-KR" altLang="en-US" sz="2400" u="none" strike="noStrike" spc="-120">
                <a:solidFill>
                  <a:srgbClr val="222222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배정</a:t>
            </a:r>
            <a:r>
              <a:rPr lang="en-US" altLang="ko-KR" sz="2400" u="none" strike="noStrike" spc="-120" dirty="0">
                <a:solidFill>
                  <a:srgbClr val="222222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/</a:t>
            </a:r>
            <a:r>
              <a:rPr lang="ko-KR" altLang="en-US" sz="2400" u="none" strike="noStrike" spc="-120" dirty="0">
                <a:solidFill>
                  <a:srgbClr val="222222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예탁</a:t>
            </a:r>
            <a:endParaRPr lang="en-US" sz="2400" u="none" strike="noStrike" spc="-120" dirty="0">
              <a:solidFill>
                <a:srgbClr val="222222"/>
              </a:solidFill>
              <a:latin typeface="210 국민체조"/>
              <a:ea typeface="210 국민체조"/>
              <a:cs typeface="210 국민체조"/>
              <a:sym typeface="210 국민체조"/>
            </a:endParaRPr>
          </a:p>
        </p:txBody>
      </p:sp>
      <p:grpSp>
        <p:nvGrpSpPr>
          <p:cNvPr id="28" name="Group 17">
            <a:extLst>
              <a:ext uri="{FF2B5EF4-FFF2-40B4-BE49-F238E27FC236}">
                <a16:creationId xmlns:a16="http://schemas.microsoft.com/office/drawing/2014/main" id="{96B76B00-5316-471A-9587-09389D699F67}"/>
              </a:ext>
            </a:extLst>
          </p:cNvPr>
          <p:cNvGrpSpPr/>
          <p:nvPr/>
        </p:nvGrpSpPr>
        <p:grpSpPr>
          <a:xfrm>
            <a:off x="9652878" y="2476499"/>
            <a:ext cx="7393559" cy="6248381"/>
            <a:chOff x="0" y="-57150"/>
            <a:chExt cx="1924217" cy="1481580"/>
          </a:xfrm>
        </p:grpSpPr>
        <p:sp>
          <p:nvSpPr>
            <p:cNvPr id="29" name="Freeform 18">
              <a:extLst>
                <a:ext uri="{FF2B5EF4-FFF2-40B4-BE49-F238E27FC236}">
                  <a16:creationId xmlns:a16="http://schemas.microsoft.com/office/drawing/2014/main" id="{2F8C600B-800E-4382-B1D3-42017463B03A}"/>
                </a:ext>
              </a:extLst>
            </p:cNvPr>
            <p:cNvSpPr/>
            <p:nvPr/>
          </p:nvSpPr>
          <p:spPr>
            <a:xfrm>
              <a:off x="0" y="374955"/>
              <a:ext cx="1924217" cy="1049475"/>
            </a:xfrm>
            <a:custGeom>
              <a:avLst/>
              <a:gdLst/>
              <a:ahLst/>
              <a:cxnLst/>
              <a:rect l="l" t="t" r="r" b="b"/>
              <a:pathLst>
                <a:path w="1924217" h="1424430">
                  <a:moveTo>
                    <a:pt x="11518" y="0"/>
                  </a:moveTo>
                  <a:lnTo>
                    <a:pt x="1912699" y="0"/>
                  </a:lnTo>
                  <a:cubicBezTo>
                    <a:pt x="1915753" y="0"/>
                    <a:pt x="1918683" y="1214"/>
                    <a:pt x="1920843" y="3374"/>
                  </a:cubicBezTo>
                  <a:cubicBezTo>
                    <a:pt x="1923003" y="5534"/>
                    <a:pt x="1924217" y="8463"/>
                    <a:pt x="1924217" y="11518"/>
                  </a:cubicBezTo>
                  <a:lnTo>
                    <a:pt x="1924217" y="1412912"/>
                  </a:lnTo>
                  <a:cubicBezTo>
                    <a:pt x="1924217" y="1419273"/>
                    <a:pt x="1919060" y="1424430"/>
                    <a:pt x="1912699" y="1424430"/>
                  </a:cubicBezTo>
                  <a:lnTo>
                    <a:pt x="11518" y="1424430"/>
                  </a:lnTo>
                  <a:cubicBezTo>
                    <a:pt x="8463" y="1424430"/>
                    <a:pt x="5534" y="1423217"/>
                    <a:pt x="3374" y="1421056"/>
                  </a:cubicBezTo>
                  <a:cubicBezTo>
                    <a:pt x="1214" y="1418896"/>
                    <a:pt x="0" y="1415967"/>
                    <a:pt x="0" y="1412912"/>
                  </a:cubicBezTo>
                  <a:lnTo>
                    <a:pt x="0" y="11518"/>
                  </a:lnTo>
                  <a:cubicBezTo>
                    <a:pt x="0" y="8463"/>
                    <a:pt x="1214" y="5534"/>
                    <a:pt x="3374" y="3374"/>
                  </a:cubicBezTo>
                  <a:cubicBezTo>
                    <a:pt x="5534" y="1214"/>
                    <a:pt x="8463" y="0"/>
                    <a:pt x="11518" y="0"/>
                  </a:cubicBezTo>
                  <a:close/>
                </a:path>
              </a:pathLst>
            </a:custGeom>
            <a:solidFill>
              <a:srgbClr val="F3F3F3"/>
            </a:solidFill>
            <a:ln w="28575" cap="sq">
              <a:solidFill>
                <a:srgbClr val="333333"/>
              </a:solidFill>
              <a:prstDash val="solid"/>
              <a:miter/>
            </a:ln>
          </p:spPr>
        </p:sp>
        <p:sp>
          <p:nvSpPr>
            <p:cNvPr id="30" name="TextBox 19">
              <a:extLst>
                <a:ext uri="{FF2B5EF4-FFF2-40B4-BE49-F238E27FC236}">
                  <a16:creationId xmlns:a16="http://schemas.microsoft.com/office/drawing/2014/main" id="{65B7E499-1863-41AF-B50C-A838519D45D1}"/>
                </a:ext>
              </a:extLst>
            </p:cNvPr>
            <p:cNvSpPr txBox="1"/>
            <p:nvPr/>
          </p:nvSpPr>
          <p:spPr>
            <a:xfrm>
              <a:off x="0" y="-57150"/>
              <a:ext cx="1924217" cy="14815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66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1" name="Group 27">
            <a:extLst>
              <a:ext uri="{FF2B5EF4-FFF2-40B4-BE49-F238E27FC236}">
                <a16:creationId xmlns:a16="http://schemas.microsoft.com/office/drawing/2014/main" id="{A3B0C970-3362-4272-B66F-004F52399CE2}"/>
              </a:ext>
            </a:extLst>
          </p:cNvPr>
          <p:cNvGrpSpPr/>
          <p:nvPr/>
        </p:nvGrpSpPr>
        <p:grpSpPr>
          <a:xfrm>
            <a:off x="10166483" y="2933700"/>
            <a:ext cx="1392300" cy="674696"/>
            <a:chOff x="0" y="0"/>
            <a:chExt cx="346873" cy="168092"/>
          </a:xfrm>
        </p:grpSpPr>
        <p:sp>
          <p:nvSpPr>
            <p:cNvPr id="32" name="Freeform 28">
              <a:extLst>
                <a:ext uri="{FF2B5EF4-FFF2-40B4-BE49-F238E27FC236}">
                  <a16:creationId xmlns:a16="http://schemas.microsoft.com/office/drawing/2014/main" id="{9B055B61-D51F-4470-98CA-3B1A2D9C22DF}"/>
                </a:ext>
              </a:extLst>
            </p:cNvPr>
            <p:cNvSpPr/>
            <p:nvPr/>
          </p:nvSpPr>
          <p:spPr>
            <a:xfrm>
              <a:off x="0" y="0"/>
              <a:ext cx="346873" cy="168092"/>
            </a:xfrm>
            <a:custGeom>
              <a:avLst/>
              <a:gdLst/>
              <a:ahLst/>
              <a:cxnLst/>
              <a:rect l="l" t="t" r="r" b="b"/>
              <a:pathLst>
                <a:path w="346873" h="168092">
                  <a:moveTo>
                    <a:pt x="61166" y="0"/>
                  </a:moveTo>
                  <a:lnTo>
                    <a:pt x="285707" y="0"/>
                  </a:lnTo>
                  <a:cubicBezTo>
                    <a:pt x="319488" y="0"/>
                    <a:pt x="346873" y="27385"/>
                    <a:pt x="346873" y="61166"/>
                  </a:cubicBezTo>
                  <a:lnTo>
                    <a:pt x="346873" y="106926"/>
                  </a:lnTo>
                  <a:cubicBezTo>
                    <a:pt x="346873" y="140707"/>
                    <a:pt x="319488" y="168092"/>
                    <a:pt x="285707" y="168092"/>
                  </a:cubicBezTo>
                  <a:lnTo>
                    <a:pt x="61166" y="168092"/>
                  </a:lnTo>
                  <a:cubicBezTo>
                    <a:pt x="27385" y="168092"/>
                    <a:pt x="0" y="140707"/>
                    <a:pt x="0" y="106926"/>
                  </a:cubicBezTo>
                  <a:lnTo>
                    <a:pt x="0" y="61166"/>
                  </a:lnTo>
                  <a:cubicBezTo>
                    <a:pt x="0" y="27385"/>
                    <a:pt x="27385" y="0"/>
                    <a:pt x="61166" y="0"/>
                  </a:cubicBezTo>
                  <a:close/>
                </a:path>
              </a:pathLst>
            </a:custGeom>
            <a:solidFill>
              <a:srgbClr val="8DDAC8"/>
            </a:solidFill>
            <a:ln w="28575" cap="sq">
              <a:solidFill>
                <a:srgbClr val="333333"/>
              </a:solidFill>
              <a:prstDash val="solid"/>
              <a:miter/>
            </a:ln>
          </p:spPr>
        </p:sp>
        <p:sp>
          <p:nvSpPr>
            <p:cNvPr id="33" name="TextBox 29">
              <a:extLst>
                <a:ext uri="{FF2B5EF4-FFF2-40B4-BE49-F238E27FC236}">
                  <a16:creationId xmlns:a16="http://schemas.microsoft.com/office/drawing/2014/main" id="{49301C38-6688-40A4-B036-0C31F6486FFB}"/>
                </a:ext>
              </a:extLst>
            </p:cNvPr>
            <p:cNvSpPr txBox="1"/>
            <p:nvPr/>
          </p:nvSpPr>
          <p:spPr>
            <a:xfrm>
              <a:off x="0" y="-57150"/>
              <a:ext cx="346873" cy="2252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66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4" name="TextBox 39">
            <a:extLst>
              <a:ext uri="{FF2B5EF4-FFF2-40B4-BE49-F238E27FC236}">
                <a16:creationId xmlns:a16="http://schemas.microsoft.com/office/drawing/2014/main" id="{CAB33FEE-099A-4420-8356-B8F7C8B1C34C}"/>
              </a:ext>
            </a:extLst>
          </p:cNvPr>
          <p:cNvSpPr txBox="1"/>
          <p:nvPr/>
        </p:nvSpPr>
        <p:spPr>
          <a:xfrm rot="-18144">
            <a:off x="10226118" y="3121570"/>
            <a:ext cx="1258472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448"/>
              </a:lnSpc>
              <a:spcBef>
                <a:spcPct val="0"/>
              </a:spcBef>
            </a:pPr>
            <a:r>
              <a:rPr lang="ko-KR" altLang="en-US" sz="2400" u="none" strike="noStrike" spc="-120" dirty="0">
                <a:solidFill>
                  <a:srgbClr val="222222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대출전환</a:t>
            </a:r>
            <a:endParaRPr lang="en-US" sz="2400" u="none" strike="noStrike" spc="-120" dirty="0">
              <a:solidFill>
                <a:srgbClr val="222222"/>
              </a:solidFill>
              <a:latin typeface="210 국민체조"/>
              <a:ea typeface="210 국민체조"/>
              <a:cs typeface="210 국민체조"/>
              <a:sym typeface="210 국민체조"/>
            </a:endParaRPr>
          </a:p>
        </p:txBody>
      </p:sp>
      <p:sp>
        <p:nvSpPr>
          <p:cNvPr id="35" name="TextBox 24">
            <a:extLst>
              <a:ext uri="{FF2B5EF4-FFF2-40B4-BE49-F238E27FC236}">
                <a16:creationId xmlns:a16="http://schemas.microsoft.com/office/drawing/2014/main" id="{5891B766-27FA-4CC7-B943-48E8E7F9C6E6}"/>
              </a:ext>
            </a:extLst>
          </p:cNvPr>
          <p:cNvSpPr txBox="1"/>
          <p:nvPr/>
        </p:nvSpPr>
        <p:spPr>
          <a:xfrm>
            <a:off x="12072388" y="2976182"/>
            <a:ext cx="5291338" cy="4407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l">
              <a:lnSpc>
                <a:spcPct val="150000"/>
              </a:lnSpc>
              <a:spcBef>
                <a:spcPct val="0"/>
              </a:spcBef>
            </a:pPr>
            <a:r>
              <a:rPr lang="ko-KR" altLang="en-US" sz="2199" b="1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조합 명의 대출의 조합원 명의 대출로 전환</a:t>
            </a:r>
            <a:endParaRPr lang="ko-KR" altLang="en-US" sz="2199" b="1" u="none" strike="noStrike" spc="-76" dirty="0">
              <a:solidFill>
                <a:srgbClr val="333333">
                  <a:alpha val="80000"/>
                </a:srgbClr>
              </a:solidFill>
              <a:latin typeface="JASO Sans"/>
              <a:ea typeface="JASO Sans"/>
              <a:cs typeface="JASO Sans"/>
              <a:sym typeface="JASO Sans"/>
            </a:endParaRPr>
          </a:p>
        </p:txBody>
      </p:sp>
      <p:sp>
        <p:nvSpPr>
          <p:cNvPr id="36" name="TextBox 25">
            <a:extLst>
              <a:ext uri="{FF2B5EF4-FFF2-40B4-BE49-F238E27FC236}">
                <a16:creationId xmlns:a16="http://schemas.microsoft.com/office/drawing/2014/main" id="{4728DB22-F79A-47B3-81E3-EFE11BEC4583}"/>
              </a:ext>
            </a:extLst>
          </p:cNvPr>
          <p:cNvSpPr txBox="1"/>
          <p:nvPr/>
        </p:nvSpPr>
        <p:spPr>
          <a:xfrm>
            <a:off x="9952579" y="4370396"/>
            <a:ext cx="7093858" cy="46287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lvl="0" indent="-342900" algn="l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우리사주 배정 시 조합원 명의 대출로 전환</a:t>
            </a:r>
            <a:br>
              <a:rPr lang="en-US" altLang="ko-KR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</a:br>
            <a:r>
              <a:rPr lang="en-US" altLang="ko-KR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- </a:t>
            </a: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배정 주식 수에 따라 대출 금액 개별 확정</a:t>
            </a:r>
            <a:endParaRPr lang="en-US" altLang="ko-KR" sz="2199" spc="-76" dirty="0">
              <a:solidFill>
                <a:srgbClr val="333333">
                  <a:alpha val="80000"/>
                </a:srgbClr>
              </a:solidFill>
              <a:latin typeface="JASO Sans"/>
              <a:ea typeface="JASO Sans"/>
              <a:sym typeface="JASO Sans"/>
            </a:endParaRPr>
          </a:p>
          <a:p>
            <a:pPr marL="342900" lvl="0" indent="-342900" algn="l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전환 이후 대출 상환은 조합원의 선택사항</a:t>
            </a:r>
            <a:br>
              <a:rPr lang="en-US" altLang="ko-KR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</a:br>
            <a:r>
              <a:rPr lang="en-US" altLang="ko-KR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- </a:t>
            </a: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전환 후 즉시 상환 </a:t>
            </a:r>
            <a:r>
              <a:rPr lang="en-US" altLang="ko-KR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or </a:t>
            </a: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일정 기간 유지 가능</a:t>
            </a:r>
            <a:r>
              <a:rPr lang="en-US" altLang="ko-KR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(</a:t>
            </a: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최대 </a:t>
            </a:r>
            <a:r>
              <a:rPr lang="en-US" altLang="ko-KR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2</a:t>
            </a: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년</a:t>
            </a:r>
            <a:r>
              <a:rPr lang="en-US" altLang="ko-KR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)</a:t>
            </a:r>
          </a:p>
          <a:p>
            <a:pPr marL="342900" lvl="0" indent="-342900" algn="l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대출 조건</a:t>
            </a:r>
            <a:r>
              <a:rPr lang="en-US" altLang="ko-KR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(</a:t>
            </a: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기간</a:t>
            </a:r>
            <a:r>
              <a:rPr lang="en-US" altLang="ko-KR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, </a:t>
            </a: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이자율</a:t>
            </a:r>
            <a:r>
              <a:rPr lang="en-US" altLang="ko-KR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)</a:t>
            </a: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은 조합 대출과 동일 조건</a:t>
            </a:r>
            <a:endParaRPr lang="en-US" altLang="ko-KR" sz="2199" spc="-76" dirty="0">
              <a:solidFill>
                <a:srgbClr val="333333">
                  <a:alpha val="80000"/>
                </a:srgbClr>
              </a:solidFill>
              <a:latin typeface="JASO Sans"/>
              <a:ea typeface="JASO Sans"/>
              <a:sym typeface="JASO Sans"/>
            </a:endParaRPr>
          </a:p>
          <a:p>
            <a:pPr marL="342900" lvl="0" indent="-342900" algn="l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대출 상환 </a:t>
            </a:r>
            <a:r>
              <a:rPr lang="en-US" altLang="ko-KR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or </a:t>
            </a: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유지와 관계없이 우리사주 인출은 의무예탁기간</a:t>
            </a:r>
            <a:r>
              <a:rPr lang="en-US" altLang="ko-KR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 </a:t>
            </a: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종료 후 가능</a:t>
            </a:r>
            <a:endParaRPr lang="en-US" altLang="ko-KR" sz="2199" spc="-76" dirty="0">
              <a:solidFill>
                <a:srgbClr val="333333">
                  <a:alpha val="80000"/>
                </a:srgbClr>
              </a:solidFill>
              <a:latin typeface="JASO Sans"/>
              <a:ea typeface="JASO Sans"/>
              <a:sym typeface="JASO Sans"/>
            </a:endParaRPr>
          </a:p>
        </p:txBody>
      </p:sp>
    </p:spTree>
    <p:extLst>
      <p:ext uri="{BB962C8B-B14F-4D97-AF65-F5344CB8AC3E}">
        <p14:creationId xmlns:p14="http://schemas.microsoft.com/office/powerpoint/2010/main" val="25112014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14924" y="513776"/>
            <a:ext cx="17258151" cy="9391650"/>
            <a:chOff x="0" y="0"/>
            <a:chExt cx="23010868" cy="125222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77800"/>
              <a:ext cx="23010868" cy="12344400"/>
              <a:chOff x="0" y="0"/>
              <a:chExt cx="4545357" cy="24384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545357" cy="2438400"/>
              </a:xfrm>
              <a:custGeom>
                <a:avLst/>
                <a:gdLst/>
                <a:ahLst/>
                <a:cxnLst/>
                <a:rect l="l" t="t" r="r" b="b"/>
                <a:pathLst>
                  <a:path w="4545357" h="2438400">
                    <a:moveTo>
                      <a:pt x="17944" y="0"/>
                    </a:moveTo>
                    <a:lnTo>
                      <a:pt x="4527413" y="0"/>
                    </a:lnTo>
                    <a:cubicBezTo>
                      <a:pt x="4537323" y="0"/>
                      <a:pt x="4545357" y="8034"/>
                      <a:pt x="4545357" y="17944"/>
                    </a:cubicBezTo>
                    <a:lnTo>
                      <a:pt x="4545357" y="2420456"/>
                    </a:lnTo>
                    <a:cubicBezTo>
                      <a:pt x="4545357" y="2430366"/>
                      <a:pt x="4537323" y="2438400"/>
                      <a:pt x="4527413" y="2438400"/>
                    </a:cubicBezTo>
                    <a:lnTo>
                      <a:pt x="17944" y="2438400"/>
                    </a:lnTo>
                    <a:cubicBezTo>
                      <a:pt x="8034" y="2438400"/>
                      <a:pt x="0" y="2430366"/>
                      <a:pt x="0" y="2420456"/>
                    </a:cubicBezTo>
                    <a:lnTo>
                      <a:pt x="0" y="17944"/>
                    </a:lnTo>
                    <a:cubicBezTo>
                      <a:pt x="0" y="8034"/>
                      <a:pt x="8034" y="0"/>
                      <a:pt x="17944" y="0"/>
                    </a:cubicBezTo>
                    <a:close/>
                  </a:path>
                </a:pathLst>
              </a:custGeom>
              <a:solidFill>
                <a:srgbClr val="E5E5E5"/>
              </a:solidFill>
              <a:ln w="38100" cap="rnd">
                <a:solidFill>
                  <a:srgbClr val="333333"/>
                </a:solidFill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76200"/>
                <a:ext cx="4545357" cy="2514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8"/>
                  </a:lnSpc>
                </a:pPr>
                <a:r>
                  <a:rPr lang="en-US" sz="2200" spc="-90">
                    <a:solidFill>
                      <a:srgbClr val="FFFFFF"/>
                    </a:solidFill>
                    <a:latin typeface="JASO Sans"/>
                    <a:ea typeface="JASO Sans"/>
                    <a:cs typeface="JASO Sans"/>
                    <a:sym typeface="JASO Sans"/>
                  </a:rPr>
                  <a:t>ㄲㄲ</a:t>
                </a:r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23010868" cy="12344400"/>
              <a:chOff x="0" y="0"/>
              <a:chExt cx="4545357" cy="24384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545357" cy="2438400"/>
              </a:xfrm>
              <a:custGeom>
                <a:avLst/>
                <a:gdLst/>
                <a:ahLst/>
                <a:cxnLst/>
                <a:rect l="l" t="t" r="r" b="b"/>
                <a:pathLst>
                  <a:path w="4545357" h="2438400">
                    <a:moveTo>
                      <a:pt x="14804" y="0"/>
                    </a:moveTo>
                    <a:lnTo>
                      <a:pt x="4530553" y="0"/>
                    </a:lnTo>
                    <a:cubicBezTo>
                      <a:pt x="4534479" y="0"/>
                      <a:pt x="4538245" y="1560"/>
                      <a:pt x="4541021" y="4336"/>
                    </a:cubicBezTo>
                    <a:cubicBezTo>
                      <a:pt x="4543797" y="7112"/>
                      <a:pt x="4545357" y="10877"/>
                      <a:pt x="4545357" y="14804"/>
                    </a:cubicBezTo>
                    <a:lnTo>
                      <a:pt x="4545357" y="2423596"/>
                    </a:lnTo>
                    <a:cubicBezTo>
                      <a:pt x="4545357" y="2431772"/>
                      <a:pt x="4538729" y="2438400"/>
                      <a:pt x="4530553" y="2438400"/>
                    </a:cubicBezTo>
                    <a:lnTo>
                      <a:pt x="14804" y="2438400"/>
                    </a:lnTo>
                    <a:cubicBezTo>
                      <a:pt x="10877" y="2438400"/>
                      <a:pt x="7112" y="2436840"/>
                      <a:pt x="4336" y="2434064"/>
                    </a:cubicBezTo>
                    <a:cubicBezTo>
                      <a:pt x="1560" y="2431288"/>
                      <a:pt x="0" y="2427523"/>
                      <a:pt x="0" y="2423596"/>
                    </a:cubicBezTo>
                    <a:lnTo>
                      <a:pt x="0" y="14804"/>
                    </a:lnTo>
                    <a:cubicBezTo>
                      <a:pt x="0" y="10877"/>
                      <a:pt x="1560" y="7112"/>
                      <a:pt x="4336" y="4336"/>
                    </a:cubicBezTo>
                    <a:cubicBezTo>
                      <a:pt x="7112" y="1560"/>
                      <a:pt x="10877" y="0"/>
                      <a:pt x="1480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333333"/>
                </a:solidFill>
                <a:prstDash val="solid"/>
                <a:round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76200"/>
                <a:ext cx="4545357" cy="2514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8"/>
                  </a:lnSpc>
                </a:pPr>
                <a:r>
                  <a:rPr lang="en-US" sz="2200" spc="-90">
                    <a:solidFill>
                      <a:srgbClr val="FFFFFF"/>
                    </a:solidFill>
                    <a:latin typeface="JASO Sans"/>
                    <a:ea typeface="JASO Sans"/>
                    <a:cs typeface="JASO Sans"/>
                    <a:sym typeface="JASO Sans"/>
                  </a:rPr>
                  <a:t>ㄲㄲ</a:t>
                </a:r>
              </a:p>
            </p:txBody>
          </p:sp>
        </p:grpSp>
      </p:grpSp>
      <p:sp>
        <p:nvSpPr>
          <p:cNvPr id="9" name="Freeform 9"/>
          <p:cNvSpPr/>
          <p:nvPr/>
        </p:nvSpPr>
        <p:spPr>
          <a:xfrm rot="-5400000">
            <a:off x="17104554" y="827085"/>
            <a:ext cx="90727" cy="403229"/>
          </a:xfrm>
          <a:custGeom>
            <a:avLst/>
            <a:gdLst/>
            <a:ahLst/>
            <a:cxnLst/>
            <a:rect l="l" t="t" r="r" b="b"/>
            <a:pathLst>
              <a:path w="90727" h="403229">
                <a:moveTo>
                  <a:pt x="0" y="0"/>
                </a:moveTo>
                <a:lnTo>
                  <a:pt x="90726" y="0"/>
                </a:lnTo>
                <a:lnTo>
                  <a:pt x="90726" y="403230"/>
                </a:lnTo>
                <a:lnTo>
                  <a:pt x="0" y="4032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10" name="Group 10"/>
          <p:cNvGrpSpPr/>
          <p:nvPr/>
        </p:nvGrpSpPr>
        <p:grpSpPr>
          <a:xfrm>
            <a:off x="1339871" y="1267781"/>
            <a:ext cx="710270" cy="712421"/>
            <a:chOff x="0" y="0"/>
            <a:chExt cx="187067" cy="18763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87067" cy="187633"/>
            </a:xfrm>
            <a:custGeom>
              <a:avLst/>
              <a:gdLst/>
              <a:ahLst/>
              <a:cxnLst/>
              <a:rect l="l" t="t" r="r" b="b"/>
              <a:pathLst>
                <a:path w="187067" h="187633">
                  <a:moveTo>
                    <a:pt x="93533" y="0"/>
                  </a:moveTo>
                  <a:lnTo>
                    <a:pt x="93533" y="0"/>
                  </a:lnTo>
                  <a:cubicBezTo>
                    <a:pt x="145191" y="0"/>
                    <a:pt x="187067" y="41876"/>
                    <a:pt x="187067" y="93533"/>
                  </a:cubicBezTo>
                  <a:lnTo>
                    <a:pt x="187067" y="94100"/>
                  </a:lnTo>
                  <a:cubicBezTo>
                    <a:pt x="187067" y="118907"/>
                    <a:pt x="177213" y="142697"/>
                    <a:pt x="159672" y="160238"/>
                  </a:cubicBezTo>
                  <a:cubicBezTo>
                    <a:pt x="142131" y="177779"/>
                    <a:pt x="118340" y="187633"/>
                    <a:pt x="93533" y="187633"/>
                  </a:cubicBezTo>
                  <a:lnTo>
                    <a:pt x="93533" y="187633"/>
                  </a:lnTo>
                  <a:cubicBezTo>
                    <a:pt x="41876" y="187633"/>
                    <a:pt x="0" y="145757"/>
                    <a:pt x="0" y="94100"/>
                  </a:cubicBezTo>
                  <a:lnTo>
                    <a:pt x="0" y="93533"/>
                  </a:lnTo>
                  <a:cubicBezTo>
                    <a:pt x="0" y="68727"/>
                    <a:pt x="9854" y="44936"/>
                    <a:pt x="27395" y="27395"/>
                  </a:cubicBezTo>
                  <a:cubicBezTo>
                    <a:pt x="44936" y="9854"/>
                    <a:pt x="68727" y="0"/>
                    <a:pt x="93533" y="0"/>
                  </a:cubicBezTo>
                  <a:close/>
                </a:path>
              </a:pathLst>
            </a:custGeom>
            <a:solidFill>
              <a:srgbClr val="8DDAC8"/>
            </a:solidFill>
            <a:ln w="28575" cap="sq">
              <a:solidFill>
                <a:srgbClr val="333333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187067" cy="2447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66"/>
                </a:lnSpc>
              </a:pPr>
              <a:endParaRPr/>
            </a:p>
          </p:txBody>
        </p:sp>
      </p:grpSp>
      <p:sp>
        <p:nvSpPr>
          <p:cNvPr id="13" name="AutoShape 13"/>
          <p:cNvSpPr/>
          <p:nvPr/>
        </p:nvSpPr>
        <p:spPr>
          <a:xfrm flipV="1">
            <a:off x="1339698" y="2443184"/>
            <a:ext cx="15608605" cy="0"/>
          </a:xfrm>
          <a:prstGeom prst="line">
            <a:avLst/>
          </a:prstGeom>
          <a:ln w="19050" cap="flat">
            <a:solidFill>
              <a:srgbClr val="33333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TextBox 14"/>
          <p:cNvSpPr txBox="1"/>
          <p:nvPr/>
        </p:nvSpPr>
        <p:spPr>
          <a:xfrm rot="-18144">
            <a:off x="2289393" y="1192192"/>
            <a:ext cx="9732485" cy="8315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6414"/>
              </a:lnSpc>
              <a:spcBef>
                <a:spcPct val="0"/>
              </a:spcBef>
            </a:pPr>
            <a:r>
              <a:rPr lang="en-US" sz="5676" spc="-283" dirty="0">
                <a:solidFill>
                  <a:srgbClr val="FF0000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FAQ</a:t>
            </a:r>
            <a:endParaRPr lang="en-US" sz="5676" u="none" strike="noStrike" spc="-283" dirty="0">
              <a:solidFill>
                <a:srgbClr val="FF0000"/>
              </a:solidFill>
              <a:latin typeface="210 국민체조"/>
              <a:ea typeface="210 국민체조"/>
              <a:cs typeface="210 국민체조"/>
              <a:sym typeface="210 국민체조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173591" y="1414452"/>
            <a:ext cx="1042830" cy="3656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00"/>
              </a:lnSpc>
            </a:pPr>
            <a:r>
              <a:rPr lang="en-US" sz="2416" b="1" spc="-62" dirty="0">
                <a:solidFill>
                  <a:srgbClr val="33333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6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750441" y="2705101"/>
            <a:ext cx="14803992" cy="1071160"/>
            <a:chOff x="0" y="0"/>
            <a:chExt cx="3898994" cy="318313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898994" cy="318313"/>
            </a:xfrm>
            <a:custGeom>
              <a:avLst/>
              <a:gdLst/>
              <a:ahLst/>
              <a:cxnLst/>
              <a:rect l="l" t="t" r="r" b="b"/>
              <a:pathLst>
                <a:path w="3898994" h="318313">
                  <a:moveTo>
                    <a:pt x="5753" y="0"/>
                  </a:moveTo>
                  <a:lnTo>
                    <a:pt x="3893241" y="0"/>
                  </a:lnTo>
                  <a:cubicBezTo>
                    <a:pt x="3896418" y="0"/>
                    <a:pt x="3898994" y="2576"/>
                    <a:pt x="3898994" y="5753"/>
                  </a:cubicBezTo>
                  <a:lnTo>
                    <a:pt x="3898994" y="312561"/>
                  </a:lnTo>
                  <a:cubicBezTo>
                    <a:pt x="3898994" y="314086"/>
                    <a:pt x="3898388" y="315549"/>
                    <a:pt x="3897309" y="316628"/>
                  </a:cubicBezTo>
                  <a:cubicBezTo>
                    <a:pt x="3896230" y="317707"/>
                    <a:pt x="3894767" y="318313"/>
                    <a:pt x="3893241" y="318313"/>
                  </a:cubicBezTo>
                  <a:lnTo>
                    <a:pt x="5753" y="318313"/>
                  </a:lnTo>
                  <a:cubicBezTo>
                    <a:pt x="4227" y="318313"/>
                    <a:pt x="2764" y="317707"/>
                    <a:pt x="1685" y="316628"/>
                  </a:cubicBezTo>
                  <a:cubicBezTo>
                    <a:pt x="606" y="315549"/>
                    <a:pt x="0" y="314086"/>
                    <a:pt x="0" y="312561"/>
                  </a:cubicBezTo>
                  <a:lnTo>
                    <a:pt x="0" y="5753"/>
                  </a:lnTo>
                  <a:cubicBezTo>
                    <a:pt x="0" y="4227"/>
                    <a:pt x="606" y="2764"/>
                    <a:pt x="1685" y="1685"/>
                  </a:cubicBezTo>
                  <a:cubicBezTo>
                    <a:pt x="2764" y="606"/>
                    <a:pt x="4227" y="0"/>
                    <a:pt x="5753" y="0"/>
                  </a:cubicBezTo>
                  <a:close/>
                </a:path>
              </a:pathLst>
            </a:custGeom>
            <a:solidFill>
              <a:srgbClr val="F3F3F3"/>
            </a:solidFill>
            <a:ln w="28575" cap="sq">
              <a:solidFill>
                <a:srgbClr val="333333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-57150"/>
              <a:ext cx="3898994" cy="3754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66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2643836" y="2967293"/>
            <a:ext cx="11935017" cy="509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507"/>
              </a:lnSpc>
              <a:spcBef>
                <a:spcPct val="0"/>
              </a:spcBef>
            </a:pPr>
            <a:r>
              <a:rPr lang="en-US" sz="2799" b="1" spc="-97" dirty="0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QQQ</a:t>
            </a:r>
            <a:endParaRPr lang="en-US" sz="2799" b="1" u="none" strike="noStrike" spc="-97" dirty="0">
              <a:solidFill>
                <a:srgbClr val="333333"/>
              </a:solidFill>
              <a:latin typeface="JASO Sans Bold"/>
              <a:ea typeface="JASO Sans Bold"/>
              <a:cs typeface="JASO Sans Bold"/>
              <a:sym typeface="JASO Sans Bold"/>
            </a:endParaRPr>
          </a:p>
        </p:txBody>
      </p:sp>
      <p:sp>
        <p:nvSpPr>
          <p:cNvPr id="30" name="Freeform 30"/>
          <p:cNvSpPr/>
          <p:nvPr/>
        </p:nvSpPr>
        <p:spPr>
          <a:xfrm>
            <a:off x="2292170" y="3219528"/>
            <a:ext cx="170988" cy="130378"/>
          </a:xfrm>
          <a:custGeom>
            <a:avLst/>
            <a:gdLst/>
            <a:ahLst/>
            <a:cxnLst/>
            <a:rect l="l" t="t" r="r" b="b"/>
            <a:pathLst>
              <a:path w="170988" h="130378">
                <a:moveTo>
                  <a:pt x="0" y="0"/>
                </a:moveTo>
                <a:lnTo>
                  <a:pt x="170988" y="0"/>
                </a:lnTo>
                <a:lnTo>
                  <a:pt x="170988" y="130378"/>
                </a:lnTo>
                <a:lnTo>
                  <a:pt x="0" y="1303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45" name="Group 18">
            <a:extLst>
              <a:ext uri="{FF2B5EF4-FFF2-40B4-BE49-F238E27FC236}">
                <a16:creationId xmlns:a16="http://schemas.microsoft.com/office/drawing/2014/main" id="{DD0F95C1-ECC6-4CB5-9089-D75880136715}"/>
              </a:ext>
            </a:extLst>
          </p:cNvPr>
          <p:cNvGrpSpPr/>
          <p:nvPr/>
        </p:nvGrpSpPr>
        <p:grpSpPr>
          <a:xfrm>
            <a:off x="1750441" y="3989084"/>
            <a:ext cx="14803992" cy="5497816"/>
            <a:chOff x="0" y="0"/>
            <a:chExt cx="3898994" cy="318313"/>
          </a:xfrm>
          <a:noFill/>
        </p:grpSpPr>
        <p:sp>
          <p:nvSpPr>
            <p:cNvPr id="46" name="Freeform 19">
              <a:extLst>
                <a:ext uri="{FF2B5EF4-FFF2-40B4-BE49-F238E27FC236}">
                  <a16:creationId xmlns:a16="http://schemas.microsoft.com/office/drawing/2014/main" id="{556A07D0-CEEE-4F6E-87E2-9665B94192FB}"/>
                </a:ext>
              </a:extLst>
            </p:cNvPr>
            <p:cNvSpPr/>
            <p:nvPr/>
          </p:nvSpPr>
          <p:spPr>
            <a:xfrm>
              <a:off x="0" y="0"/>
              <a:ext cx="3898994" cy="318313"/>
            </a:xfrm>
            <a:custGeom>
              <a:avLst/>
              <a:gdLst/>
              <a:ahLst/>
              <a:cxnLst/>
              <a:rect l="l" t="t" r="r" b="b"/>
              <a:pathLst>
                <a:path w="3898994" h="318313">
                  <a:moveTo>
                    <a:pt x="5753" y="0"/>
                  </a:moveTo>
                  <a:lnTo>
                    <a:pt x="3893241" y="0"/>
                  </a:lnTo>
                  <a:cubicBezTo>
                    <a:pt x="3896418" y="0"/>
                    <a:pt x="3898994" y="2576"/>
                    <a:pt x="3898994" y="5753"/>
                  </a:cubicBezTo>
                  <a:lnTo>
                    <a:pt x="3898994" y="312561"/>
                  </a:lnTo>
                  <a:cubicBezTo>
                    <a:pt x="3898994" y="314086"/>
                    <a:pt x="3898388" y="315549"/>
                    <a:pt x="3897309" y="316628"/>
                  </a:cubicBezTo>
                  <a:cubicBezTo>
                    <a:pt x="3896230" y="317707"/>
                    <a:pt x="3894767" y="318313"/>
                    <a:pt x="3893241" y="318313"/>
                  </a:cubicBezTo>
                  <a:lnTo>
                    <a:pt x="5753" y="318313"/>
                  </a:lnTo>
                  <a:cubicBezTo>
                    <a:pt x="4227" y="318313"/>
                    <a:pt x="2764" y="317707"/>
                    <a:pt x="1685" y="316628"/>
                  </a:cubicBezTo>
                  <a:cubicBezTo>
                    <a:pt x="606" y="315549"/>
                    <a:pt x="0" y="314086"/>
                    <a:pt x="0" y="312561"/>
                  </a:cubicBezTo>
                  <a:lnTo>
                    <a:pt x="0" y="5753"/>
                  </a:lnTo>
                  <a:cubicBezTo>
                    <a:pt x="0" y="4227"/>
                    <a:pt x="606" y="2764"/>
                    <a:pt x="1685" y="1685"/>
                  </a:cubicBezTo>
                  <a:cubicBezTo>
                    <a:pt x="2764" y="606"/>
                    <a:pt x="4227" y="0"/>
                    <a:pt x="5753" y="0"/>
                  </a:cubicBezTo>
                  <a:close/>
                </a:path>
              </a:pathLst>
            </a:custGeom>
            <a:grpFill/>
            <a:ln w="28575" cap="sq">
              <a:solidFill>
                <a:srgbClr val="333333"/>
              </a:solidFill>
              <a:prstDash val="solid"/>
              <a:miter/>
            </a:ln>
          </p:spPr>
        </p:sp>
        <p:sp>
          <p:nvSpPr>
            <p:cNvPr id="47" name="TextBox 20">
              <a:extLst>
                <a:ext uri="{FF2B5EF4-FFF2-40B4-BE49-F238E27FC236}">
                  <a16:creationId xmlns:a16="http://schemas.microsoft.com/office/drawing/2014/main" id="{BF1F51B1-0377-4BC4-9BCC-31D3F0FEB075}"/>
                </a:ext>
              </a:extLst>
            </p:cNvPr>
            <p:cNvSpPr txBox="1"/>
            <p:nvPr/>
          </p:nvSpPr>
          <p:spPr>
            <a:xfrm>
              <a:off x="0" y="-57150"/>
              <a:ext cx="3898994" cy="37546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66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25987CD-8E61-40C4-9FBB-742B8432C431}"/>
              </a:ext>
            </a:extLst>
          </p:cNvPr>
          <p:cNvSpPr/>
          <p:nvPr/>
        </p:nvSpPr>
        <p:spPr>
          <a:xfrm>
            <a:off x="10210800" y="1267781"/>
            <a:ext cx="6737329" cy="9552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추후 구성 내용을 확정할 예정입니다</a:t>
            </a:r>
            <a:r>
              <a:rPr lang="en-US" altLang="ko-KR" dirty="0"/>
              <a:t>.</a:t>
            </a:r>
          </a:p>
          <a:p>
            <a:pPr algn="ctr"/>
            <a:r>
              <a:rPr lang="en-US" altLang="ko-KR" dirty="0"/>
              <a:t>FAQ </a:t>
            </a:r>
            <a:r>
              <a:rPr lang="ko-KR" altLang="en-US" dirty="0"/>
              <a:t>형식에 맞게 디자인 먼저 부탁드립니다</a:t>
            </a:r>
            <a:r>
              <a:rPr lang="en-US" altLang="ko-KR" dirty="0"/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860</TotalTime>
  <Words>1107</Words>
  <Application>Microsoft Office PowerPoint</Application>
  <PresentationFormat>사용자 지정</PresentationFormat>
  <Paragraphs>227</Paragraphs>
  <Slides>15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8" baseType="lpstr">
      <vt:lpstr>Arial</vt:lpstr>
      <vt:lpstr>JASO Sans</vt:lpstr>
      <vt:lpstr>Wingdings</vt:lpstr>
      <vt:lpstr>Poppins Semi-Bold</vt:lpstr>
      <vt:lpstr>JASO Sans Bold</vt:lpstr>
      <vt:lpstr>Poppins Medium</vt:lpstr>
      <vt:lpstr>Calibri</vt:lpstr>
      <vt:lpstr>맑은 고딕</vt:lpstr>
      <vt:lpstr>Cerebri</vt:lpstr>
      <vt:lpstr>Cerebri Bold</vt:lpstr>
      <vt:lpstr>210 국민체조</vt:lpstr>
      <vt:lpstr>Poppins Bold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초록색과 흰색 깔끔한 프로젝트 발표 보고서 디자인 템플릿 프레젠테이션</dc:title>
  <dc:creator>임호섭</dc:creator>
  <cp:lastModifiedBy>임호섭</cp:lastModifiedBy>
  <cp:revision>73</cp:revision>
  <dcterms:created xsi:type="dcterms:W3CDTF">2006-08-16T00:00:00Z</dcterms:created>
  <dcterms:modified xsi:type="dcterms:W3CDTF">2026-01-26T08:47:38Z</dcterms:modified>
  <dc:identifier>DAG-WGXENPw</dc:identifier>
</cp:coreProperties>
</file>